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68" r:id="rId5"/>
    <p:sldId id="259" r:id="rId6"/>
    <p:sldId id="260" r:id="rId7"/>
    <p:sldId id="261" r:id="rId8"/>
    <p:sldId id="262" r:id="rId9"/>
    <p:sldId id="263" r:id="rId10"/>
    <p:sldId id="264" r:id="rId11"/>
    <p:sldId id="265" r:id="rId12"/>
    <p:sldId id="266" r:id="rId13"/>
    <p:sldId id="267"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9" dt="2026-09-19T09:46:47.2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82" y="1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15906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Group 12, and our mini use case is Category Intelligence — a retail product performance EDA. We analysed six months of transaction data from a 12-store regional retail chain in Andhra Pradesh, built entirely in Python with Pandas, NumPy, Matplotlib and Seaborn. Over the next ten slides we will walk you through the business problem, what the data showed us, and the position we would take into a supplier review. Every number you will see is calculated directly from the dataset — nothing is estimated.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regional chain — twelve stores, six cities, five categories, twenty-five products. What matters is the timing: the Category Manager has a supplier review next week, and every supplier will walk in arguing that their category deserves more shelf space and more promotional money. She needs her own evidence, not theirs. We have six months of transaction data — 107,836 rows, January to June 2026, ₹45.98 crore of revenue — and that file is our single source of truth. The whole analysis is built to send her into that meeting with a position she can defend.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we built answers one question, and it is a decision question, not a data question: what should the Category Manager prioritise going into the supplier review? We broke it into five objectives. First, which categories are growing or declining month on month. Second, which products inside each category carry it and which drag. Third, whether the discounts the chain funds are actually generating volume. Fourth, when demand naturally occurs, so promotions can be timed rather than guessed. And fifth, pulling all of that into a single recommendation. Those five objectives map directly onto the next eight slides.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trusting any finding we audited the file. 107,836 transactions, ten columns, five categories, twenty-five products, ₹45.98 crore of revenue. Critically for a supplier meeting: zero nulls and zero duplicate transaction IDs, so nothing needed cleaning and nothing is double counted. All 181 days are present. One honest flag — the assignment brief describes discounts running to 30%, but the actual file only contains 0, 5, 10, 15 and 20%. We analysed what is there and reported the higher bracket as empty rather than inventing numbers for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chart the Category Manager opens the meeting with. Five categories, six months, one pair of axes. Electronics — the dark blue line at the top — falls from ₹4.57 crore in January to ₹2.97 crore in June: down 35 percent, a loss of ₹1.60 crore. That is larger than the chain's entire decline of ₹1.55 crore, which means growth elsewhere absorbed the difference. Apparel is that growth, up 34.1 percent, and you can see it overtake Home &amp; Kitchen in June. Grocery is the flat green line — the most consistent category at under 4 percent variation. We calculated all three of those rankings rather than reading them off the chart.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trend, translated into what it means for the review. Apparel is the only category growing while the chain declines 18 percent — that is a genuine share gain, and it is the one category with an evidence-based case for more space. Personal Care and Grocery are stable; Grocery in particular is the footfall base, so its job is consistency, not growth. Home &amp; Kitchen is down 18.5 percent and was overtaken by Apparel in June. And Electronics, at minus 35 percent, is the headline: it is half the chain's revenue and it is falling, which means the supplier is effectively asking us to keep funding a declining asset.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expected to find a dead product to delist. We did not. Look at the right-hand column: in Grocery the weakest product still earns 97.8 percent of the strongest, in Apparel 96.1 percent. Even in Electronics, where the rupee gap is biggest at ₹58 lakh, Smart TV still does 87.8 percent of Headphones. That changes the recommendation entirely — there is no single SKU to blame, so the conversation has to be about the Electronics category as a whole. One important caveat: this dataset has no supplier column, so we deliberately refer to categories and products, never to a named supplier.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finding we would put in front of every supplier. As the discount deepens, average revenue per transaction falls steadily — ₹4,686 at full price down to ₹3,632 at 20 percent off, a 22.5 percent drop. But look at the white numbers inside the bars: average units sold barely moves, 2.57 to 2.60 across every bracket, and it stays flat inside every individual category too, so this is not a category-mix illusion. Two-thirds of all transactions carry a discount, and the gap between list value and realised revenue is ₹3.56 crore. Note the last bar — there are no transactions above 20 percent in this dataset, so we report that bracket as empty rather than inventing it. And the honest limit: with no cost column, we can prove discounts are not buying volume, but we cannot measure margin.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timing questions: which day, and which month. On the left, the chain is heavily weekend-loaded — Saturday averages ₹35.2 lakh against Monday's ₹20.1 lakh. That is 1.75 times, and the average weekend day runs 48 percent ahead of the average weekday. On the right, January was the best month at ₹8.48 crore and June the worst at ₹6.93 crore, with no recovery month in between. For promotional timing the implication is simple: push Friday to Sunday where demand already exists. And because we have just shown discounts do not move units, the lever for the weak Monday-to-Thursday window should be availability and in-store execution, not deeper markdowns.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picked Electronics as the most interesting category because it is 49.3 percent of chain revenue and the steepest decliner. Both charts index each series against its own average, so they are directly comparable despite the size difference. On the left, day of week: Electronics follows the chain's shape but amplifies it — Saturday 142.8 against the chain's 138.8, Monday 77.6 against 79.3. Same rhythm, sharper. On the right, the monthly picture is completely different: the chain falls 18.3 percent while Electronics falls 35, and the two lines separate from March onward. So Electronics is not suffering a general chain slowdown — it is causing most of it. That is the distinction that changes the supplier conversation.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we would actually say walking into the supplier review. One: back Apparel — it is the only category growing, up 34 percent while the chain fell 18, and we would fund it by moving Electronics' promotional budget rather than asking for new money. Two: challenge Electronics — ₹22.65 crore, half the business, down 35 percent, with every product falling and Mobile Phone collapsing 57 percent. Crucially it is a footfall problem, not a pricing problem: transactions fell from 790 to 526 a month at an unchanged unit price, so the supplier owes us an explanation and a recovery plan. Three: raise the discount ladder — 22 percent less revenue per transaction for no extra units — and test withdrawing the deepest brackets. Four: before the final shelf-space decision we want product-level cost data, because without it we can show discounts are not driving volume but we cannot quantify margin.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To summarise in one line: back Apparel, challenge Electronics with the ₹1.60 crore decline, test the discount ladder down, and get cost data before the final shelf-space call. We are happy to take questions on any part of the analysis or the notebook.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1.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3"/>
        </a:solidFill>
        <a:effectLst/>
      </p:bgPr>
    </p:bg>
    <p:spTree>
      <p:nvGrpSpPr>
        <p:cNvPr id="1" name=""/>
        <p:cNvGrpSpPr/>
        <p:nvPr/>
      </p:nvGrpSpPr>
      <p:grpSpPr>
        <a:xfrm>
          <a:off x="0" y="0"/>
          <a:ext cx="0" cy="0"/>
          <a:chOff x="0" y="0"/>
          <a:chExt cx="0" cy="0"/>
        </a:xfrm>
      </p:grpSpPr>
      <p:pic>
        <p:nvPicPr>
          <p:cNvPr id="2" name="Image 0" descr="art_title.png"/>
          <p:cNvPicPr>
            <a:picLocks noChangeAspect="1"/>
          </p:cNvPicPr>
          <p:nvPr/>
        </p:nvPicPr>
        <p:blipFill>
          <a:blip r:embed="rId3"/>
          <a:stretch>
            <a:fillRect/>
          </a:stretch>
        </p:blipFill>
        <p:spPr>
          <a:xfrm>
            <a:off x="7315200" y="0"/>
            <a:ext cx="4873752" cy="6858000"/>
          </a:xfrm>
          <a:prstGeom prst="rect">
            <a:avLst/>
          </a:prstGeom>
        </p:spPr>
      </p:pic>
      <p:sp>
        <p:nvSpPr>
          <p:cNvPr id="3" name="Shape 0"/>
          <p:cNvSpPr/>
          <p:nvPr/>
        </p:nvSpPr>
        <p:spPr>
          <a:xfrm>
            <a:off x="7269480" y="0"/>
            <a:ext cx="45720" cy="6858000"/>
          </a:xfrm>
          <a:prstGeom prst="rect">
            <a:avLst/>
          </a:prstGeom>
          <a:solidFill>
            <a:srgbClr val="E08A1E"/>
          </a:solidFill>
          <a:ln/>
        </p:spPr>
      </p:sp>
      <p:sp>
        <p:nvSpPr>
          <p:cNvPr id="4" name="Text 1"/>
          <p:cNvSpPr txBox="1"/>
          <p:nvPr/>
        </p:nvSpPr>
        <p:spPr>
          <a:xfrm>
            <a:off x="777240" y="1051560"/>
            <a:ext cx="6217920" cy="274320"/>
          </a:xfrm>
          <a:prstGeom prst="rect">
            <a:avLst/>
          </a:prstGeom>
          <a:noFill/>
          <a:ln/>
        </p:spPr>
        <p:txBody>
          <a:bodyPr wrap="square" lIns="0" tIns="0" rIns="0" bIns="0" rtlCol="0" anchor="ctr"/>
          <a:lstStyle/>
          <a:p>
            <a:pPr marL="0" indent="0">
              <a:buNone/>
            </a:pPr>
            <a:r>
              <a:rPr lang="en-US" sz="1100" b="1" kern="0" spc="200" dirty="0">
                <a:solidFill>
                  <a:srgbClr val="E08A1E"/>
                </a:solidFill>
                <a:latin typeface="Calibri" pitchFamily="34" charset="0"/>
                <a:ea typeface="Calibri" pitchFamily="34" charset="-122"/>
                <a:cs typeface="Calibri" pitchFamily="34" charset="-120"/>
              </a:rPr>
              <a:t>CALIBO AI ACADEMY  ·  PHASE 1  ·  MINI USE CASE 01</a:t>
            </a:r>
            <a:endParaRPr lang="en-US" sz="1100" dirty="0"/>
          </a:p>
        </p:txBody>
      </p:sp>
      <p:sp>
        <p:nvSpPr>
          <p:cNvPr id="5" name="Text 2"/>
          <p:cNvSpPr txBox="1"/>
          <p:nvPr/>
        </p:nvSpPr>
        <p:spPr>
          <a:xfrm>
            <a:off x="777240" y="1508760"/>
            <a:ext cx="6309360" cy="1828800"/>
          </a:xfrm>
          <a:prstGeom prst="rect">
            <a:avLst/>
          </a:prstGeom>
          <a:noFill/>
          <a:ln/>
        </p:spPr>
        <p:txBody>
          <a:bodyPr wrap="square" lIns="0" tIns="0" rIns="0" bIns="0" rtlCol="0" anchor="ctr"/>
          <a:lstStyle/>
          <a:p>
            <a:pPr marL="0" indent="0">
              <a:lnSpc>
                <a:spcPts val="5200"/>
              </a:lnSpc>
              <a:buNone/>
            </a:pPr>
            <a:r>
              <a:rPr lang="en-US" sz="4600" b="1" dirty="0">
                <a:solidFill>
                  <a:srgbClr val="FFFFFF"/>
                </a:solidFill>
                <a:latin typeface="Cambria" pitchFamily="34" charset="0"/>
                <a:ea typeface="Cambria" pitchFamily="34" charset="-122"/>
                <a:cs typeface="Cambria" pitchFamily="34" charset="-120"/>
              </a:rPr>
              <a:t>CATEGORY</a:t>
            </a:r>
            <a:endParaRPr lang="en-US" sz="4600" dirty="0"/>
          </a:p>
          <a:p>
            <a:pPr marL="0" indent="0">
              <a:lnSpc>
                <a:spcPts val="5200"/>
              </a:lnSpc>
              <a:buNone/>
            </a:pPr>
            <a:r>
              <a:rPr lang="en-US" sz="4600" b="1" dirty="0">
                <a:solidFill>
                  <a:srgbClr val="FFFFFF"/>
                </a:solidFill>
                <a:latin typeface="Cambria" pitchFamily="34" charset="0"/>
                <a:ea typeface="Cambria" pitchFamily="34" charset="-122"/>
                <a:cs typeface="Cambria" pitchFamily="34" charset="-120"/>
              </a:rPr>
              <a:t>INTELLIGENCE</a:t>
            </a:r>
            <a:endParaRPr lang="en-US" sz="4600" dirty="0"/>
          </a:p>
        </p:txBody>
      </p:sp>
      <p:sp>
        <p:nvSpPr>
          <p:cNvPr id="6" name="Text 3"/>
          <p:cNvSpPr txBox="1"/>
          <p:nvPr/>
        </p:nvSpPr>
        <p:spPr>
          <a:xfrm>
            <a:off x="777240" y="3383280"/>
            <a:ext cx="6309360" cy="411480"/>
          </a:xfrm>
          <a:prstGeom prst="rect">
            <a:avLst/>
          </a:prstGeom>
          <a:noFill/>
          <a:ln/>
        </p:spPr>
        <p:txBody>
          <a:bodyPr wrap="square" lIns="0" tIns="0" rIns="0" bIns="0" rtlCol="0" anchor="ctr"/>
          <a:lstStyle/>
          <a:p>
            <a:pPr marL="0" indent="0">
              <a:buNone/>
            </a:pPr>
            <a:r>
              <a:rPr lang="en-US" sz="2000" dirty="0">
                <a:solidFill>
                  <a:srgbClr val="CBD8E3"/>
                </a:solidFill>
                <a:latin typeface="Calibri" pitchFamily="34" charset="0"/>
                <a:ea typeface="Calibri" pitchFamily="34" charset="-122"/>
                <a:cs typeface="Calibri" pitchFamily="34" charset="-120"/>
              </a:rPr>
              <a:t>Retail Product Performance EDA</a:t>
            </a:r>
            <a:endParaRPr lang="en-US" sz="2000" dirty="0"/>
          </a:p>
        </p:txBody>
      </p:sp>
      <p:sp>
        <p:nvSpPr>
          <p:cNvPr id="7" name="Shape 4"/>
          <p:cNvSpPr/>
          <p:nvPr/>
        </p:nvSpPr>
        <p:spPr>
          <a:xfrm>
            <a:off x="777240" y="3977640"/>
            <a:ext cx="1463040" cy="27432"/>
          </a:xfrm>
          <a:prstGeom prst="rect">
            <a:avLst/>
          </a:prstGeom>
          <a:solidFill>
            <a:srgbClr val="E08A1E"/>
          </a:solidFill>
          <a:ln/>
        </p:spPr>
      </p:sp>
      <p:sp>
        <p:nvSpPr>
          <p:cNvPr id="8" name="Text 5"/>
          <p:cNvSpPr txBox="1"/>
          <p:nvPr/>
        </p:nvSpPr>
        <p:spPr>
          <a:xfrm>
            <a:off x="777240" y="4224528"/>
            <a:ext cx="6309360" cy="457200"/>
          </a:xfrm>
          <a:prstGeom prst="rect">
            <a:avLst/>
          </a:prstGeom>
          <a:noFill/>
          <a:ln/>
        </p:spPr>
        <p:txBody>
          <a:bodyPr wrap="square" lIns="0" tIns="0" rIns="0" bIns="0" rtlCol="0" anchor="ctr"/>
          <a:lstStyle/>
          <a:p>
            <a:pPr marL="0" indent="0">
              <a:buNone/>
            </a:pPr>
            <a:r>
              <a:rPr lang="en-US" sz="2600" b="1" dirty="0">
                <a:solidFill>
                  <a:srgbClr val="E08A1E"/>
                </a:solidFill>
                <a:latin typeface="Cambria" pitchFamily="34" charset="0"/>
                <a:ea typeface="Cambria" pitchFamily="34" charset="-122"/>
                <a:cs typeface="Cambria" pitchFamily="34" charset="-120"/>
              </a:rPr>
              <a:t>GROUP 12</a:t>
            </a:r>
            <a:endParaRPr lang="en-US" sz="2600" dirty="0"/>
          </a:p>
        </p:txBody>
      </p:sp>
      <p:sp>
        <p:nvSpPr>
          <p:cNvPr id="9" name="Text 6"/>
          <p:cNvSpPr txBox="1"/>
          <p:nvPr/>
        </p:nvSpPr>
        <p:spPr>
          <a:xfrm>
            <a:off x="777240" y="4773168"/>
            <a:ext cx="6309360" cy="365760"/>
          </a:xfrm>
          <a:prstGeom prst="rect">
            <a:avLst/>
          </a:prstGeom>
          <a:noFill/>
          <a:ln/>
        </p:spPr>
        <p:txBody>
          <a:bodyPr wrap="square" lIns="0" tIns="0" rIns="0" bIns="0" rtlCol="0" anchor="ctr"/>
          <a:lstStyle/>
          <a:p>
            <a:r>
              <a:rPr lang="en-US" sz="1300" dirty="0">
                <a:solidFill>
                  <a:srgbClr val="FFFFFF"/>
                </a:solidFill>
                <a:latin typeface="Calibri"/>
                <a:ea typeface="Calibri"/>
                <a:cs typeface="Calibri"/>
              </a:rPr>
              <a:t>Geetha   Javeed          Vikas    Ashok</a:t>
            </a:r>
            <a:endParaRPr lang="en-US" sz="1300">
              <a:ea typeface="Calibri" panose="020F0502020204030204"/>
              <a:cs typeface="Calibri" panose="020F0502020204030204"/>
            </a:endParaRPr>
          </a:p>
        </p:txBody>
      </p:sp>
      <p:sp>
        <p:nvSpPr>
          <p:cNvPr id="10" name="Text 7"/>
          <p:cNvSpPr txBox="1"/>
          <p:nvPr/>
        </p:nvSpPr>
        <p:spPr>
          <a:xfrm>
            <a:off x="777240" y="5440680"/>
            <a:ext cx="6309360" cy="320040"/>
          </a:xfrm>
          <a:prstGeom prst="rect">
            <a:avLst/>
          </a:prstGeom>
          <a:noFill/>
          <a:ln/>
        </p:spPr>
        <p:txBody>
          <a:bodyPr wrap="square" lIns="0" tIns="0" rIns="0" bIns="0" rtlCol="0" anchor="ctr"/>
          <a:lstStyle/>
          <a:p>
            <a:pPr marL="0" indent="0">
              <a:buNone/>
            </a:pPr>
            <a:r>
              <a:rPr lang="en-US" sz="1150" dirty="0">
                <a:solidFill>
                  <a:srgbClr val="8FA3B5"/>
                </a:solidFill>
                <a:latin typeface="Calibri" pitchFamily="34" charset="0"/>
                <a:ea typeface="Calibri" pitchFamily="34" charset="-122"/>
                <a:cs typeface="Calibri" pitchFamily="34" charset="-120"/>
              </a:rPr>
              <a:t>Retail / E-commerce    |    Python · Pandas · NumPy · Matplotlib · Seaborn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56032"/>
          </a:xfrm>
          <a:prstGeom prst="rect">
            <a:avLst/>
          </a:prstGeom>
          <a:noFill/>
          <a:ln/>
        </p:spPr>
        <p:txBody>
          <a:bodyPr wrap="square" lIns="0" tIns="0" rIns="0" bIns="0" rtlCol="0" anchor="ctr"/>
          <a:lstStyle/>
          <a:p>
            <a:pPr marL="0" indent="0">
              <a:buNone/>
            </a:pPr>
            <a:r>
              <a:rPr lang="en-US" sz="1100" b="1" kern="0" spc="200" dirty="0">
                <a:solidFill>
                  <a:srgbClr val="E08A1E"/>
                </a:solidFill>
                <a:latin typeface="Calibri" pitchFamily="34" charset="0"/>
                <a:ea typeface="Calibri" pitchFamily="34" charset="-122"/>
                <a:cs typeface="Calibri" pitchFamily="34" charset="-120"/>
              </a:rPr>
              <a:t>THE SITUATION</a:t>
            </a:r>
            <a:endParaRPr lang="en-US" sz="1100" dirty="0"/>
          </a:p>
        </p:txBody>
      </p:sp>
      <p:sp>
        <p:nvSpPr>
          <p:cNvPr id="3" name="Text 1"/>
          <p:cNvSpPr txBox="1"/>
          <p:nvPr/>
        </p:nvSpPr>
        <p:spPr>
          <a:xfrm>
            <a:off x="548640" y="566928"/>
            <a:ext cx="10515600" cy="658368"/>
          </a:xfrm>
          <a:prstGeom prst="rect">
            <a:avLst/>
          </a:prstGeom>
          <a:noFill/>
          <a:ln/>
        </p:spPr>
        <p:txBody>
          <a:bodyPr wrap="square" lIns="0" tIns="0" rIns="0" bIns="0" rtlCol="0" anchor="ctr"/>
          <a:lstStyle/>
          <a:p>
            <a:pPr marL="0" indent="0">
              <a:buNone/>
            </a:pPr>
            <a:r>
              <a:rPr lang="en-US" sz="3200" b="1" dirty="0">
                <a:solidFill>
                  <a:srgbClr val="0F2A43"/>
                </a:solidFill>
                <a:latin typeface="Cambria" pitchFamily="34" charset="0"/>
                <a:ea typeface="Cambria" pitchFamily="34" charset="-122"/>
                <a:cs typeface="Cambria" pitchFamily="34" charset="-120"/>
              </a:rPr>
              <a:t>Business Context</a:t>
            </a:r>
            <a:endParaRPr lang="en-US" sz="3200" dirty="0"/>
          </a:p>
        </p:txBody>
      </p:sp>
      <p:sp>
        <p:nvSpPr>
          <p:cNvPr id="4" name="Text 2"/>
          <p:cNvSpPr txBox="1"/>
          <p:nvPr/>
        </p:nvSpPr>
        <p:spPr>
          <a:xfrm>
            <a:off x="548640" y="6336792"/>
            <a:ext cx="5486400" cy="274320"/>
          </a:xfrm>
          <a:prstGeom prst="rect">
            <a:avLst/>
          </a:prstGeom>
          <a:noFill/>
          <a:ln/>
        </p:spPr>
        <p:txBody>
          <a:bodyPr wrap="square" lIns="0" tIns="0" rIns="0" bIns="0" rtlCol="0" anchor="ctr"/>
          <a:lstStyle/>
          <a:p>
            <a:pPr marL="0" indent="0">
              <a:buNone/>
            </a:pPr>
            <a:endParaRPr lang="en-US" sz="1000" dirty="0"/>
          </a:p>
        </p:txBody>
      </p:sp>
      <p:sp>
        <p:nvSpPr>
          <p:cNvPr id="5" name="Text 3"/>
          <p:cNvSpPr txBox="1"/>
          <p:nvPr/>
        </p:nvSpPr>
        <p:spPr>
          <a:xfrm>
            <a:off x="6400800" y="6336792"/>
            <a:ext cx="5239512" cy="274320"/>
          </a:xfrm>
          <a:prstGeom prst="rect">
            <a:avLst/>
          </a:prstGeom>
          <a:noFill/>
          <a:ln/>
        </p:spPr>
        <p:txBody>
          <a:bodyPr wrap="square" lIns="0" tIns="0" rIns="0" bIns="0" rtlCol="0" anchor="ctr"/>
          <a:lstStyle/>
          <a:p>
            <a:pPr marL="0" indent="0" algn="r">
              <a:buNone/>
            </a:pPr>
            <a:r>
              <a:rPr lang="en-US" sz="1000" dirty="0">
                <a:solidFill>
                  <a:srgbClr val="A6B2BD"/>
                </a:solidFill>
                <a:latin typeface="Calibri" pitchFamily="34" charset="0"/>
                <a:ea typeface="Calibri" pitchFamily="34" charset="-122"/>
                <a:cs typeface="Calibri" pitchFamily="34" charset="-120"/>
              </a:rPr>
              <a:t>GROUP 12  ·  Category Intelligence</a:t>
            </a:r>
            <a:endParaRPr lang="en-US" sz="1000" dirty="0"/>
          </a:p>
        </p:txBody>
      </p:sp>
      <p:pic>
        <p:nvPicPr>
          <p:cNvPr id="6" name="Image 0" descr="art_title.png"/>
          <p:cNvPicPr>
            <a:picLocks noChangeAspect="1"/>
          </p:cNvPicPr>
          <p:nvPr/>
        </p:nvPicPr>
        <p:blipFill>
          <a:blip r:embed="rId3"/>
          <a:srcRect/>
          <a:stretch/>
        </p:blipFill>
        <p:spPr>
          <a:xfrm>
            <a:off x="8275320" y="1417320"/>
            <a:ext cx="3337560" cy="3931920"/>
          </a:xfrm>
          <a:prstGeom prst="rect">
            <a:avLst/>
          </a:prstGeom>
        </p:spPr>
      </p:pic>
      <p:sp>
        <p:nvSpPr>
          <p:cNvPr id="7" name="Shape 4"/>
          <p:cNvSpPr/>
          <p:nvPr/>
        </p:nvSpPr>
        <p:spPr>
          <a:xfrm>
            <a:off x="566928" y="1472184"/>
            <a:ext cx="420624" cy="420624"/>
          </a:xfrm>
          <a:prstGeom prst="ellipse">
            <a:avLst/>
          </a:prstGeom>
          <a:solidFill>
            <a:srgbClr val="0F2A43"/>
          </a:solidFill>
          <a:ln/>
        </p:spPr>
      </p:sp>
      <p:pic>
        <p:nvPicPr>
          <p:cNvPr id="8" name="Image 1" descr="icon_store_w.png"/>
          <p:cNvPicPr>
            <a:picLocks noChangeAspect="1"/>
          </p:cNvPicPr>
          <p:nvPr/>
        </p:nvPicPr>
        <p:blipFill>
          <a:blip r:embed="rId4"/>
          <a:stretch>
            <a:fillRect/>
          </a:stretch>
        </p:blipFill>
        <p:spPr>
          <a:xfrm>
            <a:off x="672084" y="1577340"/>
            <a:ext cx="210312" cy="210312"/>
          </a:xfrm>
          <a:prstGeom prst="rect">
            <a:avLst/>
          </a:prstGeom>
        </p:spPr>
      </p:pic>
      <p:sp>
        <p:nvSpPr>
          <p:cNvPr id="9" name="Text 5"/>
          <p:cNvSpPr txBox="1"/>
          <p:nvPr/>
        </p:nvSpPr>
        <p:spPr>
          <a:xfrm>
            <a:off x="1143000" y="1444752"/>
            <a:ext cx="6766560" cy="274320"/>
          </a:xfrm>
          <a:prstGeom prst="rect">
            <a:avLst/>
          </a:prstGeom>
          <a:noFill/>
          <a:ln/>
        </p:spPr>
        <p:txBody>
          <a:bodyPr wrap="square" lIns="0" tIns="0" rIns="0" bIns="0" rtlCol="0" anchor="ctr"/>
          <a:lstStyle/>
          <a:p>
            <a:pPr marL="0" indent="0">
              <a:buNone/>
            </a:pPr>
            <a:r>
              <a:rPr lang="en-US" sz="1500" b="1" dirty="0">
                <a:solidFill>
                  <a:srgbClr val="0F2A43"/>
                </a:solidFill>
                <a:latin typeface="Calibri" pitchFamily="34" charset="0"/>
                <a:ea typeface="Calibri" pitchFamily="34" charset="-122"/>
                <a:cs typeface="Calibri" pitchFamily="34" charset="-120"/>
              </a:rPr>
              <a:t>A regional retail chain</a:t>
            </a:r>
            <a:endParaRPr lang="en-US" sz="1500" dirty="0"/>
          </a:p>
        </p:txBody>
      </p:sp>
      <p:sp>
        <p:nvSpPr>
          <p:cNvPr id="10" name="Text 6"/>
          <p:cNvSpPr txBox="1"/>
          <p:nvPr/>
        </p:nvSpPr>
        <p:spPr>
          <a:xfrm>
            <a:off x="1143000" y="1737360"/>
            <a:ext cx="6766560" cy="566928"/>
          </a:xfrm>
          <a:prstGeom prst="rect">
            <a:avLst/>
          </a:prstGeom>
          <a:noFill/>
          <a:ln/>
        </p:spPr>
        <p:txBody>
          <a:bodyPr wrap="square" lIns="0" tIns="0" rIns="0" bIns="0" rtlCol="0" anchor="ctr"/>
          <a:lstStyle/>
          <a:p>
            <a:pPr marL="0" indent="0">
              <a:buNone/>
            </a:pPr>
            <a:r>
              <a:rPr lang="en-US" sz="1200" dirty="0">
                <a:solidFill>
                  <a:srgbClr val="5A6B7B"/>
                </a:solidFill>
                <a:latin typeface="Calibri" pitchFamily="34" charset="0"/>
                <a:ea typeface="Calibri" pitchFamily="34" charset="-122"/>
                <a:cs typeface="Calibri" pitchFamily="34" charset="-120"/>
              </a:rPr>
              <a:t>12 stores across six Andhra Pradesh cities — Vijayawada, Guntur, Rajahmundry, Tirupati, Nellore and Kakinada.</a:t>
            </a:r>
            <a:endParaRPr lang="en-US" sz="1200" dirty="0"/>
          </a:p>
        </p:txBody>
      </p:sp>
      <p:sp>
        <p:nvSpPr>
          <p:cNvPr id="11" name="Shape 7"/>
          <p:cNvSpPr/>
          <p:nvPr/>
        </p:nvSpPr>
        <p:spPr>
          <a:xfrm>
            <a:off x="566928" y="2496312"/>
            <a:ext cx="420624" cy="420624"/>
          </a:xfrm>
          <a:prstGeom prst="ellipse">
            <a:avLst/>
          </a:prstGeom>
          <a:solidFill>
            <a:srgbClr val="0F2A43"/>
          </a:solidFill>
          <a:ln/>
        </p:spPr>
      </p:sp>
      <p:pic>
        <p:nvPicPr>
          <p:cNvPr id="12" name="Image 2" descr="icon_grid_w.png"/>
          <p:cNvPicPr>
            <a:picLocks noChangeAspect="1"/>
          </p:cNvPicPr>
          <p:nvPr/>
        </p:nvPicPr>
        <p:blipFill>
          <a:blip r:embed="rId5"/>
          <a:stretch>
            <a:fillRect/>
          </a:stretch>
        </p:blipFill>
        <p:spPr>
          <a:xfrm>
            <a:off x="672084" y="2601468"/>
            <a:ext cx="210312" cy="210312"/>
          </a:xfrm>
          <a:prstGeom prst="rect">
            <a:avLst/>
          </a:prstGeom>
        </p:spPr>
      </p:pic>
      <p:sp>
        <p:nvSpPr>
          <p:cNvPr id="13" name="Text 8"/>
          <p:cNvSpPr txBox="1"/>
          <p:nvPr/>
        </p:nvSpPr>
        <p:spPr>
          <a:xfrm>
            <a:off x="1143000" y="2468880"/>
            <a:ext cx="6766560" cy="274320"/>
          </a:xfrm>
          <a:prstGeom prst="rect">
            <a:avLst/>
          </a:prstGeom>
          <a:noFill/>
          <a:ln/>
        </p:spPr>
        <p:txBody>
          <a:bodyPr wrap="square" lIns="0" tIns="0" rIns="0" bIns="0" rtlCol="0" anchor="ctr"/>
          <a:lstStyle/>
          <a:p>
            <a:pPr marL="0" indent="0">
              <a:buNone/>
            </a:pPr>
            <a:r>
              <a:rPr lang="en-US" sz="1500" b="1" dirty="0">
                <a:solidFill>
                  <a:srgbClr val="0F2A43"/>
                </a:solidFill>
                <a:latin typeface="Calibri" pitchFamily="34" charset="0"/>
                <a:ea typeface="Calibri" pitchFamily="34" charset="-122"/>
                <a:cs typeface="Calibri" pitchFamily="34" charset="-120"/>
              </a:rPr>
              <a:t>Five product categories</a:t>
            </a:r>
            <a:endParaRPr lang="en-US" sz="1500" dirty="0"/>
          </a:p>
        </p:txBody>
      </p:sp>
      <p:sp>
        <p:nvSpPr>
          <p:cNvPr id="14" name="Text 9"/>
          <p:cNvSpPr txBox="1"/>
          <p:nvPr/>
        </p:nvSpPr>
        <p:spPr>
          <a:xfrm>
            <a:off x="1143000" y="2761488"/>
            <a:ext cx="6766560" cy="566928"/>
          </a:xfrm>
          <a:prstGeom prst="rect">
            <a:avLst/>
          </a:prstGeom>
          <a:noFill/>
          <a:ln/>
        </p:spPr>
        <p:txBody>
          <a:bodyPr wrap="square" lIns="0" tIns="0" rIns="0" bIns="0" rtlCol="0" anchor="ctr"/>
          <a:lstStyle/>
          <a:p>
            <a:pPr marL="0" indent="0">
              <a:buNone/>
            </a:pPr>
            <a:r>
              <a:rPr lang="en-US" sz="1200" dirty="0">
                <a:solidFill>
                  <a:srgbClr val="5A6B7B"/>
                </a:solidFill>
                <a:latin typeface="Calibri" pitchFamily="34" charset="0"/>
                <a:ea typeface="Calibri" pitchFamily="34" charset="-122"/>
                <a:cs typeface="Calibri" pitchFamily="34" charset="-120"/>
              </a:rPr>
              <a:t>Electronics, Apparel, Grocery, Home &amp; Kitchen and Personal Care — 25 products in total, five per category.</a:t>
            </a:r>
            <a:endParaRPr lang="en-US" sz="1200" dirty="0"/>
          </a:p>
        </p:txBody>
      </p:sp>
      <p:sp>
        <p:nvSpPr>
          <p:cNvPr id="15" name="Shape 10"/>
          <p:cNvSpPr/>
          <p:nvPr/>
        </p:nvSpPr>
        <p:spPr>
          <a:xfrm>
            <a:off x="566928" y="3520440"/>
            <a:ext cx="420624" cy="420624"/>
          </a:xfrm>
          <a:prstGeom prst="ellipse">
            <a:avLst/>
          </a:prstGeom>
          <a:solidFill>
            <a:srgbClr val="0F2A43"/>
          </a:solidFill>
          <a:ln/>
        </p:spPr>
      </p:sp>
      <p:pic>
        <p:nvPicPr>
          <p:cNvPr id="16" name="Image 3" descr="icon_data_w.png"/>
          <p:cNvPicPr>
            <a:picLocks noChangeAspect="1"/>
          </p:cNvPicPr>
          <p:nvPr/>
        </p:nvPicPr>
        <p:blipFill>
          <a:blip r:embed="rId6"/>
          <a:stretch>
            <a:fillRect/>
          </a:stretch>
        </p:blipFill>
        <p:spPr>
          <a:xfrm>
            <a:off x="672084" y="3625596"/>
            <a:ext cx="210312" cy="210312"/>
          </a:xfrm>
          <a:prstGeom prst="rect">
            <a:avLst/>
          </a:prstGeom>
        </p:spPr>
      </p:pic>
      <p:sp>
        <p:nvSpPr>
          <p:cNvPr id="17" name="Text 11"/>
          <p:cNvSpPr txBox="1"/>
          <p:nvPr/>
        </p:nvSpPr>
        <p:spPr>
          <a:xfrm>
            <a:off x="1143000" y="3493008"/>
            <a:ext cx="6766560" cy="274320"/>
          </a:xfrm>
          <a:prstGeom prst="rect">
            <a:avLst/>
          </a:prstGeom>
          <a:noFill/>
          <a:ln/>
        </p:spPr>
        <p:txBody>
          <a:bodyPr wrap="square" lIns="0" tIns="0" rIns="0" bIns="0" rtlCol="0" anchor="ctr"/>
          <a:lstStyle/>
          <a:p>
            <a:pPr marL="0" indent="0">
              <a:buNone/>
            </a:pPr>
            <a:r>
              <a:rPr lang="en-US" sz="1500" b="1" dirty="0">
                <a:solidFill>
                  <a:srgbClr val="0F2A43"/>
                </a:solidFill>
                <a:latin typeface="Calibri" pitchFamily="34" charset="0"/>
                <a:ea typeface="Calibri" pitchFamily="34" charset="-122"/>
                <a:cs typeface="Calibri" pitchFamily="34" charset="-120"/>
              </a:rPr>
              <a:t>Six months of transactions</a:t>
            </a:r>
            <a:endParaRPr lang="en-US" sz="1500" dirty="0"/>
          </a:p>
        </p:txBody>
      </p:sp>
      <p:sp>
        <p:nvSpPr>
          <p:cNvPr id="18" name="Text 12"/>
          <p:cNvSpPr txBox="1"/>
          <p:nvPr/>
        </p:nvSpPr>
        <p:spPr>
          <a:xfrm>
            <a:off x="1143000" y="3785616"/>
            <a:ext cx="6766560" cy="566928"/>
          </a:xfrm>
          <a:prstGeom prst="rect">
            <a:avLst/>
          </a:prstGeom>
          <a:noFill/>
          <a:ln/>
        </p:spPr>
        <p:txBody>
          <a:bodyPr wrap="square" lIns="0" tIns="0" rIns="0" bIns="0" rtlCol="0" anchor="ctr"/>
          <a:lstStyle/>
          <a:p>
            <a:pPr marL="0" indent="0">
              <a:buNone/>
            </a:pPr>
            <a:r>
              <a:rPr lang="en-US" sz="1200" dirty="0">
                <a:solidFill>
                  <a:srgbClr val="5A6B7B"/>
                </a:solidFill>
                <a:latin typeface="Calibri" pitchFamily="34" charset="0"/>
                <a:ea typeface="Calibri" pitchFamily="34" charset="-122"/>
                <a:cs typeface="Calibri" pitchFamily="34" charset="-120"/>
              </a:rPr>
              <a:t>107,836 transaction records covering 1 January to 30 June 2026, worth ₹45.98 Cr in revenue.</a:t>
            </a:r>
            <a:endParaRPr lang="en-US" sz="1200" dirty="0"/>
          </a:p>
        </p:txBody>
      </p:sp>
      <p:sp>
        <p:nvSpPr>
          <p:cNvPr id="19" name="Shape 13"/>
          <p:cNvSpPr/>
          <p:nvPr/>
        </p:nvSpPr>
        <p:spPr>
          <a:xfrm>
            <a:off x="566928" y="4544568"/>
            <a:ext cx="420624" cy="420624"/>
          </a:xfrm>
          <a:prstGeom prst="ellipse">
            <a:avLst/>
          </a:prstGeom>
          <a:solidFill>
            <a:srgbClr val="0F2A43"/>
          </a:solidFill>
          <a:ln/>
        </p:spPr>
      </p:sp>
      <p:pic>
        <p:nvPicPr>
          <p:cNvPr id="20" name="Image 4" descr="icon_target_w.png"/>
          <p:cNvPicPr>
            <a:picLocks noChangeAspect="1"/>
          </p:cNvPicPr>
          <p:nvPr/>
        </p:nvPicPr>
        <p:blipFill>
          <a:blip r:embed="rId7"/>
          <a:stretch>
            <a:fillRect/>
          </a:stretch>
        </p:blipFill>
        <p:spPr>
          <a:xfrm>
            <a:off x="672084" y="4649724"/>
            <a:ext cx="210312" cy="210312"/>
          </a:xfrm>
          <a:prstGeom prst="rect">
            <a:avLst/>
          </a:prstGeom>
        </p:spPr>
      </p:pic>
      <p:sp>
        <p:nvSpPr>
          <p:cNvPr id="21" name="Text 14"/>
          <p:cNvSpPr txBox="1"/>
          <p:nvPr/>
        </p:nvSpPr>
        <p:spPr>
          <a:xfrm>
            <a:off x="1143000" y="4517136"/>
            <a:ext cx="6766560" cy="274320"/>
          </a:xfrm>
          <a:prstGeom prst="rect">
            <a:avLst/>
          </a:prstGeom>
          <a:noFill/>
          <a:ln/>
        </p:spPr>
        <p:txBody>
          <a:bodyPr wrap="square" lIns="0" tIns="0" rIns="0" bIns="0" rtlCol="0" anchor="ctr"/>
          <a:lstStyle/>
          <a:p>
            <a:pPr marL="0" indent="0">
              <a:buNone/>
            </a:pPr>
            <a:r>
              <a:rPr lang="en-US" sz="1500" b="1" dirty="0">
                <a:solidFill>
                  <a:srgbClr val="0F2A43"/>
                </a:solidFill>
                <a:latin typeface="Calibri" pitchFamily="34" charset="0"/>
                <a:ea typeface="Calibri" pitchFamily="34" charset="-122"/>
                <a:cs typeface="Calibri" pitchFamily="34" charset="-120"/>
              </a:rPr>
              <a:t>A decision waiting to be made</a:t>
            </a:r>
            <a:endParaRPr lang="en-US" sz="1500" dirty="0"/>
          </a:p>
        </p:txBody>
      </p:sp>
      <p:sp>
        <p:nvSpPr>
          <p:cNvPr id="22" name="Text 15"/>
          <p:cNvSpPr txBox="1"/>
          <p:nvPr/>
        </p:nvSpPr>
        <p:spPr>
          <a:xfrm>
            <a:off x="1143000" y="4809744"/>
            <a:ext cx="6766560" cy="566928"/>
          </a:xfrm>
          <a:prstGeom prst="rect">
            <a:avLst/>
          </a:prstGeom>
          <a:noFill/>
          <a:ln/>
        </p:spPr>
        <p:txBody>
          <a:bodyPr wrap="square" lIns="0" tIns="0" rIns="0" bIns="0" rtlCol="0" anchor="ctr"/>
          <a:lstStyle/>
          <a:p>
            <a:pPr marL="0" indent="0">
              <a:buNone/>
            </a:pPr>
            <a:r>
              <a:rPr lang="en-US" sz="1200" dirty="0">
                <a:solidFill>
                  <a:srgbClr val="5A6B7B"/>
                </a:solidFill>
                <a:latin typeface="Calibri" pitchFamily="34" charset="0"/>
                <a:ea typeface="Calibri" pitchFamily="34" charset="-122"/>
                <a:cs typeface="Calibri" pitchFamily="34" charset="-120"/>
              </a:rPr>
              <a:t>The Category Manager has a quarterly supplier review next week, where each category argues for shelf space and promotional investment.</a:t>
            </a:r>
            <a:endParaRPr lang="en-US" sz="1200" dirty="0"/>
          </a:p>
        </p:txBody>
      </p:sp>
      <p:sp>
        <p:nvSpPr>
          <p:cNvPr id="23" name="Shape 16"/>
          <p:cNvSpPr/>
          <p:nvPr/>
        </p:nvSpPr>
        <p:spPr>
          <a:xfrm>
            <a:off x="566928" y="5596128"/>
            <a:ext cx="1664208" cy="548640"/>
          </a:xfrm>
          <a:prstGeom prst="roundRect">
            <a:avLst>
              <a:gd name="adj" fmla="val 16667"/>
            </a:avLst>
          </a:prstGeom>
          <a:solidFill>
            <a:srgbClr val="F2F5F8"/>
          </a:solidFill>
          <a:ln w="12700">
            <a:solidFill>
              <a:srgbClr val="DCE3EA"/>
            </a:solidFill>
            <a:prstDash val="solid"/>
          </a:ln>
        </p:spPr>
      </p:sp>
      <p:sp>
        <p:nvSpPr>
          <p:cNvPr id="24" name="Text 17"/>
          <p:cNvSpPr txBox="1"/>
          <p:nvPr/>
        </p:nvSpPr>
        <p:spPr>
          <a:xfrm>
            <a:off x="566928" y="5596128"/>
            <a:ext cx="1664208" cy="548640"/>
          </a:xfrm>
          <a:prstGeom prst="rect">
            <a:avLst/>
          </a:prstGeom>
          <a:noFill/>
          <a:ln/>
        </p:spPr>
        <p:txBody>
          <a:bodyPr wrap="square" lIns="0" tIns="0" rIns="0" bIns="0" rtlCol="0" anchor="ctr"/>
          <a:lstStyle/>
          <a:p>
            <a:pPr marL="0" indent="0" algn="ctr">
              <a:buNone/>
            </a:pPr>
            <a:r>
              <a:rPr lang="en-US" sz="1200" b="1" dirty="0">
                <a:solidFill>
                  <a:srgbClr val="0F2A43"/>
                </a:solidFill>
                <a:latin typeface="Calibri" pitchFamily="34" charset="0"/>
                <a:ea typeface="Calibri" pitchFamily="34" charset="-122"/>
                <a:cs typeface="Calibri" pitchFamily="34" charset="-120"/>
              </a:rPr>
              <a:t>12 Stores</a:t>
            </a:r>
            <a:endParaRPr lang="en-US" sz="1200" dirty="0"/>
          </a:p>
        </p:txBody>
      </p:sp>
      <p:sp>
        <p:nvSpPr>
          <p:cNvPr id="25" name="Text 18"/>
          <p:cNvSpPr txBox="1"/>
          <p:nvPr/>
        </p:nvSpPr>
        <p:spPr>
          <a:xfrm>
            <a:off x="2231136" y="5596128"/>
            <a:ext cx="329184" cy="548640"/>
          </a:xfrm>
          <a:prstGeom prst="rect">
            <a:avLst/>
          </a:prstGeom>
          <a:noFill/>
          <a:ln/>
        </p:spPr>
        <p:txBody>
          <a:bodyPr wrap="square" lIns="0" tIns="0" rIns="0" bIns="0" rtlCol="0" anchor="ctr"/>
          <a:lstStyle/>
          <a:p>
            <a:pPr marL="0" indent="0" algn="ctr">
              <a:buNone/>
            </a:pPr>
            <a:r>
              <a:rPr lang="en-US" sz="1600" dirty="0">
                <a:solidFill>
                  <a:srgbClr val="5A6B7B"/>
                </a:solidFill>
                <a:latin typeface="Calibri" pitchFamily="34" charset="0"/>
                <a:ea typeface="Calibri" pitchFamily="34" charset="-122"/>
                <a:cs typeface="Calibri" pitchFamily="34" charset="-120"/>
              </a:rPr>
              <a:t>→</a:t>
            </a:r>
            <a:endParaRPr lang="en-US" sz="1600" dirty="0"/>
          </a:p>
        </p:txBody>
      </p:sp>
      <p:sp>
        <p:nvSpPr>
          <p:cNvPr id="26" name="Shape 19"/>
          <p:cNvSpPr/>
          <p:nvPr/>
        </p:nvSpPr>
        <p:spPr>
          <a:xfrm>
            <a:off x="2560320" y="5596128"/>
            <a:ext cx="1664208" cy="548640"/>
          </a:xfrm>
          <a:prstGeom prst="roundRect">
            <a:avLst>
              <a:gd name="adj" fmla="val 16667"/>
            </a:avLst>
          </a:prstGeom>
          <a:solidFill>
            <a:srgbClr val="F2F5F8"/>
          </a:solidFill>
          <a:ln w="12700">
            <a:solidFill>
              <a:srgbClr val="DCE3EA"/>
            </a:solidFill>
            <a:prstDash val="solid"/>
          </a:ln>
        </p:spPr>
      </p:sp>
      <p:sp>
        <p:nvSpPr>
          <p:cNvPr id="27" name="Text 20"/>
          <p:cNvSpPr txBox="1"/>
          <p:nvPr/>
        </p:nvSpPr>
        <p:spPr>
          <a:xfrm>
            <a:off x="2560320" y="5596128"/>
            <a:ext cx="1664208" cy="548640"/>
          </a:xfrm>
          <a:prstGeom prst="rect">
            <a:avLst/>
          </a:prstGeom>
          <a:noFill/>
          <a:ln/>
        </p:spPr>
        <p:txBody>
          <a:bodyPr wrap="square" lIns="0" tIns="0" rIns="0" bIns="0" rtlCol="0" anchor="ctr"/>
          <a:lstStyle/>
          <a:p>
            <a:pPr marL="0" indent="0" algn="ctr">
              <a:buNone/>
            </a:pPr>
            <a:r>
              <a:rPr lang="en-US" sz="1200" b="1" dirty="0">
                <a:solidFill>
                  <a:srgbClr val="0F2A43"/>
                </a:solidFill>
                <a:latin typeface="Calibri" pitchFamily="34" charset="0"/>
                <a:ea typeface="Calibri" pitchFamily="34" charset="-122"/>
                <a:cs typeface="Calibri" pitchFamily="34" charset="-120"/>
              </a:rPr>
              <a:t>5 Categories</a:t>
            </a:r>
            <a:endParaRPr lang="en-US" sz="1200" dirty="0"/>
          </a:p>
        </p:txBody>
      </p:sp>
      <p:sp>
        <p:nvSpPr>
          <p:cNvPr id="28" name="Text 21"/>
          <p:cNvSpPr txBox="1"/>
          <p:nvPr/>
        </p:nvSpPr>
        <p:spPr>
          <a:xfrm>
            <a:off x="4224528" y="5596128"/>
            <a:ext cx="329184" cy="548640"/>
          </a:xfrm>
          <a:prstGeom prst="rect">
            <a:avLst/>
          </a:prstGeom>
          <a:noFill/>
          <a:ln/>
        </p:spPr>
        <p:txBody>
          <a:bodyPr wrap="square" lIns="0" tIns="0" rIns="0" bIns="0" rtlCol="0" anchor="ctr"/>
          <a:lstStyle/>
          <a:p>
            <a:pPr marL="0" indent="0" algn="ctr">
              <a:buNone/>
            </a:pPr>
            <a:r>
              <a:rPr lang="en-US" sz="1600" dirty="0">
                <a:solidFill>
                  <a:srgbClr val="5A6B7B"/>
                </a:solidFill>
                <a:latin typeface="Calibri" pitchFamily="34" charset="0"/>
                <a:ea typeface="Calibri" pitchFamily="34" charset="-122"/>
                <a:cs typeface="Calibri" pitchFamily="34" charset="-120"/>
              </a:rPr>
              <a:t>→</a:t>
            </a:r>
            <a:endParaRPr lang="en-US" sz="1600" dirty="0"/>
          </a:p>
        </p:txBody>
      </p:sp>
      <p:sp>
        <p:nvSpPr>
          <p:cNvPr id="29" name="Shape 22"/>
          <p:cNvSpPr/>
          <p:nvPr/>
        </p:nvSpPr>
        <p:spPr>
          <a:xfrm>
            <a:off x="4553712" y="5596128"/>
            <a:ext cx="1664208" cy="548640"/>
          </a:xfrm>
          <a:prstGeom prst="roundRect">
            <a:avLst>
              <a:gd name="adj" fmla="val 16667"/>
            </a:avLst>
          </a:prstGeom>
          <a:solidFill>
            <a:srgbClr val="F2F5F8"/>
          </a:solidFill>
          <a:ln w="12700">
            <a:solidFill>
              <a:srgbClr val="DCE3EA"/>
            </a:solidFill>
            <a:prstDash val="solid"/>
          </a:ln>
        </p:spPr>
      </p:sp>
      <p:sp>
        <p:nvSpPr>
          <p:cNvPr id="30" name="Text 23"/>
          <p:cNvSpPr txBox="1"/>
          <p:nvPr/>
        </p:nvSpPr>
        <p:spPr>
          <a:xfrm>
            <a:off x="4553712" y="5596128"/>
            <a:ext cx="1664208" cy="548640"/>
          </a:xfrm>
          <a:prstGeom prst="rect">
            <a:avLst/>
          </a:prstGeom>
          <a:noFill/>
          <a:ln/>
        </p:spPr>
        <p:txBody>
          <a:bodyPr wrap="square" lIns="0" tIns="0" rIns="0" bIns="0" rtlCol="0" anchor="ctr"/>
          <a:lstStyle/>
          <a:p>
            <a:pPr marL="0" indent="0" algn="ctr">
              <a:buNone/>
            </a:pPr>
            <a:r>
              <a:rPr lang="en-US" sz="1200" b="1" dirty="0">
                <a:solidFill>
                  <a:srgbClr val="0F2A43"/>
                </a:solidFill>
                <a:latin typeface="Calibri" pitchFamily="34" charset="0"/>
                <a:ea typeface="Calibri" pitchFamily="34" charset="-122"/>
                <a:cs typeface="Calibri" pitchFamily="34" charset="-120"/>
              </a:rPr>
              <a:t>6 Months</a:t>
            </a:r>
            <a:endParaRPr lang="en-US" sz="1200" dirty="0"/>
          </a:p>
        </p:txBody>
      </p:sp>
      <p:sp>
        <p:nvSpPr>
          <p:cNvPr id="31" name="Text 24"/>
          <p:cNvSpPr txBox="1"/>
          <p:nvPr/>
        </p:nvSpPr>
        <p:spPr>
          <a:xfrm>
            <a:off x="6217920" y="5596128"/>
            <a:ext cx="329184" cy="548640"/>
          </a:xfrm>
          <a:prstGeom prst="rect">
            <a:avLst/>
          </a:prstGeom>
          <a:noFill/>
          <a:ln/>
        </p:spPr>
        <p:txBody>
          <a:bodyPr wrap="square" lIns="0" tIns="0" rIns="0" bIns="0" rtlCol="0" anchor="ctr"/>
          <a:lstStyle/>
          <a:p>
            <a:pPr marL="0" indent="0" algn="ctr">
              <a:buNone/>
            </a:pPr>
            <a:r>
              <a:rPr lang="en-US" sz="1600" dirty="0">
                <a:solidFill>
                  <a:srgbClr val="5A6B7B"/>
                </a:solidFill>
                <a:latin typeface="Calibri" pitchFamily="34" charset="0"/>
                <a:ea typeface="Calibri" pitchFamily="34" charset="-122"/>
                <a:cs typeface="Calibri" pitchFamily="34" charset="-120"/>
              </a:rPr>
              <a:t>→</a:t>
            </a:r>
            <a:endParaRPr lang="en-US" sz="1600" dirty="0"/>
          </a:p>
        </p:txBody>
      </p:sp>
      <p:sp>
        <p:nvSpPr>
          <p:cNvPr id="32" name="Shape 25"/>
          <p:cNvSpPr/>
          <p:nvPr/>
        </p:nvSpPr>
        <p:spPr>
          <a:xfrm>
            <a:off x="6547104" y="5596128"/>
            <a:ext cx="1664208" cy="548640"/>
          </a:xfrm>
          <a:prstGeom prst="roundRect">
            <a:avLst>
              <a:gd name="adj" fmla="val 16667"/>
            </a:avLst>
          </a:prstGeom>
          <a:solidFill>
            <a:srgbClr val="E08A1E"/>
          </a:solidFill>
          <a:ln w="12700">
            <a:solidFill>
              <a:srgbClr val="E08A1E"/>
            </a:solidFill>
            <a:prstDash val="solid"/>
          </a:ln>
        </p:spPr>
      </p:sp>
      <p:sp>
        <p:nvSpPr>
          <p:cNvPr id="33" name="Text 26"/>
          <p:cNvSpPr txBox="1"/>
          <p:nvPr/>
        </p:nvSpPr>
        <p:spPr>
          <a:xfrm>
            <a:off x="6547104" y="5596128"/>
            <a:ext cx="1664208" cy="548640"/>
          </a:xfrm>
          <a:prstGeom prst="rect">
            <a:avLst/>
          </a:prstGeom>
          <a:noFill/>
          <a:ln/>
        </p:spPr>
        <p:txBody>
          <a:bodyPr wrap="square" lIns="0" tIns="0" rIns="0" bIns="0" rtlCol="0" anchor="ctr"/>
          <a:lstStyle/>
          <a:p>
            <a:pPr marL="0" indent="0" algn="ctr">
              <a:buNone/>
            </a:pPr>
            <a:r>
              <a:rPr lang="en-US" sz="1200" b="1" dirty="0">
                <a:solidFill>
                  <a:srgbClr val="3A2600"/>
                </a:solidFill>
                <a:latin typeface="Calibri" pitchFamily="34" charset="0"/>
                <a:ea typeface="Calibri" pitchFamily="34" charset="-122"/>
                <a:cs typeface="Calibri" pitchFamily="34" charset="-120"/>
              </a:rPr>
              <a:t>Supplier Review</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56032"/>
          </a:xfrm>
          <a:prstGeom prst="rect">
            <a:avLst/>
          </a:prstGeom>
          <a:noFill/>
          <a:ln/>
        </p:spPr>
        <p:txBody>
          <a:bodyPr wrap="square" lIns="0" tIns="0" rIns="0" bIns="0" rtlCol="0" anchor="ctr"/>
          <a:lstStyle/>
          <a:p>
            <a:pPr marL="0" indent="0">
              <a:buNone/>
            </a:pPr>
            <a:r>
              <a:rPr lang="en-US" sz="1100" b="1" kern="0" spc="200" dirty="0">
                <a:solidFill>
                  <a:srgbClr val="E08A1E"/>
                </a:solidFill>
                <a:latin typeface="Calibri" pitchFamily="34" charset="0"/>
                <a:ea typeface="Calibri" pitchFamily="34" charset="-122"/>
                <a:cs typeface="Calibri" pitchFamily="34" charset="-120"/>
              </a:rPr>
              <a:t>THE BUSINESS QUESTION</a:t>
            </a:r>
            <a:endParaRPr lang="en-US" sz="1100" dirty="0"/>
          </a:p>
        </p:txBody>
      </p:sp>
      <p:sp>
        <p:nvSpPr>
          <p:cNvPr id="3" name="Text 1"/>
          <p:cNvSpPr txBox="1"/>
          <p:nvPr/>
        </p:nvSpPr>
        <p:spPr>
          <a:xfrm>
            <a:off x="548640" y="566928"/>
            <a:ext cx="10515600" cy="658368"/>
          </a:xfrm>
          <a:prstGeom prst="rect">
            <a:avLst/>
          </a:prstGeom>
          <a:noFill/>
          <a:ln/>
        </p:spPr>
        <p:txBody>
          <a:bodyPr wrap="square" lIns="0" tIns="0" rIns="0" bIns="0" rtlCol="0" anchor="ctr"/>
          <a:lstStyle/>
          <a:p>
            <a:pPr marL="0" indent="0">
              <a:buNone/>
            </a:pPr>
            <a:r>
              <a:rPr lang="en-US" sz="3200" b="1" dirty="0">
                <a:solidFill>
                  <a:srgbClr val="0F2A43"/>
                </a:solidFill>
                <a:latin typeface="Cambria" pitchFamily="34" charset="0"/>
                <a:ea typeface="Cambria" pitchFamily="34" charset="-122"/>
                <a:cs typeface="Cambria" pitchFamily="34" charset="-120"/>
              </a:rPr>
              <a:t>What Are We Trying to Answer?</a:t>
            </a:r>
            <a:endParaRPr lang="en-US" sz="3200" dirty="0"/>
          </a:p>
        </p:txBody>
      </p:sp>
      <p:sp>
        <p:nvSpPr>
          <p:cNvPr id="5" name="Text 3"/>
          <p:cNvSpPr txBox="1"/>
          <p:nvPr/>
        </p:nvSpPr>
        <p:spPr>
          <a:xfrm>
            <a:off x="6400800" y="6336792"/>
            <a:ext cx="5239512" cy="274320"/>
          </a:xfrm>
          <a:prstGeom prst="rect">
            <a:avLst/>
          </a:prstGeom>
          <a:noFill/>
          <a:ln/>
        </p:spPr>
        <p:txBody>
          <a:bodyPr wrap="square" lIns="0" tIns="0" rIns="0" bIns="0" rtlCol="0" anchor="ctr"/>
          <a:lstStyle/>
          <a:p>
            <a:pPr marL="0" indent="0" algn="r">
              <a:buNone/>
            </a:pPr>
            <a:r>
              <a:rPr lang="en-US" sz="1000" dirty="0">
                <a:solidFill>
                  <a:srgbClr val="A6B2BD"/>
                </a:solidFill>
                <a:latin typeface="Calibri" pitchFamily="34" charset="0"/>
                <a:ea typeface="Calibri" pitchFamily="34" charset="-122"/>
                <a:cs typeface="Calibri" pitchFamily="34" charset="-120"/>
              </a:rPr>
              <a:t>GROUP 12  ·  Category Intelligence</a:t>
            </a:r>
            <a:endParaRPr lang="en-US" sz="1000" dirty="0"/>
          </a:p>
        </p:txBody>
      </p:sp>
      <p:sp>
        <p:nvSpPr>
          <p:cNvPr id="6" name="Shape 4"/>
          <p:cNvSpPr/>
          <p:nvPr/>
        </p:nvSpPr>
        <p:spPr>
          <a:xfrm>
            <a:off x="548640" y="1371600"/>
            <a:ext cx="11091672" cy="1207008"/>
          </a:xfrm>
          <a:prstGeom prst="roundRect">
            <a:avLst>
              <a:gd name="adj" fmla="val 6061"/>
            </a:avLst>
          </a:prstGeom>
          <a:solidFill>
            <a:srgbClr val="0F2A43"/>
          </a:solidFill>
          <a:ln w="12700">
            <a:solidFill>
              <a:srgbClr val="0F2A43"/>
            </a:solidFill>
            <a:prstDash val="solid"/>
          </a:ln>
        </p:spPr>
      </p:sp>
      <p:sp>
        <p:nvSpPr>
          <p:cNvPr id="7" name="Text 5"/>
          <p:cNvSpPr txBox="1"/>
          <p:nvPr/>
        </p:nvSpPr>
        <p:spPr>
          <a:xfrm>
            <a:off x="914400" y="1517904"/>
            <a:ext cx="10332720" cy="914400"/>
          </a:xfrm>
          <a:prstGeom prst="rect">
            <a:avLst/>
          </a:prstGeom>
          <a:noFill/>
          <a:ln/>
        </p:spPr>
        <p:txBody>
          <a:bodyPr wrap="square" lIns="0" tIns="0" rIns="0" bIns="0" rtlCol="0" anchor="ctr"/>
          <a:lstStyle/>
          <a:p>
            <a:pPr marL="0" indent="0">
              <a:buNone/>
            </a:pPr>
            <a:r>
              <a:rPr lang="en-US" sz="1650" i="1" dirty="0">
                <a:solidFill>
                  <a:srgbClr val="FFFFFF"/>
                </a:solidFill>
                <a:latin typeface="Cambria" pitchFamily="34" charset="0"/>
                <a:ea typeface="Cambria" pitchFamily="34" charset="-122"/>
                <a:cs typeface="Cambria" pitchFamily="34" charset="-120"/>
              </a:rPr>
              <a:t>Based on six months of transaction data, which categories and products are driving performance, where are declines occurring, and what should the Category Manager prioritise for the supplier review?</a:t>
            </a:r>
            <a:endParaRPr lang="en-US" sz="1650" dirty="0"/>
          </a:p>
        </p:txBody>
      </p:sp>
      <p:sp>
        <p:nvSpPr>
          <p:cNvPr id="8" name="Shape 6"/>
          <p:cNvSpPr/>
          <p:nvPr/>
        </p:nvSpPr>
        <p:spPr>
          <a:xfrm>
            <a:off x="548640" y="2926080"/>
            <a:ext cx="1984248" cy="2834640"/>
          </a:xfrm>
          <a:prstGeom prst="roundRect">
            <a:avLst>
              <a:gd name="adj" fmla="val 3687"/>
            </a:avLst>
          </a:prstGeom>
          <a:solidFill>
            <a:srgbClr val="F2F5F8"/>
          </a:solidFill>
          <a:ln w="12700">
            <a:solidFill>
              <a:srgbClr val="DCE3EA"/>
            </a:solidFill>
            <a:prstDash val="solid"/>
          </a:ln>
        </p:spPr>
      </p:sp>
      <p:sp>
        <p:nvSpPr>
          <p:cNvPr id="9" name="Shape 7"/>
          <p:cNvSpPr/>
          <p:nvPr/>
        </p:nvSpPr>
        <p:spPr>
          <a:xfrm>
            <a:off x="804672" y="3182112"/>
            <a:ext cx="566928" cy="566928"/>
          </a:xfrm>
          <a:prstGeom prst="ellipse">
            <a:avLst/>
          </a:prstGeom>
          <a:solidFill>
            <a:srgbClr val="0F2A43"/>
          </a:solidFill>
          <a:ln/>
        </p:spPr>
      </p:sp>
      <p:pic>
        <p:nvPicPr>
          <p:cNvPr id="10" name="Image 0" descr="icon_trend_w.png"/>
          <p:cNvPicPr>
            <a:picLocks noChangeAspect="1"/>
          </p:cNvPicPr>
          <p:nvPr/>
        </p:nvPicPr>
        <p:blipFill>
          <a:blip r:embed="rId3"/>
          <a:stretch>
            <a:fillRect/>
          </a:stretch>
        </p:blipFill>
        <p:spPr>
          <a:xfrm>
            <a:off x="946404" y="3323844"/>
            <a:ext cx="283464" cy="283464"/>
          </a:xfrm>
          <a:prstGeom prst="rect">
            <a:avLst/>
          </a:prstGeom>
        </p:spPr>
      </p:pic>
      <p:sp>
        <p:nvSpPr>
          <p:cNvPr id="11" name="Text 8"/>
          <p:cNvSpPr txBox="1"/>
          <p:nvPr/>
        </p:nvSpPr>
        <p:spPr>
          <a:xfrm>
            <a:off x="1508760" y="3246120"/>
            <a:ext cx="914400" cy="365760"/>
          </a:xfrm>
          <a:prstGeom prst="rect">
            <a:avLst/>
          </a:prstGeom>
          <a:noFill/>
          <a:ln/>
        </p:spPr>
        <p:txBody>
          <a:bodyPr wrap="square" lIns="0" tIns="0" rIns="0" bIns="0" rtlCol="0" anchor="ctr"/>
          <a:lstStyle/>
          <a:p>
            <a:pPr marL="0" indent="0">
              <a:buNone/>
            </a:pPr>
            <a:r>
              <a:rPr lang="en-US" sz="2000" b="1" dirty="0">
                <a:solidFill>
                  <a:srgbClr val="C3CED8"/>
                </a:solidFill>
                <a:latin typeface="Cambria" pitchFamily="34" charset="0"/>
                <a:ea typeface="Cambria" pitchFamily="34" charset="-122"/>
                <a:cs typeface="Cambria" pitchFamily="34" charset="-120"/>
              </a:rPr>
              <a:t>01</a:t>
            </a:r>
            <a:endParaRPr lang="en-US" sz="2000" dirty="0"/>
          </a:p>
        </p:txBody>
      </p:sp>
      <p:sp>
        <p:nvSpPr>
          <p:cNvPr id="12" name="Text 9"/>
          <p:cNvSpPr txBox="1"/>
          <p:nvPr/>
        </p:nvSpPr>
        <p:spPr>
          <a:xfrm>
            <a:off x="804672" y="3913632"/>
            <a:ext cx="1472184" cy="640080"/>
          </a:xfrm>
          <a:prstGeom prst="rect">
            <a:avLst/>
          </a:prstGeom>
          <a:noFill/>
          <a:ln/>
        </p:spPr>
        <p:txBody>
          <a:bodyPr wrap="square" lIns="0" tIns="0" rIns="0" bIns="0" rtlCol="0" anchor="ctr"/>
          <a:lstStyle/>
          <a:p>
            <a:pPr marL="0" indent="0">
              <a:buNone/>
            </a:pPr>
            <a:r>
              <a:rPr lang="en-US" sz="1400" b="1" dirty="0">
                <a:solidFill>
                  <a:srgbClr val="0F2A43"/>
                </a:solidFill>
                <a:latin typeface="Calibri" pitchFamily="34" charset="0"/>
                <a:ea typeface="Calibri" pitchFamily="34" charset="-122"/>
                <a:cs typeface="Calibri" pitchFamily="34" charset="-120"/>
              </a:rPr>
              <a:t>Category Revenue Trends</a:t>
            </a:r>
            <a:endParaRPr lang="en-US" sz="1400" dirty="0"/>
          </a:p>
        </p:txBody>
      </p:sp>
      <p:sp>
        <p:nvSpPr>
          <p:cNvPr id="13" name="Text 10"/>
          <p:cNvSpPr txBox="1"/>
          <p:nvPr/>
        </p:nvSpPr>
        <p:spPr>
          <a:xfrm>
            <a:off x="804672" y="4572000"/>
            <a:ext cx="1472184" cy="1005840"/>
          </a:xfrm>
          <a:prstGeom prst="rect">
            <a:avLst/>
          </a:prstGeom>
          <a:noFill/>
          <a:ln/>
        </p:spPr>
        <p:txBody>
          <a:bodyPr wrap="square" lIns="0" tIns="0" rIns="0" bIns="0" rtlCol="0" anchor="ctr"/>
          <a:lstStyle/>
          <a:p>
            <a:pPr marL="0" indent="0">
              <a:buNone/>
            </a:pPr>
            <a:r>
              <a:rPr lang="en-US" sz="1150" dirty="0">
                <a:solidFill>
                  <a:srgbClr val="5A6B7B"/>
                </a:solidFill>
                <a:latin typeface="Calibri" pitchFamily="34" charset="0"/>
                <a:ea typeface="Calibri" pitchFamily="34" charset="-122"/>
                <a:cs typeface="Calibri" pitchFamily="34" charset="-120"/>
              </a:rPr>
              <a:t>Month-on-month revenue for all five categories</a:t>
            </a:r>
            <a:endParaRPr lang="en-US" sz="1150" dirty="0"/>
          </a:p>
        </p:txBody>
      </p:sp>
      <p:sp>
        <p:nvSpPr>
          <p:cNvPr id="14" name="Shape 11"/>
          <p:cNvSpPr/>
          <p:nvPr/>
        </p:nvSpPr>
        <p:spPr>
          <a:xfrm>
            <a:off x="2825496" y="2926080"/>
            <a:ext cx="1984248" cy="2834640"/>
          </a:xfrm>
          <a:prstGeom prst="roundRect">
            <a:avLst>
              <a:gd name="adj" fmla="val 3687"/>
            </a:avLst>
          </a:prstGeom>
          <a:solidFill>
            <a:srgbClr val="F2F5F8"/>
          </a:solidFill>
          <a:ln w="12700">
            <a:solidFill>
              <a:srgbClr val="DCE3EA"/>
            </a:solidFill>
            <a:prstDash val="solid"/>
          </a:ln>
        </p:spPr>
      </p:sp>
      <p:sp>
        <p:nvSpPr>
          <p:cNvPr id="15" name="Shape 12"/>
          <p:cNvSpPr/>
          <p:nvPr/>
        </p:nvSpPr>
        <p:spPr>
          <a:xfrm>
            <a:off x="3081528" y="3182112"/>
            <a:ext cx="566928" cy="566928"/>
          </a:xfrm>
          <a:prstGeom prst="ellipse">
            <a:avLst/>
          </a:prstGeom>
          <a:solidFill>
            <a:srgbClr val="0F2A43"/>
          </a:solidFill>
          <a:ln/>
        </p:spPr>
      </p:sp>
      <p:pic>
        <p:nvPicPr>
          <p:cNvPr id="16" name="Image 1" descr="icon_products_w.png"/>
          <p:cNvPicPr>
            <a:picLocks noChangeAspect="1"/>
          </p:cNvPicPr>
          <p:nvPr/>
        </p:nvPicPr>
        <p:blipFill>
          <a:blip r:embed="rId4"/>
          <a:stretch>
            <a:fillRect/>
          </a:stretch>
        </p:blipFill>
        <p:spPr>
          <a:xfrm>
            <a:off x="3223260" y="3323844"/>
            <a:ext cx="283464" cy="283464"/>
          </a:xfrm>
          <a:prstGeom prst="rect">
            <a:avLst/>
          </a:prstGeom>
        </p:spPr>
      </p:pic>
      <p:sp>
        <p:nvSpPr>
          <p:cNvPr id="17" name="Text 13"/>
          <p:cNvSpPr txBox="1"/>
          <p:nvPr/>
        </p:nvSpPr>
        <p:spPr>
          <a:xfrm>
            <a:off x="3785616" y="3246120"/>
            <a:ext cx="914400" cy="365760"/>
          </a:xfrm>
          <a:prstGeom prst="rect">
            <a:avLst/>
          </a:prstGeom>
          <a:noFill/>
          <a:ln/>
        </p:spPr>
        <p:txBody>
          <a:bodyPr wrap="square" lIns="0" tIns="0" rIns="0" bIns="0" rtlCol="0" anchor="ctr"/>
          <a:lstStyle/>
          <a:p>
            <a:pPr marL="0" indent="0">
              <a:buNone/>
            </a:pPr>
            <a:r>
              <a:rPr lang="en-US" sz="2000" b="1" dirty="0">
                <a:solidFill>
                  <a:srgbClr val="C3CED8"/>
                </a:solidFill>
                <a:latin typeface="Cambria" pitchFamily="34" charset="0"/>
                <a:ea typeface="Cambria" pitchFamily="34" charset="-122"/>
                <a:cs typeface="Cambria" pitchFamily="34" charset="-120"/>
              </a:rPr>
              <a:t>02</a:t>
            </a:r>
            <a:endParaRPr lang="en-US" sz="2000" dirty="0"/>
          </a:p>
        </p:txBody>
      </p:sp>
      <p:sp>
        <p:nvSpPr>
          <p:cNvPr id="18" name="Text 14"/>
          <p:cNvSpPr txBox="1"/>
          <p:nvPr/>
        </p:nvSpPr>
        <p:spPr>
          <a:xfrm>
            <a:off x="3081528" y="3913632"/>
            <a:ext cx="1472184" cy="640080"/>
          </a:xfrm>
          <a:prstGeom prst="rect">
            <a:avLst/>
          </a:prstGeom>
          <a:noFill/>
          <a:ln/>
        </p:spPr>
        <p:txBody>
          <a:bodyPr wrap="square" lIns="0" tIns="0" rIns="0" bIns="0" rtlCol="0" anchor="ctr"/>
          <a:lstStyle/>
          <a:p>
            <a:pPr marL="0" indent="0">
              <a:buNone/>
            </a:pPr>
            <a:r>
              <a:rPr lang="en-US" sz="1400" b="1" dirty="0">
                <a:solidFill>
                  <a:srgbClr val="0F2A43"/>
                </a:solidFill>
                <a:latin typeface="Calibri" pitchFamily="34" charset="0"/>
                <a:ea typeface="Calibri" pitchFamily="34" charset="-122"/>
                <a:cs typeface="Calibri" pitchFamily="34" charset="-120"/>
              </a:rPr>
              <a:t>Top &amp; Bottom Products</a:t>
            </a:r>
            <a:endParaRPr lang="en-US" sz="1400" dirty="0"/>
          </a:p>
        </p:txBody>
      </p:sp>
      <p:sp>
        <p:nvSpPr>
          <p:cNvPr id="19" name="Text 15"/>
          <p:cNvSpPr txBox="1"/>
          <p:nvPr/>
        </p:nvSpPr>
        <p:spPr>
          <a:xfrm>
            <a:off x="3081528" y="4572000"/>
            <a:ext cx="1472184" cy="1005840"/>
          </a:xfrm>
          <a:prstGeom prst="rect">
            <a:avLst/>
          </a:prstGeom>
          <a:noFill/>
          <a:ln/>
        </p:spPr>
        <p:txBody>
          <a:bodyPr wrap="square" lIns="0" tIns="0" rIns="0" bIns="0" rtlCol="0" anchor="ctr"/>
          <a:lstStyle/>
          <a:p>
            <a:pPr marL="0" indent="0">
              <a:buNone/>
            </a:pPr>
            <a:r>
              <a:rPr lang="en-US" sz="1150" dirty="0">
                <a:solidFill>
                  <a:srgbClr val="5A6B7B"/>
                </a:solidFill>
                <a:latin typeface="Calibri" pitchFamily="34" charset="0"/>
                <a:ea typeface="Calibri" pitchFamily="34" charset="-122"/>
                <a:cs typeface="Calibri" pitchFamily="34" charset="-120"/>
              </a:rPr>
              <a:t>The two best and two weakest products in each category</a:t>
            </a:r>
            <a:endParaRPr lang="en-US" sz="1150" dirty="0"/>
          </a:p>
        </p:txBody>
      </p:sp>
      <p:sp>
        <p:nvSpPr>
          <p:cNvPr id="20" name="Shape 16"/>
          <p:cNvSpPr/>
          <p:nvPr/>
        </p:nvSpPr>
        <p:spPr>
          <a:xfrm>
            <a:off x="5102352" y="2926080"/>
            <a:ext cx="1984248" cy="2834640"/>
          </a:xfrm>
          <a:prstGeom prst="roundRect">
            <a:avLst>
              <a:gd name="adj" fmla="val 3687"/>
            </a:avLst>
          </a:prstGeom>
          <a:solidFill>
            <a:srgbClr val="F2F5F8"/>
          </a:solidFill>
          <a:ln w="12700">
            <a:solidFill>
              <a:srgbClr val="DCE3EA"/>
            </a:solidFill>
            <a:prstDash val="solid"/>
          </a:ln>
        </p:spPr>
      </p:sp>
      <p:sp>
        <p:nvSpPr>
          <p:cNvPr id="21" name="Shape 17"/>
          <p:cNvSpPr/>
          <p:nvPr/>
        </p:nvSpPr>
        <p:spPr>
          <a:xfrm>
            <a:off x="5358384" y="3182112"/>
            <a:ext cx="566928" cy="566928"/>
          </a:xfrm>
          <a:prstGeom prst="ellipse">
            <a:avLst/>
          </a:prstGeom>
          <a:solidFill>
            <a:srgbClr val="0F2A43"/>
          </a:solidFill>
          <a:ln/>
        </p:spPr>
      </p:sp>
      <p:pic>
        <p:nvPicPr>
          <p:cNvPr id="22" name="Image 2" descr="icon_discount_w.png"/>
          <p:cNvPicPr>
            <a:picLocks noChangeAspect="1"/>
          </p:cNvPicPr>
          <p:nvPr/>
        </p:nvPicPr>
        <p:blipFill>
          <a:blip r:embed="rId5"/>
          <a:stretch>
            <a:fillRect/>
          </a:stretch>
        </p:blipFill>
        <p:spPr>
          <a:xfrm>
            <a:off x="5500116" y="3323844"/>
            <a:ext cx="283464" cy="283464"/>
          </a:xfrm>
          <a:prstGeom prst="rect">
            <a:avLst/>
          </a:prstGeom>
        </p:spPr>
      </p:pic>
      <p:sp>
        <p:nvSpPr>
          <p:cNvPr id="23" name="Text 18"/>
          <p:cNvSpPr txBox="1"/>
          <p:nvPr/>
        </p:nvSpPr>
        <p:spPr>
          <a:xfrm>
            <a:off x="6062472" y="3246120"/>
            <a:ext cx="914400" cy="365760"/>
          </a:xfrm>
          <a:prstGeom prst="rect">
            <a:avLst/>
          </a:prstGeom>
          <a:noFill/>
          <a:ln/>
        </p:spPr>
        <p:txBody>
          <a:bodyPr wrap="square" lIns="0" tIns="0" rIns="0" bIns="0" rtlCol="0" anchor="ctr"/>
          <a:lstStyle/>
          <a:p>
            <a:pPr marL="0" indent="0">
              <a:buNone/>
            </a:pPr>
            <a:r>
              <a:rPr lang="en-US" sz="2000" b="1" dirty="0">
                <a:solidFill>
                  <a:srgbClr val="C3CED8"/>
                </a:solidFill>
                <a:latin typeface="Cambria" pitchFamily="34" charset="0"/>
                <a:ea typeface="Cambria" pitchFamily="34" charset="-122"/>
                <a:cs typeface="Cambria" pitchFamily="34" charset="-120"/>
              </a:rPr>
              <a:t>03</a:t>
            </a:r>
            <a:endParaRPr lang="en-US" sz="2000" dirty="0"/>
          </a:p>
        </p:txBody>
      </p:sp>
      <p:sp>
        <p:nvSpPr>
          <p:cNvPr id="24" name="Text 19"/>
          <p:cNvSpPr txBox="1"/>
          <p:nvPr/>
        </p:nvSpPr>
        <p:spPr>
          <a:xfrm>
            <a:off x="5358384" y="3913632"/>
            <a:ext cx="1472184" cy="640080"/>
          </a:xfrm>
          <a:prstGeom prst="rect">
            <a:avLst/>
          </a:prstGeom>
          <a:noFill/>
          <a:ln/>
        </p:spPr>
        <p:txBody>
          <a:bodyPr wrap="square" lIns="0" tIns="0" rIns="0" bIns="0" rtlCol="0" anchor="ctr"/>
          <a:lstStyle/>
          <a:p>
            <a:pPr marL="0" indent="0">
              <a:buNone/>
            </a:pPr>
            <a:r>
              <a:rPr lang="en-US" sz="1400" b="1" dirty="0">
                <a:solidFill>
                  <a:srgbClr val="0F2A43"/>
                </a:solidFill>
                <a:latin typeface="Calibri" pitchFamily="34" charset="0"/>
                <a:ea typeface="Calibri" pitchFamily="34" charset="-122"/>
                <a:cs typeface="Calibri" pitchFamily="34" charset="-120"/>
              </a:rPr>
              <a:t>Discount Effectiveness</a:t>
            </a:r>
            <a:endParaRPr lang="en-US" sz="1400" dirty="0"/>
          </a:p>
        </p:txBody>
      </p:sp>
      <p:sp>
        <p:nvSpPr>
          <p:cNvPr id="25" name="Text 20"/>
          <p:cNvSpPr txBox="1"/>
          <p:nvPr/>
        </p:nvSpPr>
        <p:spPr>
          <a:xfrm>
            <a:off x="5358384" y="4572000"/>
            <a:ext cx="1472184" cy="1005840"/>
          </a:xfrm>
          <a:prstGeom prst="rect">
            <a:avLst/>
          </a:prstGeom>
          <a:noFill/>
          <a:ln/>
        </p:spPr>
        <p:txBody>
          <a:bodyPr wrap="square" lIns="0" tIns="0" rIns="0" bIns="0" rtlCol="0" anchor="ctr"/>
          <a:lstStyle/>
          <a:p>
            <a:pPr marL="0" indent="0">
              <a:buNone/>
            </a:pPr>
            <a:r>
              <a:rPr lang="en-US" sz="1150" dirty="0">
                <a:solidFill>
                  <a:srgbClr val="5A6B7B"/>
                </a:solidFill>
                <a:latin typeface="Calibri" pitchFamily="34" charset="0"/>
                <a:ea typeface="Calibri" pitchFamily="34" charset="-122"/>
                <a:cs typeface="Calibri" pitchFamily="34" charset="-120"/>
              </a:rPr>
              <a:t>Whether discount spend is buying incremental volume</a:t>
            </a:r>
            <a:endParaRPr lang="en-US" sz="1150" dirty="0"/>
          </a:p>
        </p:txBody>
      </p:sp>
      <p:sp>
        <p:nvSpPr>
          <p:cNvPr id="26" name="Shape 21"/>
          <p:cNvSpPr/>
          <p:nvPr/>
        </p:nvSpPr>
        <p:spPr>
          <a:xfrm>
            <a:off x="7379208" y="2926080"/>
            <a:ext cx="1984248" cy="2834640"/>
          </a:xfrm>
          <a:prstGeom prst="roundRect">
            <a:avLst>
              <a:gd name="adj" fmla="val 3687"/>
            </a:avLst>
          </a:prstGeom>
          <a:solidFill>
            <a:srgbClr val="F2F5F8"/>
          </a:solidFill>
          <a:ln w="12700">
            <a:solidFill>
              <a:srgbClr val="DCE3EA"/>
            </a:solidFill>
            <a:prstDash val="solid"/>
          </a:ln>
        </p:spPr>
      </p:sp>
      <p:sp>
        <p:nvSpPr>
          <p:cNvPr id="27" name="Shape 22"/>
          <p:cNvSpPr/>
          <p:nvPr/>
        </p:nvSpPr>
        <p:spPr>
          <a:xfrm>
            <a:off x="7635240" y="3182112"/>
            <a:ext cx="566928" cy="566928"/>
          </a:xfrm>
          <a:prstGeom prst="ellipse">
            <a:avLst/>
          </a:prstGeom>
          <a:solidFill>
            <a:srgbClr val="0F2A43"/>
          </a:solidFill>
          <a:ln/>
        </p:spPr>
      </p:sp>
      <p:pic>
        <p:nvPicPr>
          <p:cNvPr id="28" name="Image 3" descr="icon_calendar_w.png"/>
          <p:cNvPicPr>
            <a:picLocks noChangeAspect="1"/>
          </p:cNvPicPr>
          <p:nvPr/>
        </p:nvPicPr>
        <p:blipFill>
          <a:blip r:embed="rId6"/>
          <a:stretch>
            <a:fillRect/>
          </a:stretch>
        </p:blipFill>
        <p:spPr>
          <a:xfrm>
            <a:off x="7776972" y="3323844"/>
            <a:ext cx="283464" cy="283464"/>
          </a:xfrm>
          <a:prstGeom prst="rect">
            <a:avLst/>
          </a:prstGeom>
        </p:spPr>
      </p:pic>
      <p:sp>
        <p:nvSpPr>
          <p:cNvPr id="29" name="Text 23"/>
          <p:cNvSpPr txBox="1"/>
          <p:nvPr/>
        </p:nvSpPr>
        <p:spPr>
          <a:xfrm>
            <a:off x="8339328" y="3246120"/>
            <a:ext cx="914400" cy="365760"/>
          </a:xfrm>
          <a:prstGeom prst="rect">
            <a:avLst/>
          </a:prstGeom>
          <a:noFill/>
          <a:ln/>
        </p:spPr>
        <p:txBody>
          <a:bodyPr wrap="square" lIns="0" tIns="0" rIns="0" bIns="0" rtlCol="0" anchor="ctr"/>
          <a:lstStyle/>
          <a:p>
            <a:pPr marL="0" indent="0">
              <a:buNone/>
            </a:pPr>
            <a:r>
              <a:rPr lang="en-US" sz="2000" b="1" dirty="0">
                <a:solidFill>
                  <a:srgbClr val="C3CED8"/>
                </a:solidFill>
                <a:latin typeface="Cambria" pitchFamily="34" charset="0"/>
                <a:ea typeface="Cambria" pitchFamily="34" charset="-122"/>
                <a:cs typeface="Cambria" pitchFamily="34" charset="-120"/>
              </a:rPr>
              <a:t>04</a:t>
            </a:r>
            <a:endParaRPr lang="en-US" sz="2000" dirty="0"/>
          </a:p>
        </p:txBody>
      </p:sp>
      <p:sp>
        <p:nvSpPr>
          <p:cNvPr id="30" name="Text 24"/>
          <p:cNvSpPr txBox="1"/>
          <p:nvPr/>
        </p:nvSpPr>
        <p:spPr>
          <a:xfrm>
            <a:off x="7635240" y="3913632"/>
            <a:ext cx="1472184" cy="640080"/>
          </a:xfrm>
          <a:prstGeom prst="rect">
            <a:avLst/>
          </a:prstGeom>
          <a:noFill/>
          <a:ln/>
        </p:spPr>
        <p:txBody>
          <a:bodyPr wrap="square" lIns="0" tIns="0" rIns="0" bIns="0" rtlCol="0" anchor="ctr"/>
          <a:lstStyle/>
          <a:p>
            <a:pPr marL="0" indent="0">
              <a:buNone/>
            </a:pPr>
            <a:r>
              <a:rPr lang="en-US" sz="1400" b="1" dirty="0">
                <a:solidFill>
                  <a:srgbClr val="0F2A43"/>
                </a:solidFill>
                <a:latin typeface="Calibri" pitchFamily="34" charset="0"/>
                <a:ea typeface="Calibri" pitchFamily="34" charset="-122"/>
                <a:cs typeface="Calibri" pitchFamily="34" charset="-120"/>
              </a:rPr>
              <a:t>Day &amp; Month Patterns</a:t>
            </a:r>
            <a:endParaRPr lang="en-US" sz="1400" dirty="0"/>
          </a:p>
        </p:txBody>
      </p:sp>
      <p:sp>
        <p:nvSpPr>
          <p:cNvPr id="31" name="Text 25"/>
          <p:cNvSpPr txBox="1"/>
          <p:nvPr/>
        </p:nvSpPr>
        <p:spPr>
          <a:xfrm>
            <a:off x="7635240" y="4572000"/>
            <a:ext cx="1472184" cy="1005840"/>
          </a:xfrm>
          <a:prstGeom prst="rect">
            <a:avLst/>
          </a:prstGeom>
          <a:noFill/>
          <a:ln/>
        </p:spPr>
        <p:txBody>
          <a:bodyPr wrap="square" lIns="0" tIns="0" rIns="0" bIns="0" rtlCol="0" anchor="ctr"/>
          <a:lstStyle/>
          <a:p>
            <a:pPr marL="0" indent="0">
              <a:buNone/>
            </a:pPr>
            <a:r>
              <a:rPr lang="en-US" sz="1150" dirty="0">
                <a:solidFill>
                  <a:srgbClr val="5A6B7B"/>
                </a:solidFill>
                <a:latin typeface="Calibri" pitchFamily="34" charset="0"/>
                <a:ea typeface="Calibri" pitchFamily="34" charset="-122"/>
                <a:cs typeface="Calibri" pitchFamily="34" charset="-120"/>
              </a:rPr>
              <a:t>When demand actually occurs across the week and the half-year</a:t>
            </a:r>
            <a:endParaRPr lang="en-US" sz="1150" dirty="0"/>
          </a:p>
        </p:txBody>
      </p:sp>
      <p:sp>
        <p:nvSpPr>
          <p:cNvPr id="32" name="Shape 26"/>
          <p:cNvSpPr/>
          <p:nvPr/>
        </p:nvSpPr>
        <p:spPr>
          <a:xfrm>
            <a:off x="9656064" y="2926080"/>
            <a:ext cx="1984248" cy="2834640"/>
          </a:xfrm>
          <a:prstGeom prst="roundRect">
            <a:avLst>
              <a:gd name="adj" fmla="val 3687"/>
            </a:avLst>
          </a:prstGeom>
          <a:solidFill>
            <a:srgbClr val="F2F5F8"/>
          </a:solidFill>
          <a:ln w="12700">
            <a:solidFill>
              <a:srgbClr val="DCE3EA"/>
            </a:solidFill>
            <a:prstDash val="solid"/>
          </a:ln>
        </p:spPr>
      </p:sp>
      <p:sp>
        <p:nvSpPr>
          <p:cNvPr id="33" name="Shape 27"/>
          <p:cNvSpPr/>
          <p:nvPr/>
        </p:nvSpPr>
        <p:spPr>
          <a:xfrm>
            <a:off x="9912096" y="3182112"/>
            <a:ext cx="566928" cy="566928"/>
          </a:xfrm>
          <a:prstGeom prst="ellipse">
            <a:avLst/>
          </a:prstGeom>
          <a:solidFill>
            <a:srgbClr val="0F2A43"/>
          </a:solidFill>
          <a:ln/>
        </p:spPr>
      </p:sp>
      <p:pic>
        <p:nvPicPr>
          <p:cNvPr id="34" name="Image 4" descr="icon_target_w.png"/>
          <p:cNvPicPr>
            <a:picLocks noChangeAspect="1"/>
          </p:cNvPicPr>
          <p:nvPr/>
        </p:nvPicPr>
        <p:blipFill>
          <a:blip r:embed="rId7"/>
          <a:stretch>
            <a:fillRect/>
          </a:stretch>
        </p:blipFill>
        <p:spPr>
          <a:xfrm>
            <a:off x="10053828" y="3323844"/>
            <a:ext cx="283464" cy="283464"/>
          </a:xfrm>
          <a:prstGeom prst="rect">
            <a:avLst/>
          </a:prstGeom>
        </p:spPr>
      </p:pic>
      <p:sp>
        <p:nvSpPr>
          <p:cNvPr id="35" name="Text 28"/>
          <p:cNvSpPr txBox="1"/>
          <p:nvPr/>
        </p:nvSpPr>
        <p:spPr>
          <a:xfrm>
            <a:off x="10616184" y="3246120"/>
            <a:ext cx="914400" cy="365760"/>
          </a:xfrm>
          <a:prstGeom prst="rect">
            <a:avLst/>
          </a:prstGeom>
          <a:noFill/>
          <a:ln/>
        </p:spPr>
        <p:txBody>
          <a:bodyPr wrap="square" lIns="0" tIns="0" rIns="0" bIns="0" rtlCol="0" anchor="ctr"/>
          <a:lstStyle/>
          <a:p>
            <a:pPr marL="0" indent="0">
              <a:buNone/>
            </a:pPr>
            <a:r>
              <a:rPr lang="en-US" sz="2000" b="1" dirty="0">
                <a:solidFill>
                  <a:srgbClr val="C3CED8"/>
                </a:solidFill>
                <a:latin typeface="Cambria" pitchFamily="34" charset="0"/>
                <a:ea typeface="Cambria" pitchFamily="34" charset="-122"/>
                <a:cs typeface="Cambria" pitchFamily="34" charset="-120"/>
              </a:rPr>
              <a:t>05</a:t>
            </a:r>
            <a:endParaRPr lang="en-US" sz="2000" dirty="0"/>
          </a:p>
        </p:txBody>
      </p:sp>
      <p:sp>
        <p:nvSpPr>
          <p:cNvPr id="36" name="Text 29"/>
          <p:cNvSpPr txBox="1"/>
          <p:nvPr/>
        </p:nvSpPr>
        <p:spPr>
          <a:xfrm>
            <a:off x="9912096" y="3913632"/>
            <a:ext cx="1472184" cy="640080"/>
          </a:xfrm>
          <a:prstGeom prst="rect">
            <a:avLst/>
          </a:prstGeom>
          <a:noFill/>
          <a:ln/>
        </p:spPr>
        <p:txBody>
          <a:bodyPr wrap="square" lIns="0" tIns="0" rIns="0" bIns="0" rtlCol="0" anchor="ctr"/>
          <a:lstStyle/>
          <a:p>
            <a:pPr marL="0" indent="0">
              <a:buNone/>
            </a:pPr>
            <a:r>
              <a:rPr lang="en-US" sz="1400" b="1" dirty="0">
                <a:solidFill>
                  <a:srgbClr val="0F2A43"/>
                </a:solidFill>
                <a:latin typeface="Calibri" pitchFamily="34" charset="0"/>
                <a:ea typeface="Calibri" pitchFamily="34" charset="-122"/>
                <a:cs typeface="Calibri" pitchFamily="34" charset="-120"/>
              </a:rPr>
              <a:t>Category Recommendation</a:t>
            </a:r>
            <a:endParaRPr lang="en-US" sz="1400" dirty="0"/>
          </a:p>
        </p:txBody>
      </p:sp>
      <p:sp>
        <p:nvSpPr>
          <p:cNvPr id="37" name="Text 30"/>
          <p:cNvSpPr txBox="1"/>
          <p:nvPr/>
        </p:nvSpPr>
        <p:spPr>
          <a:xfrm>
            <a:off x="9912096" y="4572000"/>
            <a:ext cx="1472184" cy="1005840"/>
          </a:xfrm>
          <a:prstGeom prst="rect">
            <a:avLst/>
          </a:prstGeom>
          <a:noFill/>
          <a:ln/>
        </p:spPr>
        <p:txBody>
          <a:bodyPr wrap="square" lIns="0" tIns="0" rIns="0" bIns="0" rtlCol="0" anchor="ctr"/>
          <a:lstStyle/>
          <a:p>
            <a:pPr marL="0" indent="0">
              <a:buNone/>
            </a:pPr>
            <a:r>
              <a:rPr lang="en-US" sz="1150" dirty="0">
                <a:solidFill>
                  <a:srgbClr val="5A6B7B"/>
                </a:solidFill>
                <a:latin typeface="Calibri" pitchFamily="34" charset="0"/>
                <a:ea typeface="Calibri" pitchFamily="34" charset="-122"/>
                <a:cs typeface="Calibri" pitchFamily="34" charset="-120"/>
              </a:rPr>
              <a:t>One defensible position for the supplier review</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56032"/>
          </a:xfrm>
          <a:prstGeom prst="rect">
            <a:avLst/>
          </a:prstGeom>
          <a:noFill/>
          <a:ln/>
        </p:spPr>
        <p:txBody>
          <a:bodyPr wrap="square" lIns="0" tIns="0" rIns="0" bIns="0" rtlCol="0" anchor="ctr"/>
          <a:lstStyle/>
          <a:p>
            <a:pPr marL="0" indent="0">
              <a:buNone/>
            </a:pPr>
            <a:r>
              <a:rPr lang="en-US" sz="1100" b="1" kern="0" spc="200" dirty="0">
                <a:solidFill>
                  <a:srgbClr val="E08A1E"/>
                </a:solidFill>
                <a:latin typeface="Calibri" pitchFamily="34" charset="0"/>
                <a:ea typeface="Calibri" pitchFamily="34" charset="-122"/>
                <a:cs typeface="Calibri" pitchFamily="34" charset="-120"/>
              </a:rPr>
              <a:t>THE FRAMEWORK</a:t>
            </a:r>
            <a:endParaRPr lang="en-US" sz="1100" dirty="0"/>
          </a:p>
        </p:txBody>
      </p:sp>
      <p:sp>
        <p:nvSpPr>
          <p:cNvPr id="3" name="Text 1"/>
          <p:cNvSpPr txBox="1"/>
          <p:nvPr/>
        </p:nvSpPr>
        <p:spPr>
          <a:xfrm>
            <a:off x="548640" y="566928"/>
            <a:ext cx="10515600" cy="533400"/>
          </a:xfrm>
          <a:prstGeom prst="rect">
            <a:avLst/>
          </a:prstGeom>
          <a:noFill/>
          <a:ln/>
        </p:spPr>
        <p:txBody>
          <a:bodyPr wrap="square" lIns="0" tIns="0" rIns="0" bIns="0" rtlCol="0" anchor="ctr"/>
          <a:lstStyle/>
          <a:p>
            <a:pPr marL="0" indent="0">
              <a:buNone/>
            </a:pPr>
            <a:r>
              <a:rPr lang="en-US" sz="3200" b="1" dirty="0">
                <a:solidFill>
                  <a:srgbClr val="0F2A43"/>
                </a:solidFill>
                <a:latin typeface="Cambria" pitchFamily="34" charset="0"/>
                <a:ea typeface="Cambria" pitchFamily="34" charset="-122"/>
                <a:cs typeface="Cambria" pitchFamily="34" charset="-120"/>
              </a:rPr>
              <a:t>CBIM Problem Canvas</a:t>
            </a:r>
            <a:endParaRPr lang="en-US" sz="3200" dirty="0"/>
          </a:p>
        </p:txBody>
      </p:sp>
      <p:sp>
        <p:nvSpPr>
          <p:cNvPr id="40" name="Text Subtitle"/>
          <p:cNvSpPr txBox="1"/>
          <p:nvPr/>
        </p:nvSpPr>
        <p:spPr>
          <a:xfrm>
            <a:off x="548640" y="1173480"/>
            <a:ext cx="10515600" cy="320040"/>
          </a:xfrm>
          <a:prstGeom prst="rect">
            <a:avLst/>
          </a:prstGeom>
          <a:noFill/>
          <a:ln/>
        </p:spPr>
        <p:txBody>
          <a:bodyPr wrap="square" lIns="0" tIns="0" rIns="0" bIns="0" rtlCol="0" anchor="ctr"/>
          <a:lstStyle/>
          <a:p>
            <a:pPr marL="0" indent="0">
              <a:buNone/>
            </a:pPr>
            <a:r>
              <a:rPr lang="en-US" sz="1500" i="1" dirty="0">
                <a:solidFill>
                  <a:srgbClr val="5A6B7B"/>
                </a:solidFill>
                <a:latin typeface="Cambria" pitchFamily="34" charset="0"/>
                <a:ea typeface="Cambria" pitchFamily="34" charset="-122"/>
                <a:cs typeface="Cambria" pitchFamily="34" charset="-120"/>
              </a:rPr>
              <a:t>From Retail Business Problem to Data-Driven Decision</a:t>
            </a:r>
            <a:endParaRPr lang="en-US" sz="1500" dirty="0"/>
          </a:p>
        </p:txBody>
      </p:sp>
      <p:sp>
        <p:nvSpPr>
          <p:cNvPr id="5" name="Text 3"/>
          <p:cNvSpPr txBox="1"/>
          <p:nvPr/>
        </p:nvSpPr>
        <p:spPr>
          <a:xfrm>
            <a:off x="6400800" y="6336792"/>
            <a:ext cx="5239512" cy="274320"/>
          </a:xfrm>
          <a:prstGeom prst="rect">
            <a:avLst/>
          </a:prstGeom>
          <a:noFill/>
          <a:ln/>
        </p:spPr>
        <p:txBody>
          <a:bodyPr wrap="square" lIns="0" tIns="0" rIns="0" bIns="0" rtlCol="0" anchor="ctr"/>
          <a:lstStyle/>
          <a:p>
            <a:pPr marL="0" indent="0" algn="r">
              <a:buNone/>
            </a:pPr>
            <a:r>
              <a:rPr lang="en-US" sz="1000" dirty="0">
                <a:solidFill>
                  <a:srgbClr val="A6B2BD"/>
                </a:solidFill>
                <a:latin typeface="Calibri" pitchFamily="34" charset="0"/>
                <a:ea typeface="Calibri" pitchFamily="34" charset="-122"/>
                <a:cs typeface="Calibri" pitchFamily="34" charset="-120"/>
              </a:rPr>
              <a:t>GROUP 12  ·  Category Intelligence</a:t>
            </a:r>
            <a:endParaRPr lang="en-US" sz="1000" dirty="0"/>
          </a:p>
        </p:txBody>
      </p:sp>
      <p:sp>
        <p:nvSpPr>
          <p:cNvPr id="101" name="CBIM Card BG 1"/>
          <p:cNvSpPr/>
          <p:nvPr/>
        </p:nvSpPr>
        <p:spPr>
          <a:xfrm>
            <a:off x="548640" y="1650000"/>
            <a:ext cx="3515360" cy="2125000"/>
          </a:xfrm>
          <a:prstGeom prst="roundRect">
            <a:avLst>
              <a:gd name="adj" fmla="val 3687"/>
            </a:avLst>
          </a:prstGeom>
          <a:solidFill>
            <a:srgbClr val="F2F5F8"/>
          </a:solidFill>
          <a:ln w="12700">
            <a:solidFill>
              <a:srgbClr val="DCE3EA"/>
            </a:solidFill>
            <a:prstDash val="solid"/>
          </a:ln>
        </p:spPr>
      </p:sp>
      <p:sp>
        <p:nvSpPr>
          <p:cNvPr id="102" name="CBIM Icon Circle 1"/>
          <p:cNvSpPr/>
          <p:nvPr/>
        </p:nvSpPr>
        <p:spPr>
          <a:xfrm>
            <a:off x="777240" y="1878600"/>
            <a:ext cx="566928" cy="566928"/>
          </a:xfrm>
          <a:prstGeom prst="ellipse">
            <a:avLst/>
          </a:prstGeom>
          <a:solidFill>
            <a:srgbClr val="0F2A43"/>
          </a:solidFill>
          <a:ln/>
        </p:spPr>
      </p:sp>
      <p:pic>
        <p:nvPicPr>
          <p:cNvPr id="103" name="CBIM Icon 1" descr="icon.png"/>
          <p:cNvPicPr>
            <a:picLocks noChangeAspect="1"/>
          </p:cNvPicPr>
          <p:nvPr/>
        </p:nvPicPr>
        <p:blipFill>
          <a:blip r:embed="rId2"/>
          <a:stretch>
            <a:fillRect/>
          </a:stretch>
        </p:blipFill>
        <p:spPr>
          <a:xfrm>
            <a:off x="918972" y="2020332"/>
            <a:ext cx="283464" cy="283464"/>
          </a:xfrm>
          <a:prstGeom prst="rect">
            <a:avLst/>
          </a:prstGeom>
        </p:spPr>
      </p:pic>
      <p:sp>
        <p:nvSpPr>
          <p:cNvPr id="104" name="CBIM Number 1"/>
          <p:cNvSpPr txBox="1"/>
          <p:nvPr/>
        </p:nvSpPr>
        <p:spPr>
          <a:xfrm>
            <a:off x="3135400" y="1858600"/>
            <a:ext cx="700000" cy="566928"/>
          </a:xfrm>
          <a:prstGeom prst="rect">
            <a:avLst/>
          </a:prstGeom>
          <a:noFill/>
          <a:ln/>
        </p:spPr>
        <p:txBody>
          <a:bodyPr wrap="square" lIns="0" tIns="0" rIns="0" bIns="0" rtlCol="0" anchor="ctr"/>
          <a:lstStyle/>
          <a:p>
            <a:pPr marL="0" indent="0" algn="r">
              <a:buNone/>
            </a:pPr>
            <a:r>
              <a:rPr lang="en-US" sz="2000" b="1" dirty="0">
                <a:solidFill>
                  <a:srgbClr val="C3CED8"/>
                </a:solidFill>
                <a:latin typeface="Cambria" pitchFamily="34" charset="0"/>
                <a:ea typeface="Cambria" pitchFamily="34" charset="-122"/>
                <a:cs typeface="Cambria" pitchFamily="34" charset="-120"/>
              </a:rPr>
              <a:t>01</a:t>
            </a:r>
            <a:endParaRPr lang="en-US" sz="2000" dirty="0"/>
          </a:p>
        </p:txBody>
      </p:sp>
      <p:sp>
        <p:nvSpPr>
          <p:cNvPr id="105" name="CBIM Title 1"/>
          <p:cNvSpPr txBox="1"/>
          <p:nvPr/>
        </p:nvSpPr>
        <p:spPr>
          <a:xfrm>
            <a:off x="1527048" y="1878600"/>
            <a:ext cx="1608352" cy="566928"/>
          </a:xfrm>
          <a:prstGeom prst="rect">
            <a:avLst/>
          </a:prstGeom>
          <a:noFill/>
          <a:ln/>
        </p:spPr>
        <p:txBody>
          <a:bodyPr wrap="square" lIns="0" tIns="0" rIns="0" bIns="0" rtlCol="0" anchor="ctr"/>
          <a:lstStyle/>
          <a:p>
            <a:pPr marL="0" indent="0">
              <a:buNone/>
            </a:pPr>
            <a:r>
              <a:rPr lang="en-US" sz="1500" b="1" dirty="0">
                <a:solidFill>
                  <a:srgbClr val="0F2A43"/>
                </a:solidFill>
                <a:latin typeface="Calibri" pitchFamily="34" charset="0"/>
                <a:ea typeface="Calibri" pitchFamily="34" charset="-122"/>
                <a:cs typeface="Calibri" pitchFamily="34" charset="-120"/>
              </a:rPr>
              <a:t>Situation</a:t>
            </a:r>
            <a:endParaRPr lang="en-US" sz="1500" dirty="0"/>
          </a:p>
        </p:txBody>
      </p:sp>
      <p:sp>
        <p:nvSpPr>
          <p:cNvPr id="106" name="CBIM Desc 1"/>
          <p:cNvSpPr txBox="1"/>
          <p:nvPr/>
        </p:nvSpPr>
        <p:spPr>
          <a:xfrm>
            <a:off x="777240" y="2597928"/>
            <a:ext cx="3058160" cy="948472"/>
          </a:xfrm>
          <a:prstGeom prst="rect">
            <a:avLst/>
          </a:prstGeom>
          <a:noFill/>
          <a:ln/>
        </p:spPr>
        <p:txBody>
          <a:bodyPr wrap="square" lIns="0" tIns="0" rIns="0" bIns="0" rtlCol="0" anchor="t"/>
          <a:lstStyle/>
          <a:p>
            <a:pPr marL="0" indent="0">
              <a:buNone/>
            </a:pPr>
            <a:r>
              <a:rPr lang="en-US" sz="1150" dirty="0">
                <a:solidFill>
                  <a:srgbClr val="5A6B7B"/>
                </a:solidFill>
                <a:latin typeface="Calibri" pitchFamily="34" charset="0"/>
                <a:ea typeface="Calibri" pitchFamily="34" charset="-122"/>
                <a:cs typeface="Calibri" pitchFamily="34" charset="-120"/>
              </a:rPr>
              <a:t>A retail chain with </a:t>
            </a:r>
            <a:r>
              <a:rPr lang="en-US" sz="1150" b="1" dirty="0">
                <a:solidFill>
                  <a:srgbClr val="E08A1E"/>
                </a:solidFill>
                <a:latin typeface="Calibri" pitchFamily="34" charset="0"/>
                <a:ea typeface="Calibri" pitchFamily="34" charset="-122"/>
                <a:cs typeface="Calibri" pitchFamily="34" charset="-120"/>
              </a:rPr>
              <a:t>12 stores</a:t>
            </a:r>
            <a:r>
              <a:rPr lang="en-US" sz="1150" dirty="0">
                <a:solidFill>
                  <a:srgbClr val="5A6B7B"/>
                </a:solidFill>
                <a:latin typeface="Calibri" pitchFamily="34" charset="0"/>
                <a:ea typeface="Calibri" pitchFamily="34" charset="-122"/>
                <a:cs typeface="Calibri" pitchFamily="34" charset="-120"/>
              </a:rPr>
              <a:t>, </a:t>
            </a:r>
            <a:r>
              <a:rPr lang="en-US" sz="1150" b="1" dirty="0">
                <a:solidFill>
                  <a:srgbClr val="E08A1E"/>
                </a:solidFill>
                <a:latin typeface="Calibri" pitchFamily="34" charset="0"/>
                <a:ea typeface="Calibri" pitchFamily="34" charset="-122"/>
                <a:cs typeface="Calibri" pitchFamily="34" charset="-120"/>
              </a:rPr>
              <a:t>5 categories</a:t>
            </a:r>
            <a:r>
              <a:rPr lang="en-US" sz="1150" dirty="0">
                <a:solidFill>
                  <a:srgbClr val="5A6B7B"/>
                </a:solidFill>
                <a:latin typeface="Calibri" pitchFamily="34" charset="0"/>
                <a:ea typeface="Calibri" pitchFamily="34" charset="-122"/>
                <a:cs typeface="Calibri" pitchFamily="34" charset="-120"/>
              </a:rPr>
              <a:t> and </a:t>
            </a:r>
            <a:r>
              <a:rPr lang="en-US" sz="1150" b="1" dirty="0">
                <a:solidFill>
                  <a:srgbClr val="E08A1E"/>
                </a:solidFill>
                <a:latin typeface="Calibri" pitchFamily="34" charset="0"/>
                <a:ea typeface="Calibri" pitchFamily="34" charset="-122"/>
                <a:cs typeface="Calibri" pitchFamily="34" charset="-120"/>
              </a:rPr>
              <a:t>25 products</a:t>
            </a:r>
            <a:r>
              <a:rPr lang="en-US" sz="1150" dirty="0">
                <a:solidFill>
                  <a:srgbClr val="5A6B7B"/>
                </a:solidFill>
                <a:latin typeface="Calibri" pitchFamily="34" charset="0"/>
                <a:ea typeface="Calibri" pitchFamily="34" charset="-122"/>
                <a:cs typeface="Calibri" pitchFamily="34" charset="-120"/>
              </a:rPr>
              <a:t>, tracked across </a:t>
            </a:r>
            <a:r>
              <a:rPr lang="en-US" sz="1150" b="1" dirty="0">
                <a:solidFill>
                  <a:srgbClr val="E08A1E"/>
                </a:solidFill>
                <a:latin typeface="Calibri" pitchFamily="34" charset="0"/>
                <a:ea typeface="Calibri" pitchFamily="34" charset="-122"/>
                <a:cs typeface="Calibri" pitchFamily="34" charset="-120"/>
              </a:rPr>
              <a:t>6 months</a:t>
            </a:r>
            <a:r>
              <a:rPr lang="en-US" sz="1150" dirty="0">
                <a:solidFill>
                  <a:srgbClr val="5A6B7B"/>
                </a:solidFill>
                <a:latin typeface="Calibri" pitchFamily="34" charset="0"/>
                <a:ea typeface="Calibri" pitchFamily="34" charset="-122"/>
                <a:cs typeface="Calibri" pitchFamily="34" charset="-120"/>
              </a:rPr>
              <a:t> of transactions ahead of the supplier review.</a:t>
            </a:r>
            <a:endParaRPr lang="en-US" sz="1150" dirty="0"/>
          </a:p>
        </p:txBody>
      </p:sp>
      <p:sp>
        <p:nvSpPr>
          <p:cNvPr id="107" name="CBIM Card BG 2"/>
          <p:cNvSpPr/>
          <p:nvPr/>
        </p:nvSpPr>
        <p:spPr>
          <a:xfrm>
            <a:off x="4338320" y="1650000"/>
            <a:ext cx="3515360" cy="2125000"/>
          </a:xfrm>
          <a:prstGeom prst="roundRect">
            <a:avLst>
              <a:gd name="adj" fmla="val 3687"/>
            </a:avLst>
          </a:prstGeom>
          <a:solidFill>
            <a:srgbClr val="F2F5F8"/>
          </a:solidFill>
          <a:ln w="12700">
            <a:solidFill>
              <a:srgbClr val="DCE3EA"/>
            </a:solidFill>
            <a:prstDash val="solid"/>
          </a:ln>
        </p:spPr>
      </p:sp>
      <p:sp>
        <p:nvSpPr>
          <p:cNvPr id="108" name="CBIM Icon Circle 2"/>
          <p:cNvSpPr/>
          <p:nvPr/>
        </p:nvSpPr>
        <p:spPr>
          <a:xfrm>
            <a:off x="4566920" y="1878600"/>
            <a:ext cx="566928" cy="566928"/>
          </a:xfrm>
          <a:prstGeom prst="ellipse">
            <a:avLst/>
          </a:prstGeom>
          <a:solidFill>
            <a:srgbClr val="0F2A43"/>
          </a:solidFill>
          <a:ln/>
        </p:spPr>
      </p:sp>
      <p:pic>
        <p:nvPicPr>
          <p:cNvPr id="109" name="CBIM Icon 2" descr="icon.png"/>
          <p:cNvPicPr>
            <a:picLocks noChangeAspect="1"/>
          </p:cNvPicPr>
          <p:nvPr/>
        </p:nvPicPr>
        <p:blipFill>
          <a:blip r:embed="rId3"/>
          <a:stretch>
            <a:fillRect/>
          </a:stretch>
        </p:blipFill>
        <p:spPr>
          <a:xfrm>
            <a:off x="4708652" y="2020332"/>
            <a:ext cx="283464" cy="283464"/>
          </a:xfrm>
          <a:prstGeom prst="rect">
            <a:avLst/>
          </a:prstGeom>
        </p:spPr>
      </p:pic>
      <p:sp>
        <p:nvSpPr>
          <p:cNvPr id="110" name="CBIM Number 2"/>
          <p:cNvSpPr txBox="1"/>
          <p:nvPr/>
        </p:nvSpPr>
        <p:spPr>
          <a:xfrm>
            <a:off x="6925080" y="1858600"/>
            <a:ext cx="700000" cy="566928"/>
          </a:xfrm>
          <a:prstGeom prst="rect">
            <a:avLst/>
          </a:prstGeom>
          <a:noFill/>
          <a:ln/>
        </p:spPr>
        <p:txBody>
          <a:bodyPr wrap="square" lIns="0" tIns="0" rIns="0" bIns="0" rtlCol="0" anchor="ctr"/>
          <a:lstStyle/>
          <a:p>
            <a:pPr marL="0" indent="0" algn="r">
              <a:buNone/>
            </a:pPr>
            <a:r>
              <a:rPr lang="en-US" sz="2000" b="1" dirty="0">
                <a:solidFill>
                  <a:srgbClr val="C3CED8"/>
                </a:solidFill>
                <a:latin typeface="Cambria" pitchFamily="34" charset="0"/>
                <a:ea typeface="Cambria" pitchFamily="34" charset="-122"/>
                <a:cs typeface="Cambria" pitchFamily="34" charset="-120"/>
              </a:rPr>
              <a:t>02</a:t>
            </a:r>
            <a:endParaRPr lang="en-US" sz="2000" dirty="0"/>
          </a:p>
        </p:txBody>
      </p:sp>
      <p:sp>
        <p:nvSpPr>
          <p:cNvPr id="111" name="CBIM Title 2"/>
          <p:cNvSpPr txBox="1"/>
          <p:nvPr/>
        </p:nvSpPr>
        <p:spPr>
          <a:xfrm>
            <a:off x="5316728" y="1878600"/>
            <a:ext cx="1608352" cy="566928"/>
          </a:xfrm>
          <a:prstGeom prst="rect">
            <a:avLst/>
          </a:prstGeom>
          <a:noFill/>
          <a:ln/>
        </p:spPr>
        <p:txBody>
          <a:bodyPr wrap="square" lIns="0" tIns="0" rIns="0" bIns="0" rtlCol="0" anchor="ctr"/>
          <a:lstStyle/>
          <a:p>
            <a:pPr marL="0" indent="0">
              <a:buNone/>
            </a:pPr>
            <a:r>
              <a:rPr lang="en-US" sz="1500" b="1" dirty="0">
                <a:solidFill>
                  <a:srgbClr val="0F2A43"/>
                </a:solidFill>
                <a:latin typeface="Calibri" pitchFamily="34" charset="0"/>
                <a:ea typeface="Calibri" pitchFamily="34" charset="-122"/>
                <a:cs typeface="Calibri" pitchFamily="34" charset="-120"/>
              </a:rPr>
              <a:t>Complication</a:t>
            </a:r>
            <a:endParaRPr lang="en-US" sz="1500" dirty="0"/>
          </a:p>
        </p:txBody>
      </p:sp>
      <p:sp>
        <p:nvSpPr>
          <p:cNvPr id="112" name="CBIM Desc 2"/>
          <p:cNvSpPr txBox="1"/>
          <p:nvPr/>
        </p:nvSpPr>
        <p:spPr>
          <a:xfrm>
            <a:off x="4566920" y="2597928"/>
            <a:ext cx="3058160" cy="948472"/>
          </a:xfrm>
          <a:prstGeom prst="rect">
            <a:avLst/>
          </a:prstGeom>
          <a:noFill/>
          <a:ln/>
        </p:spPr>
        <p:txBody>
          <a:bodyPr wrap="square" lIns="0" tIns="0" rIns="0" bIns="0" rtlCol="0" anchor="t"/>
          <a:lstStyle/>
          <a:p>
            <a:pPr marL="0" indent="0">
              <a:buNone/>
            </a:pPr>
            <a:r>
              <a:rPr lang="en-US" sz="1150" dirty="0">
                <a:solidFill>
                  <a:srgbClr val="5A6B7B"/>
                </a:solidFill>
                <a:latin typeface="Calibri" pitchFamily="34" charset="0"/>
                <a:ea typeface="Calibri" pitchFamily="34" charset="-122"/>
                <a:cs typeface="Calibri" pitchFamily="34" charset="-120"/>
              </a:rPr>
              <a:t>Category and product performance shifts over time — some grow while others decline, and discounts may lift sales without lifting revenue.</a:t>
            </a:r>
            <a:endParaRPr lang="en-US" sz="1150" dirty="0"/>
          </a:p>
        </p:txBody>
      </p:sp>
      <p:sp>
        <p:nvSpPr>
          <p:cNvPr id="113" name="CBIM Card BG 3"/>
          <p:cNvSpPr/>
          <p:nvPr/>
        </p:nvSpPr>
        <p:spPr>
          <a:xfrm>
            <a:off x="8128000" y="1650000"/>
            <a:ext cx="3515360" cy="2125000"/>
          </a:xfrm>
          <a:prstGeom prst="roundRect">
            <a:avLst>
              <a:gd name="adj" fmla="val 3687"/>
            </a:avLst>
          </a:prstGeom>
          <a:solidFill>
            <a:srgbClr val="F2F5F8"/>
          </a:solidFill>
          <a:ln w="12700">
            <a:solidFill>
              <a:srgbClr val="DCE3EA"/>
            </a:solidFill>
            <a:prstDash val="solid"/>
          </a:ln>
        </p:spPr>
      </p:sp>
      <p:sp>
        <p:nvSpPr>
          <p:cNvPr id="114" name="CBIM Icon Circle 3"/>
          <p:cNvSpPr/>
          <p:nvPr/>
        </p:nvSpPr>
        <p:spPr>
          <a:xfrm>
            <a:off x="8356600" y="1878600"/>
            <a:ext cx="566928" cy="566928"/>
          </a:xfrm>
          <a:prstGeom prst="ellipse">
            <a:avLst/>
          </a:prstGeom>
          <a:solidFill>
            <a:srgbClr val="0F2A43"/>
          </a:solidFill>
          <a:ln/>
        </p:spPr>
      </p:sp>
      <p:pic>
        <p:nvPicPr>
          <p:cNvPr id="115" name="CBIM Icon 3" descr="icon.png"/>
          <p:cNvPicPr>
            <a:picLocks noChangeAspect="1"/>
          </p:cNvPicPr>
          <p:nvPr/>
        </p:nvPicPr>
        <p:blipFill>
          <a:blip r:embed="rId4"/>
          <a:stretch>
            <a:fillRect/>
          </a:stretch>
        </p:blipFill>
        <p:spPr>
          <a:xfrm>
            <a:off x="8498332" y="2020332"/>
            <a:ext cx="283464" cy="283464"/>
          </a:xfrm>
          <a:prstGeom prst="rect">
            <a:avLst/>
          </a:prstGeom>
        </p:spPr>
      </p:pic>
      <p:sp>
        <p:nvSpPr>
          <p:cNvPr id="116" name="CBIM Number 3"/>
          <p:cNvSpPr txBox="1"/>
          <p:nvPr/>
        </p:nvSpPr>
        <p:spPr>
          <a:xfrm>
            <a:off x="10714760" y="1858600"/>
            <a:ext cx="700000" cy="566928"/>
          </a:xfrm>
          <a:prstGeom prst="rect">
            <a:avLst/>
          </a:prstGeom>
          <a:noFill/>
          <a:ln/>
        </p:spPr>
        <p:txBody>
          <a:bodyPr wrap="square" lIns="0" tIns="0" rIns="0" bIns="0" rtlCol="0" anchor="ctr"/>
          <a:lstStyle/>
          <a:p>
            <a:pPr marL="0" indent="0" algn="r">
              <a:buNone/>
            </a:pPr>
            <a:r>
              <a:rPr lang="en-US" sz="2000" b="1" dirty="0">
                <a:solidFill>
                  <a:srgbClr val="C3CED8"/>
                </a:solidFill>
                <a:latin typeface="Cambria" pitchFamily="34" charset="0"/>
                <a:ea typeface="Cambria" pitchFamily="34" charset="-122"/>
                <a:cs typeface="Cambria" pitchFamily="34" charset="-120"/>
              </a:rPr>
              <a:t>03</a:t>
            </a:r>
            <a:endParaRPr lang="en-US" sz="2000" dirty="0"/>
          </a:p>
        </p:txBody>
      </p:sp>
      <p:sp>
        <p:nvSpPr>
          <p:cNvPr id="117" name="CBIM Title 3"/>
          <p:cNvSpPr txBox="1"/>
          <p:nvPr/>
        </p:nvSpPr>
        <p:spPr>
          <a:xfrm>
            <a:off x="9106408" y="1878600"/>
            <a:ext cx="1608352" cy="566928"/>
          </a:xfrm>
          <a:prstGeom prst="rect">
            <a:avLst/>
          </a:prstGeom>
          <a:noFill/>
          <a:ln/>
        </p:spPr>
        <p:txBody>
          <a:bodyPr wrap="square" lIns="0" tIns="0" rIns="0" bIns="0" rtlCol="0" anchor="ctr"/>
          <a:lstStyle/>
          <a:p>
            <a:pPr marL="0" indent="0">
              <a:buNone/>
            </a:pPr>
            <a:r>
              <a:rPr lang="en-US" sz="1500" b="1" dirty="0">
                <a:solidFill>
                  <a:srgbClr val="0F2A43"/>
                </a:solidFill>
                <a:latin typeface="Calibri" pitchFamily="34" charset="0"/>
                <a:ea typeface="Calibri" pitchFamily="34" charset="-122"/>
                <a:cs typeface="Calibri" pitchFamily="34" charset="-120"/>
              </a:rPr>
              <a:t>Business Question</a:t>
            </a:r>
            <a:endParaRPr lang="en-US" sz="1500" dirty="0"/>
          </a:p>
        </p:txBody>
      </p:sp>
      <p:sp>
        <p:nvSpPr>
          <p:cNvPr id="118" name="CBIM Desc 3"/>
          <p:cNvSpPr txBox="1"/>
          <p:nvPr/>
        </p:nvSpPr>
        <p:spPr>
          <a:xfrm>
            <a:off x="8356600" y="2597928"/>
            <a:ext cx="3058160" cy="948472"/>
          </a:xfrm>
          <a:prstGeom prst="rect">
            <a:avLst/>
          </a:prstGeom>
          <a:noFill/>
          <a:ln/>
        </p:spPr>
        <p:txBody>
          <a:bodyPr wrap="square" lIns="0" tIns="0" rIns="0" bIns="0" rtlCol="0" anchor="t"/>
          <a:lstStyle/>
          <a:p>
            <a:pPr marL="0" indent="0">
              <a:buNone/>
            </a:pPr>
            <a:r>
              <a:rPr lang="en-US" sz="1150" dirty="0">
                <a:solidFill>
                  <a:srgbClr val="5A6B7B"/>
                </a:solidFill>
                <a:latin typeface="Calibri" pitchFamily="34" charset="0"/>
                <a:ea typeface="Calibri" pitchFamily="34" charset="-122"/>
                <a:cs typeface="Calibri" pitchFamily="34" charset="-120"/>
              </a:rPr>
              <a:t>Which categories and products are performing well, which need attention, and are discounts really helping ahead of the </a:t>
            </a:r>
            <a:r>
              <a:rPr lang="en-US" sz="1150" b="1" dirty="0">
                <a:solidFill>
                  <a:srgbClr val="E08A1E"/>
                </a:solidFill>
                <a:latin typeface="Calibri" pitchFamily="34" charset="0"/>
                <a:ea typeface="Calibri" pitchFamily="34" charset="-122"/>
                <a:cs typeface="Calibri" pitchFamily="34" charset="-120"/>
              </a:rPr>
              <a:t>supplier review</a:t>
            </a:r>
            <a:r>
              <a:rPr lang="en-US" sz="1150" dirty="0">
                <a:solidFill>
                  <a:srgbClr val="5A6B7B"/>
                </a:solidFill>
                <a:latin typeface="Calibri" pitchFamily="34" charset="0"/>
                <a:ea typeface="Calibri" pitchFamily="34" charset="-122"/>
                <a:cs typeface="Calibri" pitchFamily="34" charset="-120"/>
              </a:rPr>
              <a:t>?</a:t>
            </a:r>
            <a:endParaRPr lang="en-US" sz="1150" dirty="0"/>
          </a:p>
        </p:txBody>
      </p:sp>
      <p:sp>
        <p:nvSpPr>
          <p:cNvPr id="119" name="CBIM Card BG 4"/>
          <p:cNvSpPr/>
          <p:nvPr/>
        </p:nvSpPr>
        <p:spPr>
          <a:xfrm>
            <a:off x="548640" y="3975000"/>
            <a:ext cx="3515360" cy="2125000"/>
          </a:xfrm>
          <a:prstGeom prst="roundRect">
            <a:avLst>
              <a:gd name="adj" fmla="val 3687"/>
            </a:avLst>
          </a:prstGeom>
          <a:solidFill>
            <a:srgbClr val="F2F5F8"/>
          </a:solidFill>
          <a:ln w="12700">
            <a:solidFill>
              <a:srgbClr val="DCE3EA"/>
            </a:solidFill>
            <a:prstDash val="solid"/>
          </a:ln>
        </p:spPr>
      </p:sp>
      <p:sp>
        <p:nvSpPr>
          <p:cNvPr id="120" name="CBIM Icon Circle 4"/>
          <p:cNvSpPr/>
          <p:nvPr/>
        </p:nvSpPr>
        <p:spPr>
          <a:xfrm>
            <a:off x="777240" y="4203600"/>
            <a:ext cx="566928" cy="566928"/>
          </a:xfrm>
          <a:prstGeom prst="ellipse">
            <a:avLst/>
          </a:prstGeom>
          <a:solidFill>
            <a:srgbClr val="0F2A43"/>
          </a:solidFill>
          <a:ln/>
        </p:spPr>
      </p:sp>
      <p:pic>
        <p:nvPicPr>
          <p:cNvPr id="121" name="CBIM Icon 4" descr="icon.png"/>
          <p:cNvPicPr>
            <a:picLocks noChangeAspect="1"/>
          </p:cNvPicPr>
          <p:nvPr/>
        </p:nvPicPr>
        <p:blipFill>
          <a:blip r:embed="rId5"/>
          <a:stretch>
            <a:fillRect/>
          </a:stretch>
        </p:blipFill>
        <p:spPr>
          <a:xfrm>
            <a:off x="918972" y="4345332"/>
            <a:ext cx="283464" cy="283464"/>
          </a:xfrm>
          <a:prstGeom prst="rect">
            <a:avLst/>
          </a:prstGeom>
        </p:spPr>
      </p:pic>
      <p:sp>
        <p:nvSpPr>
          <p:cNvPr id="122" name="CBIM Number 4"/>
          <p:cNvSpPr txBox="1"/>
          <p:nvPr/>
        </p:nvSpPr>
        <p:spPr>
          <a:xfrm>
            <a:off x="3135400" y="4183600"/>
            <a:ext cx="700000" cy="566928"/>
          </a:xfrm>
          <a:prstGeom prst="rect">
            <a:avLst/>
          </a:prstGeom>
          <a:noFill/>
          <a:ln/>
        </p:spPr>
        <p:txBody>
          <a:bodyPr wrap="square" lIns="0" tIns="0" rIns="0" bIns="0" rtlCol="0" anchor="ctr"/>
          <a:lstStyle/>
          <a:p>
            <a:pPr marL="0" indent="0" algn="r">
              <a:buNone/>
            </a:pPr>
            <a:r>
              <a:rPr lang="en-US" sz="2000" b="1" dirty="0">
                <a:solidFill>
                  <a:srgbClr val="C3CED8"/>
                </a:solidFill>
                <a:latin typeface="Cambria" pitchFamily="34" charset="0"/>
                <a:ea typeface="Cambria" pitchFamily="34" charset="-122"/>
                <a:cs typeface="Cambria" pitchFamily="34" charset="-120"/>
              </a:rPr>
              <a:t>04</a:t>
            </a:r>
            <a:endParaRPr lang="en-US" sz="2000" dirty="0"/>
          </a:p>
        </p:txBody>
      </p:sp>
      <p:sp>
        <p:nvSpPr>
          <p:cNvPr id="123" name="CBIM Title 4"/>
          <p:cNvSpPr txBox="1"/>
          <p:nvPr/>
        </p:nvSpPr>
        <p:spPr>
          <a:xfrm>
            <a:off x="1527048" y="4203600"/>
            <a:ext cx="1608352" cy="566928"/>
          </a:xfrm>
          <a:prstGeom prst="rect">
            <a:avLst/>
          </a:prstGeom>
          <a:noFill/>
          <a:ln/>
        </p:spPr>
        <p:txBody>
          <a:bodyPr wrap="square" lIns="0" tIns="0" rIns="0" bIns="0" rtlCol="0" anchor="ctr"/>
          <a:lstStyle/>
          <a:p>
            <a:pPr marL="0" indent="0">
              <a:buNone/>
            </a:pPr>
            <a:r>
              <a:rPr lang="en-US" sz="1500" b="1" dirty="0">
                <a:solidFill>
                  <a:srgbClr val="0F2A43"/>
                </a:solidFill>
                <a:latin typeface="Calibri" pitchFamily="34" charset="0"/>
                <a:ea typeface="Calibri" pitchFamily="34" charset="-122"/>
                <a:cs typeface="Calibri" pitchFamily="34" charset="-120"/>
              </a:rPr>
              <a:t>SSOT</a:t>
            </a:r>
            <a:endParaRPr lang="en-US" sz="1500" dirty="0"/>
          </a:p>
        </p:txBody>
      </p:sp>
      <p:sp>
        <p:nvSpPr>
          <p:cNvPr id="124" name="CBIM Desc 4"/>
          <p:cNvSpPr txBox="1"/>
          <p:nvPr/>
        </p:nvSpPr>
        <p:spPr>
          <a:xfrm>
            <a:off x="777240" y="4922928"/>
            <a:ext cx="3058160" cy="948472"/>
          </a:xfrm>
          <a:prstGeom prst="rect">
            <a:avLst/>
          </a:prstGeom>
          <a:noFill/>
          <a:ln/>
        </p:spPr>
        <p:txBody>
          <a:bodyPr wrap="square" lIns="0" tIns="0" rIns="0" bIns="0" rtlCol="0" anchor="t"/>
          <a:lstStyle/>
          <a:p>
            <a:pPr marL="0" indent="0">
              <a:buNone/>
            </a:pPr>
            <a:r>
              <a:rPr lang="en-US" sz="1150" b="1" dirty="0">
                <a:solidFill>
                  <a:srgbClr val="E08A1E"/>
                </a:solidFill>
                <a:latin typeface="Calibri" pitchFamily="34" charset="0"/>
                <a:ea typeface="Calibri" pitchFamily="34" charset="-122"/>
                <a:cs typeface="Calibri" pitchFamily="34" charset="-120"/>
              </a:rPr>
              <a:t>MUC01_Retail_Sales_Dataset.csv</a:t>
            </a:r>
            <a:r>
              <a:rPr lang="en-US" sz="1150" dirty="0">
                <a:solidFill>
                  <a:srgbClr val="5A6B7B"/>
                </a:solidFill>
                <a:latin typeface="Calibri" pitchFamily="34" charset="0"/>
                <a:ea typeface="Calibri" pitchFamily="34" charset="-122"/>
                <a:cs typeface="Calibri" pitchFamily="34" charset="-120"/>
              </a:rPr>
              <a:t> — transaction-level data on dates, stores, categories, products, units, prices, revenue and discounts.</a:t>
            </a:r>
            <a:endParaRPr lang="en-US" sz="1150" dirty="0"/>
          </a:p>
        </p:txBody>
      </p:sp>
      <p:sp>
        <p:nvSpPr>
          <p:cNvPr id="125" name="CBIM Card BG 5"/>
          <p:cNvSpPr/>
          <p:nvPr/>
        </p:nvSpPr>
        <p:spPr>
          <a:xfrm>
            <a:off x="4338320" y="3975000"/>
            <a:ext cx="3515360" cy="2125000"/>
          </a:xfrm>
          <a:prstGeom prst="roundRect">
            <a:avLst>
              <a:gd name="adj" fmla="val 3687"/>
            </a:avLst>
          </a:prstGeom>
          <a:solidFill>
            <a:srgbClr val="F2F5F8"/>
          </a:solidFill>
          <a:ln w="12700">
            <a:solidFill>
              <a:srgbClr val="DCE3EA"/>
            </a:solidFill>
            <a:prstDash val="solid"/>
          </a:ln>
        </p:spPr>
      </p:sp>
      <p:sp>
        <p:nvSpPr>
          <p:cNvPr id="126" name="CBIM Icon Circle 5"/>
          <p:cNvSpPr/>
          <p:nvPr/>
        </p:nvSpPr>
        <p:spPr>
          <a:xfrm>
            <a:off x="4566920" y="4203600"/>
            <a:ext cx="566928" cy="566928"/>
          </a:xfrm>
          <a:prstGeom prst="ellipse">
            <a:avLst/>
          </a:prstGeom>
          <a:solidFill>
            <a:srgbClr val="0F2A43"/>
          </a:solidFill>
          <a:ln/>
        </p:spPr>
      </p:sp>
      <p:pic>
        <p:nvPicPr>
          <p:cNvPr id="127" name="CBIM Icon 5" descr="icon.png"/>
          <p:cNvPicPr>
            <a:picLocks noChangeAspect="1"/>
          </p:cNvPicPr>
          <p:nvPr/>
        </p:nvPicPr>
        <p:blipFill>
          <a:blip r:embed="rId6"/>
          <a:stretch>
            <a:fillRect/>
          </a:stretch>
        </p:blipFill>
        <p:spPr>
          <a:xfrm>
            <a:off x="4708652" y="4345332"/>
            <a:ext cx="283464" cy="283464"/>
          </a:xfrm>
          <a:prstGeom prst="rect">
            <a:avLst/>
          </a:prstGeom>
        </p:spPr>
      </p:pic>
      <p:sp>
        <p:nvSpPr>
          <p:cNvPr id="128" name="CBIM Number 5"/>
          <p:cNvSpPr txBox="1"/>
          <p:nvPr/>
        </p:nvSpPr>
        <p:spPr>
          <a:xfrm>
            <a:off x="6925080" y="4183600"/>
            <a:ext cx="700000" cy="566928"/>
          </a:xfrm>
          <a:prstGeom prst="rect">
            <a:avLst/>
          </a:prstGeom>
          <a:noFill/>
          <a:ln/>
        </p:spPr>
        <p:txBody>
          <a:bodyPr wrap="square" lIns="0" tIns="0" rIns="0" bIns="0" rtlCol="0" anchor="ctr"/>
          <a:lstStyle/>
          <a:p>
            <a:pPr marL="0" indent="0" algn="r">
              <a:buNone/>
            </a:pPr>
            <a:r>
              <a:rPr lang="en-US" sz="2000" b="1" dirty="0">
                <a:solidFill>
                  <a:srgbClr val="C3CED8"/>
                </a:solidFill>
                <a:latin typeface="Cambria" pitchFamily="34" charset="0"/>
                <a:ea typeface="Cambria" pitchFamily="34" charset="-122"/>
                <a:cs typeface="Cambria" pitchFamily="34" charset="-120"/>
              </a:rPr>
              <a:t>05</a:t>
            </a:r>
            <a:endParaRPr lang="en-US" sz="2000" dirty="0"/>
          </a:p>
        </p:txBody>
      </p:sp>
      <p:sp>
        <p:nvSpPr>
          <p:cNvPr id="129" name="CBIM Title 5"/>
          <p:cNvSpPr txBox="1"/>
          <p:nvPr/>
        </p:nvSpPr>
        <p:spPr>
          <a:xfrm>
            <a:off x="5316728" y="4203600"/>
            <a:ext cx="1608352" cy="566928"/>
          </a:xfrm>
          <a:prstGeom prst="rect">
            <a:avLst/>
          </a:prstGeom>
          <a:noFill/>
          <a:ln/>
        </p:spPr>
        <p:txBody>
          <a:bodyPr wrap="square" lIns="0" tIns="0" rIns="0" bIns="0" rtlCol="0" anchor="ctr"/>
          <a:lstStyle/>
          <a:p>
            <a:pPr marL="0" indent="0">
              <a:buNone/>
            </a:pPr>
            <a:r>
              <a:rPr lang="en-US" sz="1500" b="1" dirty="0">
                <a:solidFill>
                  <a:srgbClr val="0F2A43"/>
                </a:solidFill>
                <a:latin typeface="Calibri" pitchFamily="34" charset="0"/>
                <a:ea typeface="Calibri" pitchFamily="34" charset="-122"/>
                <a:cs typeface="Calibri" pitchFamily="34" charset="-120"/>
              </a:rPr>
              <a:t>Success Definition</a:t>
            </a:r>
            <a:endParaRPr lang="en-US" sz="1500" dirty="0"/>
          </a:p>
        </p:txBody>
      </p:sp>
      <p:sp>
        <p:nvSpPr>
          <p:cNvPr id="130" name="CBIM Desc 5"/>
          <p:cNvSpPr txBox="1"/>
          <p:nvPr/>
        </p:nvSpPr>
        <p:spPr>
          <a:xfrm>
            <a:off x="4566920" y="4922928"/>
            <a:ext cx="3058160" cy="948472"/>
          </a:xfrm>
          <a:prstGeom prst="rect">
            <a:avLst/>
          </a:prstGeom>
          <a:noFill/>
          <a:ln/>
        </p:spPr>
        <p:txBody>
          <a:bodyPr wrap="square" lIns="0" tIns="0" rIns="0" bIns="0" rtlCol="0" anchor="t"/>
          <a:lstStyle/>
          <a:p>
            <a:pPr marL="0" indent="0">
              <a:buNone/>
            </a:pPr>
            <a:r>
              <a:rPr lang="en-US" sz="1150" dirty="0">
                <a:solidFill>
                  <a:srgbClr val="5A6B7B"/>
                </a:solidFill>
                <a:latin typeface="Calibri" pitchFamily="34" charset="0"/>
                <a:ea typeface="Calibri" pitchFamily="34" charset="-122"/>
                <a:cs typeface="Calibri" pitchFamily="34" charset="-120"/>
              </a:rPr>
              <a:t>Spot the strongest and weakest categories and products, understand discount and timing effects, and turn it into clear, </a:t>
            </a:r>
            <a:r>
              <a:rPr lang="en-US" sz="1150" b="1" dirty="0">
                <a:solidFill>
                  <a:srgbClr val="E08A1E"/>
                </a:solidFill>
                <a:latin typeface="Calibri" pitchFamily="34" charset="0"/>
                <a:ea typeface="Calibri" pitchFamily="34" charset="-122"/>
                <a:cs typeface="Calibri" pitchFamily="34" charset="-120"/>
              </a:rPr>
              <a:t>data-backed actions</a:t>
            </a:r>
            <a:r>
              <a:rPr lang="en-US" sz="1150" dirty="0">
                <a:solidFill>
                  <a:srgbClr val="5A6B7B"/>
                </a:solidFill>
                <a:latin typeface="Calibri" pitchFamily="34" charset="0"/>
                <a:ea typeface="Calibri" pitchFamily="34" charset="-122"/>
                <a:cs typeface="Calibri" pitchFamily="34" charset="-120"/>
              </a:rPr>
              <a:t>.</a:t>
            </a:r>
            <a:endParaRPr lang="en-US" sz="1150" dirty="0"/>
          </a:p>
        </p:txBody>
      </p:sp>
      <p:sp>
        <p:nvSpPr>
          <p:cNvPr id="131" name="CBIM Card BG 6"/>
          <p:cNvSpPr/>
          <p:nvPr/>
        </p:nvSpPr>
        <p:spPr>
          <a:xfrm>
            <a:off x="8128000" y="3975000"/>
            <a:ext cx="3515360" cy="2125000"/>
          </a:xfrm>
          <a:prstGeom prst="roundRect">
            <a:avLst>
              <a:gd name="adj" fmla="val 3687"/>
            </a:avLst>
          </a:prstGeom>
          <a:solidFill>
            <a:srgbClr val="F2F5F8"/>
          </a:solidFill>
          <a:ln w="12700">
            <a:solidFill>
              <a:srgbClr val="DCE3EA"/>
            </a:solidFill>
            <a:prstDash val="solid"/>
          </a:ln>
        </p:spPr>
      </p:sp>
      <p:sp>
        <p:nvSpPr>
          <p:cNvPr id="132" name="CBIM Icon Circle 6"/>
          <p:cNvSpPr/>
          <p:nvPr/>
        </p:nvSpPr>
        <p:spPr>
          <a:xfrm>
            <a:off x="8356600" y="4203600"/>
            <a:ext cx="566928" cy="566928"/>
          </a:xfrm>
          <a:prstGeom prst="ellipse">
            <a:avLst/>
          </a:prstGeom>
          <a:solidFill>
            <a:srgbClr val="0F2A43"/>
          </a:solidFill>
          <a:ln/>
        </p:spPr>
      </p:sp>
      <p:pic>
        <p:nvPicPr>
          <p:cNvPr id="133" name="CBIM Icon 6" descr="icon.png"/>
          <p:cNvPicPr>
            <a:picLocks noChangeAspect="1"/>
          </p:cNvPicPr>
          <p:nvPr/>
        </p:nvPicPr>
        <p:blipFill>
          <a:blip r:embed="rId7"/>
          <a:stretch>
            <a:fillRect/>
          </a:stretch>
        </p:blipFill>
        <p:spPr>
          <a:xfrm>
            <a:off x="8498332" y="4345332"/>
            <a:ext cx="283464" cy="283464"/>
          </a:xfrm>
          <a:prstGeom prst="rect">
            <a:avLst/>
          </a:prstGeom>
        </p:spPr>
      </p:pic>
      <p:sp>
        <p:nvSpPr>
          <p:cNvPr id="134" name="CBIM Number 6"/>
          <p:cNvSpPr txBox="1"/>
          <p:nvPr/>
        </p:nvSpPr>
        <p:spPr>
          <a:xfrm>
            <a:off x="10714760" y="4183600"/>
            <a:ext cx="700000" cy="566928"/>
          </a:xfrm>
          <a:prstGeom prst="rect">
            <a:avLst/>
          </a:prstGeom>
          <a:noFill/>
          <a:ln/>
        </p:spPr>
        <p:txBody>
          <a:bodyPr wrap="square" lIns="0" tIns="0" rIns="0" bIns="0" rtlCol="0" anchor="ctr"/>
          <a:lstStyle/>
          <a:p>
            <a:pPr marL="0" indent="0" algn="r">
              <a:buNone/>
            </a:pPr>
            <a:r>
              <a:rPr lang="en-US" sz="2000" b="1" dirty="0">
                <a:solidFill>
                  <a:srgbClr val="C3CED8"/>
                </a:solidFill>
                <a:latin typeface="Cambria" pitchFamily="34" charset="0"/>
                <a:ea typeface="Cambria" pitchFamily="34" charset="-122"/>
                <a:cs typeface="Cambria" pitchFamily="34" charset="-120"/>
              </a:rPr>
              <a:t>06</a:t>
            </a:r>
            <a:endParaRPr lang="en-US" sz="2000" dirty="0"/>
          </a:p>
        </p:txBody>
      </p:sp>
      <p:sp>
        <p:nvSpPr>
          <p:cNvPr id="135" name="CBIM Title 6"/>
          <p:cNvSpPr txBox="1"/>
          <p:nvPr/>
        </p:nvSpPr>
        <p:spPr>
          <a:xfrm>
            <a:off x="9106408" y="4203600"/>
            <a:ext cx="1608352" cy="566928"/>
          </a:xfrm>
          <a:prstGeom prst="rect">
            <a:avLst/>
          </a:prstGeom>
          <a:noFill/>
          <a:ln/>
        </p:spPr>
        <p:txBody>
          <a:bodyPr wrap="square" lIns="0" tIns="0" rIns="0" bIns="0" rtlCol="0" anchor="ctr"/>
          <a:lstStyle/>
          <a:p>
            <a:pPr marL="0" indent="0">
              <a:buNone/>
            </a:pPr>
            <a:r>
              <a:rPr lang="en-US" sz="1500" b="1" dirty="0">
                <a:solidFill>
                  <a:srgbClr val="0F2A43"/>
                </a:solidFill>
                <a:latin typeface="Calibri" pitchFamily="34" charset="0"/>
                <a:ea typeface="Calibri" pitchFamily="34" charset="-122"/>
                <a:cs typeface="Calibri" pitchFamily="34" charset="-120"/>
              </a:rPr>
              <a:t>Primary Stakeholder</a:t>
            </a:r>
            <a:endParaRPr lang="en-US" sz="1500" dirty="0"/>
          </a:p>
        </p:txBody>
      </p:sp>
      <p:sp>
        <p:nvSpPr>
          <p:cNvPr id="136" name="CBIM Desc 6"/>
          <p:cNvSpPr txBox="1"/>
          <p:nvPr/>
        </p:nvSpPr>
        <p:spPr>
          <a:xfrm>
            <a:off x="8356600" y="4922928"/>
            <a:ext cx="3058160" cy="948472"/>
          </a:xfrm>
          <a:prstGeom prst="rect">
            <a:avLst/>
          </a:prstGeom>
          <a:noFill/>
          <a:ln/>
        </p:spPr>
        <p:txBody>
          <a:bodyPr wrap="square" lIns="0" tIns="0" rIns="0" bIns="0" rtlCol="0" anchor="t"/>
          <a:lstStyle/>
          <a:p>
            <a:pPr marL="0" indent="0">
              <a:buNone/>
            </a:pPr>
            <a:r>
              <a:rPr lang="en-US" sz="1150" b="1" dirty="0">
                <a:solidFill>
                  <a:srgbClr val="E08A1E"/>
                </a:solidFill>
                <a:latin typeface="Calibri" pitchFamily="34" charset="0"/>
                <a:ea typeface="Calibri" pitchFamily="34" charset="-122"/>
                <a:cs typeface="Calibri" pitchFamily="34" charset="-120"/>
              </a:rPr>
              <a:t>Category Manager</a:t>
            </a:r>
            <a:r>
              <a:rPr lang="en-US" sz="1150" dirty="0">
                <a:solidFill>
                  <a:srgbClr val="5A6B7B"/>
                </a:solidFill>
                <a:latin typeface="Calibri" pitchFamily="34" charset="0"/>
                <a:ea typeface="Calibri" pitchFamily="34" charset="-122"/>
                <a:cs typeface="Calibri" pitchFamily="34" charset="-120"/>
              </a:rPr>
              <a:t> — responsible for category performance, supplier reviews, product decisions, shelf space and promotional investment.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56032"/>
          </a:xfrm>
          <a:prstGeom prst="rect">
            <a:avLst/>
          </a:prstGeom>
          <a:noFill/>
          <a:ln/>
        </p:spPr>
        <p:txBody>
          <a:bodyPr wrap="square" lIns="0" tIns="0" rIns="0" bIns="0" rtlCol="0" anchor="ctr"/>
          <a:lstStyle/>
          <a:p>
            <a:pPr marL="0" indent="0">
              <a:buNone/>
            </a:pPr>
            <a:r>
              <a:rPr lang="en-US" sz="1100" b="1" kern="0" spc="200" dirty="0">
                <a:solidFill>
                  <a:srgbClr val="E08A1E"/>
                </a:solidFill>
                <a:latin typeface="Calibri" pitchFamily="34" charset="0"/>
                <a:ea typeface="Calibri" pitchFamily="34" charset="-122"/>
                <a:cs typeface="Calibri" pitchFamily="34" charset="-120"/>
              </a:rPr>
              <a:t>DATASET &amp; DATA QUALITY</a:t>
            </a:r>
            <a:endParaRPr lang="en-US" sz="1100" dirty="0"/>
          </a:p>
        </p:txBody>
      </p:sp>
      <p:sp>
        <p:nvSpPr>
          <p:cNvPr id="3" name="Text 1"/>
          <p:cNvSpPr txBox="1"/>
          <p:nvPr/>
        </p:nvSpPr>
        <p:spPr>
          <a:xfrm>
            <a:off x="548640" y="566928"/>
            <a:ext cx="10515600" cy="658368"/>
          </a:xfrm>
          <a:prstGeom prst="rect">
            <a:avLst/>
          </a:prstGeom>
          <a:noFill/>
          <a:ln/>
        </p:spPr>
        <p:txBody>
          <a:bodyPr wrap="square" lIns="0" tIns="0" rIns="0" bIns="0" rtlCol="0" anchor="ctr"/>
          <a:lstStyle/>
          <a:p>
            <a:pPr marL="0" indent="0">
              <a:buNone/>
            </a:pPr>
            <a:r>
              <a:rPr lang="en-US" sz="3200" b="1" dirty="0">
                <a:solidFill>
                  <a:srgbClr val="0F2A43"/>
                </a:solidFill>
                <a:latin typeface="Cambria" pitchFamily="34" charset="0"/>
                <a:ea typeface="Cambria" pitchFamily="34" charset="-122"/>
                <a:cs typeface="Cambria" pitchFamily="34" charset="-120"/>
              </a:rPr>
              <a:t>Understanding the Data</a:t>
            </a:r>
            <a:endParaRPr lang="en-US" sz="3200" dirty="0"/>
          </a:p>
        </p:txBody>
      </p:sp>
      <p:sp>
        <p:nvSpPr>
          <p:cNvPr id="5" name="Text 3"/>
          <p:cNvSpPr txBox="1"/>
          <p:nvPr/>
        </p:nvSpPr>
        <p:spPr>
          <a:xfrm>
            <a:off x="6400800" y="6336792"/>
            <a:ext cx="5239512" cy="274320"/>
          </a:xfrm>
          <a:prstGeom prst="rect">
            <a:avLst/>
          </a:prstGeom>
          <a:noFill/>
          <a:ln/>
        </p:spPr>
        <p:txBody>
          <a:bodyPr wrap="square" lIns="0" tIns="0" rIns="0" bIns="0" rtlCol="0" anchor="ctr"/>
          <a:lstStyle/>
          <a:p>
            <a:pPr marL="0" indent="0" algn="r">
              <a:buNone/>
            </a:pPr>
            <a:r>
              <a:rPr lang="en-US" sz="1000" dirty="0">
                <a:solidFill>
                  <a:srgbClr val="A6B2BD"/>
                </a:solidFill>
                <a:latin typeface="Calibri" pitchFamily="34" charset="0"/>
                <a:ea typeface="Calibri" pitchFamily="34" charset="-122"/>
                <a:cs typeface="Calibri" pitchFamily="34" charset="-120"/>
              </a:rPr>
              <a:t>GROUP 12  ·  Category Intelligence</a:t>
            </a:r>
            <a:endParaRPr lang="en-US" sz="1000" dirty="0"/>
          </a:p>
        </p:txBody>
      </p:sp>
      <p:sp>
        <p:nvSpPr>
          <p:cNvPr id="6" name="Shape 4"/>
          <p:cNvSpPr/>
          <p:nvPr/>
        </p:nvSpPr>
        <p:spPr>
          <a:xfrm>
            <a:off x="548640" y="1417320"/>
            <a:ext cx="1984248" cy="1280160"/>
          </a:xfrm>
          <a:prstGeom prst="roundRect">
            <a:avLst>
              <a:gd name="adj" fmla="val 5714"/>
            </a:avLst>
          </a:prstGeom>
          <a:solidFill>
            <a:srgbClr val="F2F5F8"/>
          </a:solidFill>
          <a:ln w="12700">
            <a:solidFill>
              <a:srgbClr val="DCE3EA"/>
            </a:solidFill>
            <a:prstDash val="solid"/>
          </a:ln>
        </p:spPr>
      </p:sp>
      <p:sp>
        <p:nvSpPr>
          <p:cNvPr id="7" name="Text 5"/>
          <p:cNvSpPr txBox="1"/>
          <p:nvPr/>
        </p:nvSpPr>
        <p:spPr>
          <a:xfrm>
            <a:off x="548640" y="1572768"/>
            <a:ext cx="1984248" cy="566928"/>
          </a:xfrm>
          <a:prstGeom prst="rect">
            <a:avLst/>
          </a:prstGeom>
          <a:noFill/>
          <a:ln/>
        </p:spPr>
        <p:txBody>
          <a:bodyPr wrap="square" lIns="0" tIns="0" rIns="0" bIns="0" rtlCol="0" anchor="ctr"/>
          <a:lstStyle/>
          <a:p>
            <a:pPr marL="0" indent="0" algn="ctr">
              <a:buNone/>
            </a:pPr>
            <a:r>
              <a:rPr lang="en-US" sz="3000" b="1" dirty="0">
                <a:solidFill>
                  <a:srgbClr val="0F2A43"/>
                </a:solidFill>
                <a:latin typeface="Cambria" pitchFamily="34" charset="0"/>
                <a:ea typeface="Cambria" pitchFamily="34" charset="-122"/>
                <a:cs typeface="Cambria" pitchFamily="34" charset="-120"/>
              </a:rPr>
              <a:t>107,836</a:t>
            </a:r>
            <a:endParaRPr lang="en-US" sz="3000" dirty="0"/>
          </a:p>
        </p:txBody>
      </p:sp>
      <p:sp>
        <p:nvSpPr>
          <p:cNvPr id="8" name="Text 6"/>
          <p:cNvSpPr txBox="1"/>
          <p:nvPr/>
        </p:nvSpPr>
        <p:spPr>
          <a:xfrm>
            <a:off x="548640" y="2121408"/>
            <a:ext cx="1984248" cy="457200"/>
          </a:xfrm>
          <a:prstGeom prst="rect">
            <a:avLst/>
          </a:prstGeom>
          <a:noFill/>
          <a:ln/>
        </p:spPr>
        <p:txBody>
          <a:bodyPr wrap="square" lIns="0" tIns="0" rIns="0" bIns="0" rtlCol="0" anchor="ctr"/>
          <a:lstStyle/>
          <a:p>
            <a:pPr marL="0" indent="0" algn="ctr">
              <a:buNone/>
            </a:pPr>
            <a:r>
              <a:rPr lang="en-US" sz="1100" dirty="0">
                <a:solidFill>
                  <a:srgbClr val="5A6B7B"/>
                </a:solidFill>
                <a:latin typeface="Calibri" pitchFamily="34" charset="0"/>
                <a:ea typeface="Calibri" pitchFamily="34" charset="-122"/>
                <a:cs typeface="Calibri" pitchFamily="34" charset="-120"/>
              </a:rPr>
              <a:t>Transactions</a:t>
            </a:r>
            <a:endParaRPr lang="en-US" sz="1100" dirty="0"/>
          </a:p>
        </p:txBody>
      </p:sp>
      <p:sp>
        <p:nvSpPr>
          <p:cNvPr id="9" name="Shape 7"/>
          <p:cNvSpPr/>
          <p:nvPr/>
        </p:nvSpPr>
        <p:spPr>
          <a:xfrm>
            <a:off x="2825496" y="1417320"/>
            <a:ext cx="1984248" cy="1280160"/>
          </a:xfrm>
          <a:prstGeom prst="roundRect">
            <a:avLst>
              <a:gd name="adj" fmla="val 5714"/>
            </a:avLst>
          </a:prstGeom>
          <a:solidFill>
            <a:srgbClr val="F2F5F8"/>
          </a:solidFill>
          <a:ln w="12700">
            <a:solidFill>
              <a:srgbClr val="DCE3EA"/>
            </a:solidFill>
            <a:prstDash val="solid"/>
          </a:ln>
        </p:spPr>
      </p:sp>
      <p:sp>
        <p:nvSpPr>
          <p:cNvPr id="10" name="Text 8"/>
          <p:cNvSpPr txBox="1"/>
          <p:nvPr/>
        </p:nvSpPr>
        <p:spPr>
          <a:xfrm>
            <a:off x="2825496" y="1572768"/>
            <a:ext cx="1984248" cy="566928"/>
          </a:xfrm>
          <a:prstGeom prst="rect">
            <a:avLst/>
          </a:prstGeom>
          <a:noFill/>
          <a:ln/>
        </p:spPr>
        <p:txBody>
          <a:bodyPr wrap="square" lIns="0" tIns="0" rIns="0" bIns="0" rtlCol="0" anchor="ctr"/>
          <a:lstStyle/>
          <a:p>
            <a:pPr marL="0" indent="0" algn="ctr">
              <a:buNone/>
            </a:pPr>
            <a:r>
              <a:rPr lang="en-US" sz="3000" b="1" dirty="0">
                <a:solidFill>
                  <a:srgbClr val="0F2A43"/>
                </a:solidFill>
                <a:latin typeface="Cambria" pitchFamily="34" charset="0"/>
                <a:ea typeface="Cambria" pitchFamily="34" charset="-122"/>
                <a:cs typeface="Cambria" pitchFamily="34" charset="-120"/>
              </a:rPr>
              <a:t>10</a:t>
            </a:r>
            <a:endParaRPr lang="en-US" sz="3000" dirty="0"/>
          </a:p>
        </p:txBody>
      </p:sp>
      <p:sp>
        <p:nvSpPr>
          <p:cNvPr id="11" name="Text 9"/>
          <p:cNvSpPr txBox="1"/>
          <p:nvPr/>
        </p:nvSpPr>
        <p:spPr>
          <a:xfrm>
            <a:off x="2825496" y="2121408"/>
            <a:ext cx="1984248" cy="457200"/>
          </a:xfrm>
          <a:prstGeom prst="rect">
            <a:avLst/>
          </a:prstGeom>
          <a:noFill/>
          <a:ln/>
        </p:spPr>
        <p:txBody>
          <a:bodyPr wrap="square" lIns="0" tIns="0" rIns="0" bIns="0" rtlCol="0" anchor="ctr"/>
          <a:lstStyle/>
          <a:p>
            <a:pPr marL="0" indent="0" algn="ctr">
              <a:buNone/>
            </a:pPr>
            <a:r>
              <a:rPr lang="en-US" sz="1100" dirty="0">
                <a:solidFill>
                  <a:srgbClr val="5A6B7B"/>
                </a:solidFill>
                <a:latin typeface="Calibri" pitchFamily="34" charset="0"/>
                <a:ea typeface="Calibri" pitchFamily="34" charset="-122"/>
                <a:cs typeface="Calibri" pitchFamily="34" charset="-120"/>
              </a:rPr>
              <a:t>Columns</a:t>
            </a:r>
            <a:endParaRPr lang="en-US" sz="1100" dirty="0"/>
          </a:p>
        </p:txBody>
      </p:sp>
      <p:sp>
        <p:nvSpPr>
          <p:cNvPr id="12" name="Shape 10"/>
          <p:cNvSpPr/>
          <p:nvPr/>
        </p:nvSpPr>
        <p:spPr>
          <a:xfrm>
            <a:off x="5102352" y="1417320"/>
            <a:ext cx="1984248" cy="1280160"/>
          </a:xfrm>
          <a:prstGeom prst="roundRect">
            <a:avLst>
              <a:gd name="adj" fmla="val 5714"/>
            </a:avLst>
          </a:prstGeom>
          <a:solidFill>
            <a:srgbClr val="F2F5F8"/>
          </a:solidFill>
          <a:ln w="12700">
            <a:solidFill>
              <a:srgbClr val="DCE3EA"/>
            </a:solidFill>
            <a:prstDash val="solid"/>
          </a:ln>
        </p:spPr>
      </p:sp>
      <p:sp>
        <p:nvSpPr>
          <p:cNvPr id="13" name="Text 11"/>
          <p:cNvSpPr txBox="1"/>
          <p:nvPr/>
        </p:nvSpPr>
        <p:spPr>
          <a:xfrm>
            <a:off x="5102352" y="1572768"/>
            <a:ext cx="1984248" cy="566928"/>
          </a:xfrm>
          <a:prstGeom prst="rect">
            <a:avLst/>
          </a:prstGeom>
          <a:noFill/>
          <a:ln/>
        </p:spPr>
        <p:txBody>
          <a:bodyPr wrap="square" lIns="0" tIns="0" rIns="0" bIns="0" rtlCol="0" anchor="ctr"/>
          <a:lstStyle/>
          <a:p>
            <a:pPr marL="0" indent="0" algn="ctr">
              <a:buNone/>
            </a:pPr>
            <a:r>
              <a:rPr lang="en-US" sz="3000" b="1" dirty="0">
                <a:solidFill>
                  <a:srgbClr val="0F2A43"/>
                </a:solidFill>
                <a:latin typeface="Cambria" pitchFamily="34" charset="0"/>
                <a:ea typeface="Cambria" pitchFamily="34" charset="-122"/>
                <a:cs typeface="Cambria" pitchFamily="34" charset="-120"/>
              </a:rPr>
              <a:t>5</a:t>
            </a:r>
            <a:endParaRPr lang="en-US" sz="3000" dirty="0"/>
          </a:p>
        </p:txBody>
      </p:sp>
      <p:sp>
        <p:nvSpPr>
          <p:cNvPr id="14" name="Text 12"/>
          <p:cNvSpPr txBox="1"/>
          <p:nvPr/>
        </p:nvSpPr>
        <p:spPr>
          <a:xfrm>
            <a:off x="5102352" y="2121408"/>
            <a:ext cx="1984248" cy="457200"/>
          </a:xfrm>
          <a:prstGeom prst="rect">
            <a:avLst/>
          </a:prstGeom>
          <a:noFill/>
          <a:ln/>
        </p:spPr>
        <p:txBody>
          <a:bodyPr wrap="square" lIns="0" tIns="0" rIns="0" bIns="0" rtlCol="0" anchor="ctr"/>
          <a:lstStyle/>
          <a:p>
            <a:pPr marL="0" indent="0" algn="ctr">
              <a:buNone/>
            </a:pPr>
            <a:r>
              <a:rPr lang="en-US" sz="1100" dirty="0">
                <a:solidFill>
                  <a:srgbClr val="5A6B7B"/>
                </a:solidFill>
                <a:latin typeface="Calibri" pitchFamily="34" charset="0"/>
                <a:ea typeface="Calibri" pitchFamily="34" charset="-122"/>
                <a:cs typeface="Calibri" pitchFamily="34" charset="-120"/>
              </a:rPr>
              <a:t>Categories</a:t>
            </a:r>
            <a:endParaRPr lang="en-US" sz="1100" dirty="0"/>
          </a:p>
        </p:txBody>
      </p:sp>
      <p:sp>
        <p:nvSpPr>
          <p:cNvPr id="15" name="Shape 13"/>
          <p:cNvSpPr/>
          <p:nvPr/>
        </p:nvSpPr>
        <p:spPr>
          <a:xfrm>
            <a:off x="7379208" y="1417320"/>
            <a:ext cx="1984248" cy="1280160"/>
          </a:xfrm>
          <a:prstGeom prst="roundRect">
            <a:avLst>
              <a:gd name="adj" fmla="val 5714"/>
            </a:avLst>
          </a:prstGeom>
          <a:solidFill>
            <a:srgbClr val="F2F5F8"/>
          </a:solidFill>
          <a:ln w="12700">
            <a:solidFill>
              <a:srgbClr val="DCE3EA"/>
            </a:solidFill>
            <a:prstDash val="solid"/>
          </a:ln>
        </p:spPr>
      </p:sp>
      <p:sp>
        <p:nvSpPr>
          <p:cNvPr id="16" name="Text 14"/>
          <p:cNvSpPr txBox="1"/>
          <p:nvPr/>
        </p:nvSpPr>
        <p:spPr>
          <a:xfrm>
            <a:off x="7379208" y="1572768"/>
            <a:ext cx="1984248" cy="566928"/>
          </a:xfrm>
          <a:prstGeom prst="rect">
            <a:avLst/>
          </a:prstGeom>
          <a:noFill/>
          <a:ln/>
        </p:spPr>
        <p:txBody>
          <a:bodyPr wrap="square" lIns="0" tIns="0" rIns="0" bIns="0" rtlCol="0" anchor="ctr"/>
          <a:lstStyle/>
          <a:p>
            <a:pPr marL="0" indent="0" algn="ctr">
              <a:buNone/>
            </a:pPr>
            <a:r>
              <a:rPr lang="en-US" sz="3000" b="1" dirty="0">
                <a:solidFill>
                  <a:srgbClr val="0F2A43"/>
                </a:solidFill>
                <a:latin typeface="Cambria" pitchFamily="34" charset="0"/>
                <a:ea typeface="Cambria" pitchFamily="34" charset="-122"/>
                <a:cs typeface="Cambria" pitchFamily="34" charset="-120"/>
              </a:rPr>
              <a:t>25</a:t>
            </a:r>
            <a:endParaRPr lang="en-US" sz="3000" dirty="0"/>
          </a:p>
        </p:txBody>
      </p:sp>
      <p:sp>
        <p:nvSpPr>
          <p:cNvPr id="17" name="Text 15"/>
          <p:cNvSpPr txBox="1"/>
          <p:nvPr/>
        </p:nvSpPr>
        <p:spPr>
          <a:xfrm>
            <a:off x="7379208" y="2121408"/>
            <a:ext cx="1984248" cy="457200"/>
          </a:xfrm>
          <a:prstGeom prst="rect">
            <a:avLst/>
          </a:prstGeom>
          <a:noFill/>
          <a:ln/>
        </p:spPr>
        <p:txBody>
          <a:bodyPr wrap="square" lIns="0" tIns="0" rIns="0" bIns="0" rtlCol="0" anchor="ctr"/>
          <a:lstStyle/>
          <a:p>
            <a:pPr marL="0" indent="0" algn="ctr">
              <a:buNone/>
            </a:pPr>
            <a:r>
              <a:rPr lang="en-US" sz="1100" dirty="0">
                <a:solidFill>
                  <a:srgbClr val="5A6B7B"/>
                </a:solidFill>
                <a:latin typeface="Calibri" pitchFamily="34" charset="0"/>
                <a:ea typeface="Calibri" pitchFamily="34" charset="-122"/>
                <a:cs typeface="Calibri" pitchFamily="34" charset="-120"/>
              </a:rPr>
              <a:t>Products</a:t>
            </a:r>
            <a:endParaRPr lang="en-US" sz="1100" dirty="0"/>
          </a:p>
        </p:txBody>
      </p:sp>
      <p:sp>
        <p:nvSpPr>
          <p:cNvPr id="18" name="Shape 16"/>
          <p:cNvSpPr/>
          <p:nvPr/>
        </p:nvSpPr>
        <p:spPr>
          <a:xfrm>
            <a:off x="9656064" y="1417320"/>
            <a:ext cx="1984248" cy="1280160"/>
          </a:xfrm>
          <a:prstGeom prst="roundRect">
            <a:avLst>
              <a:gd name="adj" fmla="val 5714"/>
            </a:avLst>
          </a:prstGeom>
          <a:solidFill>
            <a:srgbClr val="F2F5F8"/>
          </a:solidFill>
          <a:ln w="12700">
            <a:solidFill>
              <a:srgbClr val="DCE3EA"/>
            </a:solidFill>
            <a:prstDash val="solid"/>
          </a:ln>
        </p:spPr>
      </p:sp>
      <p:sp>
        <p:nvSpPr>
          <p:cNvPr id="19" name="Text 17"/>
          <p:cNvSpPr txBox="1"/>
          <p:nvPr/>
        </p:nvSpPr>
        <p:spPr>
          <a:xfrm>
            <a:off x="9656064" y="1572768"/>
            <a:ext cx="1984248" cy="566928"/>
          </a:xfrm>
          <a:prstGeom prst="rect">
            <a:avLst/>
          </a:prstGeom>
          <a:noFill/>
          <a:ln/>
        </p:spPr>
        <p:txBody>
          <a:bodyPr wrap="square" lIns="0" tIns="0" rIns="0" bIns="0" rtlCol="0" anchor="ctr"/>
          <a:lstStyle/>
          <a:p>
            <a:pPr marL="0" indent="0" algn="ctr">
              <a:buNone/>
            </a:pPr>
            <a:r>
              <a:rPr lang="en-US" sz="3000" b="1" dirty="0">
                <a:solidFill>
                  <a:srgbClr val="E08A1E"/>
                </a:solidFill>
                <a:latin typeface="Cambria" pitchFamily="34" charset="0"/>
                <a:ea typeface="Cambria" pitchFamily="34" charset="-122"/>
                <a:cs typeface="Cambria" pitchFamily="34" charset="-120"/>
              </a:rPr>
              <a:t>₹45.98 Cr</a:t>
            </a:r>
            <a:endParaRPr lang="en-US" sz="3000" dirty="0"/>
          </a:p>
        </p:txBody>
      </p:sp>
      <p:sp>
        <p:nvSpPr>
          <p:cNvPr id="20" name="Text 18"/>
          <p:cNvSpPr txBox="1"/>
          <p:nvPr/>
        </p:nvSpPr>
        <p:spPr>
          <a:xfrm>
            <a:off x="9656064" y="2121408"/>
            <a:ext cx="1984248" cy="457200"/>
          </a:xfrm>
          <a:prstGeom prst="rect">
            <a:avLst/>
          </a:prstGeom>
          <a:noFill/>
          <a:ln/>
        </p:spPr>
        <p:txBody>
          <a:bodyPr wrap="square" lIns="0" tIns="0" rIns="0" bIns="0" rtlCol="0" anchor="ctr"/>
          <a:lstStyle/>
          <a:p>
            <a:pPr marL="0" indent="0" algn="ctr">
              <a:buNone/>
            </a:pPr>
            <a:r>
              <a:rPr lang="en-US" sz="1100" dirty="0">
                <a:solidFill>
                  <a:srgbClr val="5A6B7B"/>
                </a:solidFill>
                <a:latin typeface="Calibri" pitchFamily="34" charset="0"/>
                <a:ea typeface="Calibri" pitchFamily="34" charset="-122"/>
                <a:cs typeface="Calibri" pitchFamily="34" charset="-120"/>
              </a:rPr>
              <a:t>Total Revenue</a:t>
            </a:r>
            <a:endParaRPr lang="en-US" sz="1100" dirty="0"/>
          </a:p>
        </p:txBody>
      </p:sp>
      <p:sp>
        <p:nvSpPr>
          <p:cNvPr id="21" name="Shape 19"/>
          <p:cNvSpPr/>
          <p:nvPr/>
        </p:nvSpPr>
        <p:spPr>
          <a:xfrm>
            <a:off x="566928" y="2990088"/>
            <a:ext cx="365760" cy="365760"/>
          </a:xfrm>
          <a:prstGeom prst="ellipse">
            <a:avLst/>
          </a:prstGeom>
          <a:solidFill>
            <a:srgbClr val="0F2A43"/>
          </a:solidFill>
          <a:ln/>
        </p:spPr>
      </p:sp>
      <p:pic>
        <p:nvPicPr>
          <p:cNvPr id="22" name="Image 0" descr="icon_check_w.png"/>
          <p:cNvPicPr>
            <a:picLocks noChangeAspect="1"/>
          </p:cNvPicPr>
          <p:nvPr/>
        </p:nvPicPr>
        <p:blipFill>
          <a:blip r:embed="rId3"/>
          <a:stretch>
            <a:fillRect/>
          </a:stretch>
        </p:blipFill>
        <p:spPr>
          <a:xfrm>
            <a:off x="658368" y="3081528"/>
            <a:ext cx="182880" cy="182880"/>
          </a:xfrm>
          <a:prstGeom prst="rect">
            <a:avLst/>
          </a:prstGeom>
        </p:spPr>
      </p:pic>
      <p:sp>
        <p:nvSpPr>
          <p:cNvPr id="23" name="Text 20"/>
          <p:cNvSpPr txBox="1"/>
          <p:nvPr/>
        </p:nvSpPr>
        <p:spPr>
          <a:xfrm>
            <a:off x="1060704" y="2971800"/>
            <a:ext cx="5669280" cy="256032"/>
          </a:xfrm>
          <a:prstGeom prst="rect">
            <a:avLst/>
          </a:prstGeom>
          <a:noFill/>
          <a:ln/>
        </p:spPr>
        <p:txBody>
          <a:bodyPr wrap="square" lIns="0" tIns="0" rIns="0" bIns="0" rtlCol="0" anchor="ctr"/>
          <a:lstStyle/>
          <a:p>
            <a:pPr marL="0" indent="0">
              <a:buNone/>
            </a:pPr>
            <a:r>
              <a:rPr lang="en-US" sz="1350" b="1" dirty="0">
                <a:solidFill>
                  <a:srgbClr val="0F2A43"/>
                </a:solidFill>
                <a:latin typeface="Calibri" pitchFamily="34" charset="0"/>
                <a:ea typeface="Calibri" pitchFamily="34" charset="-122"/>
                <a:cs typeface="Calibri" pitchFamily="34" charset="-120"/>
              </a:rPr>
              <a:t>0 null values</a:t>
            </a:r>
            <a:endParaRPr lang="en-US" sz="1350" dirty="0"/>
          </a:p>
        </p:txBody>
      </p:sp>
      <p:sp>
        <p:nvSpPr>
          <p:cNvPr id="24" name="Text 21"/>
          <p:cNvSpPr txBox="1"/>
          <p:nvPr/>
        </p:nvSpPr>
        <p:spPr>
          <a:xfrm>
            <a:off x="1060704" y="3236976"/>
            <a:ext cx="5669280" cy="457200"/>
          </a:xfrm>
          <a:prstGeom prst="rect">
            <a:avLst/>
          </a:prstGeom>
          <a:noFill/>
          <a:ln/>
        </p:spPr>
        <p:txBody>
          <a:bodyPr wrap="square" lIns="0" tIns="0" rIns="0" bIns="0" rtlCol="0" anchor="ctr"/>
          <a:lstStyle/>
          <a:p>
            <a:pPr marL="0" indent="0">
              <a:buNone/>
            </a:pPr>
            <a:r>
              <a:rPr lang="en-US" sz="1150" dirty="0">
                <a:solidFill>
                  <a:srgbClr val="5A6B7B"/>
                </a:solidFill>
                <a:latin typeface="Calibri" pitchFamily="34" charset="0"/>
                <a:ea typeface="Calibri" pitchFamily="34" charset="-122"/>
                <a:cs typeface="Calibri" pitchFamily="34" charset="-120"/>
              </a:rPr>
              <a:t>Every one of the ten columns is complete — no imputation was needed.</a:t>
            </a:r>
            <a:endParaRPr lang="en-US" sz="1150" dirty="0"/>
          </a:p>
        </p:txBody>
      </p:sp>
      <p:sp>
        <p:nvSpPr>
          <p:cNvPr id="25" name="Shape 22"/>
          <p:cNvSpPr/>
          <p:nvPr/>
        </p:nvSpPr>
        <p:spPr>
          <a:xfrm>
            <a:off x="566928" y="3776472"/>
            <a:ext cx="365760" cy="365760"/>
          </a:xfrm>
          <a:prstGeom prst="ellipse">
            <a:avLst/>
          </a:prstGeom>
          <a:solidFill>
            <a:srgbClr val="0F2A43"/>
          </a:solidFill>
          <a:ln/>
        </p:spPr>
      </p:sp>
      <p:pic>
        <p:nvPicPr>
          <p:cNvPr id="26" name="Image 1" descr="icon_check_w.png"/>
          <p:cNvPicPr>
            <a:picLocks noChangeAspect="1"/>
          </p:cNvPicPr>
          <p:nvPr/>
        </p:nvPicPr>
        <p:blipFill>
          <a:blip r:embed="rId3"/>
          <a:stretch>
            <a:fillRect/>
          </a:stretch>
        </p:blipFill>
        <p:spPr>
          <a:xfrm>
            <a:off x="658368" y="3867912"/>
            <a:ext cx="182880" cy="182880"/>
          </a:xfrm>
          <a:prstGeom prst="rect">
            <a:avLst/>
          </a:prstGeom>
        </p:spPr>
      </p:pic>
      <p:sp>
        <p:nvSpPr>
          <p:cNvPr id="27" name="Text 23"/>
          <p:cNvSpPr txBox="1"/>
          <p:nvPr/>
        </p:nvSpPr>
        <p:spPr>
          <a:xfrm>
            <a:off x="1060704" y="3758184"/>
            <a:ext cx="5669280" cy="256032"/>
          </a:xfrm>
          <a:prstGeom prst="rect">
            <a:avLst/>
          </a:prstGeom>
          <a:noFill/>
          <a:ln/>
        </p:spPr>
        <p:txBody>
          <a:bodyPr wrap="square" lIns="0" tIns="0" rIns="0" bIns="0" rtlCol="0" anchor="ctr"/>
          <a:lstStyle/>
          <a:p>
            <a:pPr marL="0" indent="0">
              <a:buNone/>
            </a:pPr>
            <a:r>
              <a:rPr lang="en-US" sz="1350" b="1" dirty="0">
                <a:solidFill>
                  <a:srgbClr val="0F2A43"/>
                </a:solidFill>
                <a:latin typeface="Calibri" pitchFamily="34" charset="0"/>
                <a:ea typeface="Calibri" pitchFamily="34" charset="-122"/>
                <a:cs typeface="Calibri" pitchFamily="34" charset="-120"/>
              </a:rPr>
              <a:t>0 duplicate transaction IDs</a:t>
            </a:r>
            <a:endParaRPr lang="en-US" sz="1350" dirty="0"/>
          </a:p>
        </p:txBody>
      </p:sp>
      <p:sp>
        <p:nvSpPr>
          <p:cNvPr id="28" name="Text 24"/>
          <p:cNvSpPr txBox="1"/>
          <p:nvPr/>
        </p:nvSpPr>
        <p:spPr>
          <a:xfrm>
            <a:off x="1060704" y="4023360"/>
            <a:ext cx="5669280" cy="457200"/>
          </a:xfrm>
          <a:prstGeom prst="rect">
            <a:avLst/>
          </a:prstGeom>
          <a:noFill/>
          <a:ln/>
        </p:spPr>
        <p:txBody>
          <a:bodyPr wrap="square" lIns="0" tIns="0" rIns="0" bIns="0" rtlCol="0" anchor="ctr"/>
          <a:lstStyle/>
          <a:p>
            <a:pPr marL="0" indent="0">
              <a:buNone/>
            </a:pPr>
            <a:r>
              <a:rPr lang="en-US" sz="1150" dirty="0">
                <a:solidFill>
                  <a:srgbClr val="5A6B7B"/>
                </a:solidFill>
                <a:latin typeface="Calibri" pitchFamily="34" charset="0"/>
                <a:ea typeface="Calibri" pitchFamily="34" charset="-122"/>
                <a:cs typeface="Calibri" pitchFamily="34" charset="-120"/>
              </a:rPr>
              <a:t>No double-counted sales; no rows were dropped.</a:t>
            </a:r>
            <a:endParaRPr lang="en-US" sz="1150" dirty="0"/>
          </a:p>
        </p:txBody>
      </p:sp>
      <p:sp>
        <p:nvSpPr>
          <p:cNvPr id="29" name="Shape 25"/>
          <p:cNvSpPr/>
          <p:nvPr/>
        </p:nvSpPr>
        <p:spPr>
          <a:xfrm>
            <a:off x="566928" y="4562856"/>
            <a:ext cx="365760" cy="365760"/>
          </a:xfrm>
          <a:prstGeom prst="ellipse">
            <a:avLst/>
          </a:prstGeom>
          <a:solidFill>
            <a:srgbClr val="0F2A43"/>
          </a:solidFill>
          <a:ln/>
        </p:spPr>
      </p:sp>
      <p:pic>
        <p:nvPicPr>
          <p:cNvPr id="30" name="Image 2" descr="icon_calendar_w.png"/>
          <p:cNvPicPr>
            <a:picLocks noChangeAspect="1"/>
          </p:cNvPicPr>
          <p:nvPr/>
        </p:nvPicPr>
        <p:blipFill>
          <a:blip r:embed="rId4"/>
          <a:stretch>
            <a:fillRect/>
          </a:stretch>
        </p:blipFill>
        <p:spPr>
          <a:xfrm>
            <a:off x="658368" y="4654296"/>
            <a:ext cx="182880" cy="182880"/>
          </a:xfrm>
          <a:prstGeom prst="rect">
            <a:avLst/>
          </a:prstGeom>
        </p:spPr>
      </p:pic>
      <p:sp>
        <p:nvSpPr>
          <p:cNvPr id="31" name="Text 26"/>
          <p:cNvSpPr txBox="1"/>
          <p:nvPr/>
        </p:nvSpPr>
        <p:spPr>
          <a:xfrm>
            <a:off x="1060704" y="4544568"/>
            <a:ext cx="5669280" cy="256032"/>
          </a:xfrm>
          <a:prstGeom prst="rect">
            <a:avLst/>
          </a:prstGeom>
          <a:noFill/>
          <a:ln/>
        </p:spPr>
        <p:txBody>
          <a:bodyPr wrap="square" lIns="0" tIns="0" rIns="0" bIns="0" rtlCol="0" anchor="ctr"/>
          <a:lstStyle/>
          <a:p>
            <a:pPr marL="0" indent="0">
              <a:buNone/>
            </a:pPr>
            <a:r>
              <a:rPr lang="en-US" sz="1350" b="1" dirty="0">
                <a:solidFill>
                  <a:srgbClr val="0F2A43"/>
                </a:solidFill>
                <a:latin typeface="Calibri" pitchFamily="34" charset="0"/>
                <a:ea typeface="Calibri" pitchFamily="34" charset="-122"/>
                <a:cs typeface="Calibri" pitchFamily="34" charset="-120"/>
              </a:rPr>
              <a:t>Jan 1 – Jun 30, 2026</a:t>
            </a:r>
            <a:endParaRPr lang="en-US" sz="1350" dirty="0"/>
          </a:p>
        </p:txBody>
      </p:sp>
      <p:sp>
        <p:nvSpPr>
          <p:cNvPr id="32" name="Text 27"/>
          <p:cNvSpPr txBox="1"/>
          <p:nvPr/>
        </p:nvSpPr>
        <p:spPr>
          <a:xfrm>
            <a:off x="1060704" y="4809744"/>
            <a:ext cx="5669280" cy="457200"/>
          </a:xfrm>
          <a:prstGeom prst="rect">
            <a:avLst/>
          </a:prstGeom>
          <a:noFill/>
          <a:ln/>
        </p:spPr>
        <p:txBody>
          <a:bodyPr wrap="square" lIns="0" tIns="0" rIns="0" bIns="0" rtlCol="0" anchor="ctr"/>
          <a:lstStyle/>
          <a:p>
            <a:pPr marL="0" indent="0">
              <a:buNone/>
            </a:pPr>
            <a:r>
              <a:rPr lang="en-US" sz="1150" dirty="0">
                <a:solidFill>
                  <a:srgbClr val="5A6B7B"/>
                </a:solidFill>
                <a:latin typeface="Calibri" pitchFamily="34" charset="0"/>
                <a:ea typeface="Calibri" pitchFamily="34" charset="-122"/>
                <a:cs typeface="Calibri" pitchFamily="34" charset="-120"/>
              </a:rPr>
              <a:t>All 181 days present — a continuous six-month window.</a:t>
            </a:r>
            <a:endParaRPr lang="en-US" sz="1150" dirty="0"/>
          </a:p>
        </p:txBody>
      </p:sp>
      <p:sp>
        <p:nvSpPr>
          <p:cNvPr id="33" name="Shape 28"/>
          <p:cNvSpPr/>
          <p:nvPr/>
        </p:nvSpPr>
        <p:spPr>
          <a:xfrm>
            <a:off x="566928" y="5349240"/>
            <a:ext cx="365760" cy="365760"/>
          </a:xfrm>
          <a:prstGeom prst="ellipse">
            <a:avLst/>
          </a:prstGeom>
          <a:solidFill>
            <a:srgbClr val="E08A1E"/>
          </a:solidFill>
          <a:ln/>
        </p:spPr>
      </p:sp>
      <p:pic>
        <p:nvPicPr>
          <p:cNvPr id="34" name="Image 3" descr="icon_alert_w.png"/>
          <p:cNvPicPr>
            <a:picLocks noChangeAspect="1"/>
          </p:cNvPicPr>
          <p:nvPr/>
        </p:nvPicPr>
        <p:blipFill>
          <a:blip r:embed="rId5"/>
          <a:stretch>
            <a:fillRect/>
          </a:stretch>
        </p:blipFill>
        <p:spPr>
          <a:xfrm>
            <a:off x="658368" y="5440680"/>
            <a:ext cx="182880" cy="182880"/>
          </a:xfrm>
          <a:prstGeom prst="rect">
            <a:avLst/>
          </a:prstGeom>
        </p:spPr>
      </p:pic>
      <p:sp>
        <p:nvSpPr>
          <p:cNvPr id="35" name="Text 29"/>
          <p:cNvSpPr txBox="1"/>
          <p:nvPr/>
        </p:nvSpPr>
        <p:spPr>
          <a:xfrm>
            <a:off x="1060704" y="5330952"/>
            <a:ext cx="5669280" cy="256032"/>
          </a:xfrm>
          <a:prstGeom prst="rect">
            <a:avLst/>
          </a:prstGeom>
          <a:noFill/>
          <a:ln/>
        </p:spPr>
        <p:txBody>
          <a:bodyPr wrap="square" lIns="0" tIns="0" rIns="0" bIns="0" rtlCol="0" anchor="ctr"/>
          <a:lstStyle/>
          <a:p>
            <a:pPr marL="0" indent="0">
              <a:buNone/>
            </a:pPr>
            <a:r>
              <a:rPr lang="en-US" sz="1350" b="1" dirty="0">
                <a:solidFill>
                  <a:srgbClr val="0F2A43"/>
                </a:solidFill>
                <a:latin typeface="Calibri" pitchFamily="34" charset="0"/>
                <a:ea typeface="Calibri" pitchFamily="34" charset="-122"/>
                <a:cs typeface="Calibri" pitchFamily="34" charset="-120"/>
              </a:rPr>
              <a:t>Discounts top out at 20%</a:t>
            </a:r>
            <a:endParaRPr lang="en-US" sz="1350" dirty="0"/>
          </a:p>
        </p:txBody>
      </p:sp>
      <p:sp>
        <p:nvSpPr>
          <p:cNvPr id="36" name="Text 30"/>
          <p:cNvSpPr txBox="1"/>
          <p:nvPr/>
        </p:nvSpPr>
        <p:spPr>
          <a:xfrm>
            <a:off x="1060704" y="5596128"/>
            <a:ext cx="5669280" cy="457200"/>
          </a:xfrm>
          <a:prstGeom prst="rect">
            <a:avLst/>
          </a:prstGeom>
          <a:noFill/>
          <a:ln/>
        </p:spPr>
        <p:txBody>
          <a:bodyPr wrap="square" lIns="0" tIns="0" rIns="0" bIns="0" rtlCol="0" anchor="ctr"/>
          <a:lstStyle/>
          <a:p>
            <a:pPr marL="0" indent="0">
              <a:buNone/>
            </a:pPr>
            <a:r>
              <a:rPr lang="en-US" sz="1150" dirty="0">
                <a:solidFill>
                  <a:srgbClr val="5A6B7B"/>
                </a:solidFill>
                <a:latin typeface="Calibri" pitchFamily="34" charset="0"/>
                <a:ea typeface="Calibri" pitchFamily="34" charset="-122"/>
                <a:cs typeface="Calibri" pitchFamily="34" charset="-120"/>
              </a:rPr>
              <a:t>The brief describes a 0–30% range; the file contains only 0, 5, 10, 15 and 20%.</a:t>
            </a:r>
            <a:endParaRPr lang="en-US" sz="1150" dirty="0"/>
          </a:p>
        </p:txBody>
      </p:sp>
      <p:sp>
        <p:nvSpPr>
          <p:cNvPr id="37" name="Shape 31"/>
          <p:cNvSpPr/>
          <p:nvPr/>
        </p:nvSpPr>
        <p:spPr>
          <a:xfrm>
            <a:off x="7223760" y="2880360"/>
            <a:ext cx="4416552" cy="3200400"/>
          </a:xfrm>
          <a:prstGeom prst="roundRect">
            <a:avLst>
              <a:gd name="adj" fmla="val 2286"/>
            </a:avLst>
          </a:prstGeom>
          <a:solidFill>
            <a:srgbClr val="F2F5F8"/>
          </a:solidFill>
          <a:ln w="12700">
            <a:solidFill>
              <a:srgbClr val="DCE3EA"/>
            </a:solidFill>
            <a:prstDash val="solid"/>
          </a:ln>
        </p:spPr>
      </p:sp>
      <p:sp>
        <p:nvSpPr>
          <p:cNvPr id="38" name="Text 32"/>
          <p:cNvSpPr txBox="1"/>
          <p:nvPr/>
        </p:nvSpPr>
        <p:spPr>
          <a:xfrm>
            <a:off x="7498080" y="3054096"/>
            <a:ext cx="3840480" cy="274320"/>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Dataset Structure</a:t>
            </a:r>
            <a:endParaRPr lang="en-US" sz="1300" dirty="0"/>
          </a:p>
        </p:txBody>
      </p:sp>
      <p:sp>
        <p:nvSpPr>
          <p:cNvPr id="39" name="Shape 33"/>
          <p:cNvSpPr/>
          <p:nvPr/>
        </p:nvSpPr>
        <p:spPr>
          <a:xfrm>
            <a:off x="7498080" y="3456432"/>
            <a:ext cx="1965960" cy="438912"/>
          </a:xfrm>
          <a:prstGeom prst="roundRect">
            <a:avLst>
              <a:gd name="adj" fmla="val 12500"/>
            </a:avLst>
          </a:prstGeom>
          <a:solidFill>
            <a:srgbClr val="FFFFFF"/>
          </a:solidFill>
          <a:ln w="12700">
            <a:solidFill>
              <a:srgbClr val="DCE3EA"/>
            </a:solidFill>
            <a:prstDash val="solid"/>
          </a:ln>
        </p:spPr>
      </p:sp>
      <p:sp>
        <p:nvSpPr>
          <p:cNvPr id="40" name="Text 34"/>
          <p:cNvSpPr txBox="1"/>
          <p:nvPr/>
        </p:nvSpPr>
        <p:spPr>
          <a:xfrm>
            <a:off x="7498080" y="3456432"/>
            <a:ext cx="1965960" cy="438912"/>
          </a:xfrm>
          <a:prstGeom prst="rect">
            <a:avLst/>
          </a:prstGeom>
          <a:noFill/>
          <a:ln/>
        </p:spPr>
        <p:txBody>
          <a:bodyPr wrap="square" lIns="0" tIns="0" rIns="0" bIns="0" rtlCol="0" anchor="ctr"/>
          <a:lstStyle/>
          <a:p>
            <a:pPr marL="0" indent="0" algn="ctr">
              <a:buNone/>
            </a:pPr>
            <a:r>
              <a:rPr lang="en-US" sz="1100" dirty="0">
                <a:solidFill>
                  <a:srgbClr val="0F2A43"/>
                </a:solidFill>
                <a:latin typeface="Calibri" pitchFamily="34" charset="0"/>
                <a:ea typeface="Calibri" pitchFamily="34" charset="-122"/>
                <a:cs typeface="Calibri" pitchFamily="34" charset="-120"/>
              </a:rPr>
              <a:t>Transaction ID</a:t>
            </a:r>
            <a:endParaRPr lang="en-US" sz="1100" dirty="0"/>
          </a:p>
        </p:txBody>
      </p:sp>
      <p:sp>
        <p:nvSpPr>
          <p:cNvPr id="41" name="Shape 35"/>
          <p:cNvSpPr/>
          <p:nvPr/>
        </p:nvSpPr>
        <p:spPr>
          <a:xfrm>
            <a:off x="9674352" y="3456432"/>
            <a:ext cx="1965960" cy="438912"/>
          </a:xfrm>
          <a:prstGeom prst="roundRect">
            <a:avLst>
              <a:gd name="adj" fmla="val 12500"/>
            </a:avLst>
          </a:prstGeom>
          <a:solidFill>
            <a:srgbClr val="FFFFFF"/>
          </a:solidFill>
          <a:ln w="12700">
            <a:solidFill>
              <a:srgbClr val="DCE3EA"/>
            </a:solidFill>
            <a:prstDash val="solid"/>
          </a:ln>
        </p:spPr>
      </p:sp>
      <p:sp>
        <p:nvSpPr>
          <p:cNvPr id="42" name="Text 36"/>
          <p:cNvSpPr txBox="1"/>
          <p:nvPr/>
        </p:nvSpPr>
        <p:spPr>
          <a:xfrm>
            <a:off x="9674352" y="3456432"/>
            <a:ext cx="1965960" cy="438912"/>
          </a:xfrm>
          <a:prstGeom prst="rect">
            <a:avLst/>
          </a:prstGeom>
          <a:noFill/>
          <a:ln/>
        </p:spPr>
        <p:txBody>
          <a:bodyPr wrap="square" lIns="0" tIns="0" rIns="0" bIns="0" rtlCol="0" anchor="ctr"/>
          <a:lstStyle/>
          <a:p>
            <a:pPr marL="0" indent="0" algn="ctr">
              <a:buNone/>
            </a:pPr>
            <a:r>
              <a:rPr lang="en-US" sz="1100" dirty="0">
                <a:solidFill>
                  <a:srgbClr val="0F2A43"/>
                </a:solidFill>
                <a:latin typeface="Calibri" pitchFamily="34" charset="0"/>
                <a:ea typeface="Calibri" pitchFamily="34" charset="-122"/>
                <a:cs typeface="Calibri" pitchFamily="34" charset="-120"/>
              </a:rPr>
              <a:t>Date</a:t>
            </a:r>
            <a:endParaRPr lang="en-US" sz="1100" dirty="0"/>
          </a:p>
        </p:txBody>
      </p:sp>
      <p:sp>
        <p:nvSpPr>
          <p:cNvPr id="43" name="Shape 37"/>
          <p:cNvSpPr/>
          <p:nvPr/>
        </p:nvSpPr>
        <p:spPr>
          <a:xfrm>
            <a:off x="7498080" y="3977640"/>
            <a:ext cx="1965960" cy="438912"/>
          </a:xfrm>
          <a:prstGeom prst="roundRect">
            <a:avLst>
              <a:gd name="adj" fmla="val 12500"/>
            </a:avLst>
          </a:prstGeom>
          <a:solidFill>
            <a:srgbClr val="FFFFFF"/>
          </a:solidFill>
          <a:ln w="12700">
            <a:solidFill>
              <a:srgbClr val="DCE3EA"/>
            </a:solidFill>
            <a:prstDash val="solid"/>
          </a:ln>
        </p:spPr>
      </p:sp>
      <p:sp>
        <p:nvSpPr>
          <p:cNvPr id="44" name="Text 38"/>
          <p:cNvSpPr txBox="1"/>
          <p:nvPr/>
        </p:nvSpPr>
        <p:spPr>
          <a:xfrm>
            <a:off x="7498080" y="3977640"/>
            <a:ext cx="1965960" cy="438912"/>
          </a:xfrm>
          <a:prstGeom prst="rect">
            <a:avLst/>
          </a:prstGeom>
          <a:noFill/>
          <a:ln/>
        </p:spPr>
        <p:txBody>
          <a:bodyPr wrap="square" lIns="0" tIns="0" rIns="0" bIns="0" rtlCol="0" anchor="ctr"/>
          <a:lstStyle/>
          <a:p>
            <a:pPr marL="0" indent="0" algn="ctr">
              <a:buNone/>
            </a:pPr>
            <a:r>
              <a:rPr lang="en-US" sz="1100" dirty="0">
                <a:solidFill>
                  <a:srgbClr val="0F2A43"/>
                </a:solidFill>
                <a:latin typeface="Calibri" pitchFamily="34" charset="0"/>
                <a:ea typeface="Calibri" pitchFamily="34" charset="-122"/>
                <a:cs typeface="Calibri" pitchFamily="34" charset="-120"/>
              </a:rPr>
              <a:t>Store</a:t>
            </a:r>
            <a:endParaRPr lang="en-US" sz="1100" dirty="0"/>
          </a:p>
        </p:txBody>
      </p:sp>
      <p:sp>
        <p:nvSpPr>
          <p:cNvPr id="45" name="Shape 39"/>
          <p:cNvSpPr/>
          <p:nvPr/>
        </p:nvSpPr>
        <p:spPr>
          <a:xfrm>
            <a:off x="9674352" y="3977640"/>
            <a:ext cx="1965960" cy="438912"/>
          </a:xfrm>
          <a:prstGeom prst="roundRect">
            <a:avLst>
              <a:gd name="adj" fmla="val 12500"/>
            </a:avLst>
          </a:prstGeom>
          <a:solidFill>
            <a:srgbClr val="FFFFFF"/>
          </a:solidFill>
          <a:ln w="12700">
            <a:solidFill>
              <a:srgbClr val="DCE3EA"/>
            </a:solidFill>
            <a:prstDash val="solid"/>
          </a:ln>
        </p:spPr>
      </p:sp>
      <p:sp>
        <p:nvSpPr>
          <p:cNvPr id="46" name="Text 40"/>
          <p:cNvSpPr txBox="1"/>
          <p:nvPr/>
        </p:nvSpPr>
        <p:spPr>
          <a:xfrm>
            <a:off x="9674352" y="3977640"/>
            <a:ext cx="1965960" cy="438912"/>
          </a:xfrm>
          <a:prstGeom prst="rect">
            <a:avLst/>
          </a:prstGeom>
          <a:noFill/>
          <a:ln/>
        </p:spPr>
        <p:txBody>
          <a:bodyPr wrap="square" lIns="0" tIns="0" rIns="0" bIns="0" rtlCol="0" anchor="ctr"/>
          <a:lstStyle/>
          <a:p>
            <a:pPr marL="0" indent="0" algn="ctr">
              <a:buNone/>
            </a:pPr>
            <a:r>
              <a:rPr lang="en-US" sz="1100" dirty="0">
                <a:solidFill>
                  <a:srgbClr val="0F2A43"/>
                </a:solidFill>
                <a:latin typeface="Calibri" pitchFamily="34" charset="0"/>
                <a:ea typeface="Calibri" pitchFamily="34" charset="-122"/>
                <a:cs typeface="Calibri" pitchFamily="34" charset="-120"/>
              </a:rPr>
              <a:t>City</a:t>
            </a:r>
            <a:endParaRPr lang="en-US" sz="1100" dirty="0"/>
          </a:p>
        </p:txBody>
      </p:sp>
      <p:sp>
        <p:nvSpPr>
          <p:cNvPr id="47" name="Shape 41"/>
          <p:cNvSpPr/>
          <p:nvPr/>
        </p:nvSpPr>
        <p:spPr>
          <a:xfrm>
            <a:off x="7498080" y="4498848"/>
            <a:ext cx="1965960" cy="438912"/>
          </a:xfrm>
          <a:prstGeom prst="roundRect">
            <a:avLst>
              <a:gd name="adj" fmla="val 12500"/>
            </a:avLst>
          </a:prstGeom>
          <a:solidFill>
            <a:srgbClr val="FFFFFF"/>
          </a:solidFill>
          <a:ln w="12700">
            <a:solidFill>
              <a:srgbClr val="DCE3EA"/>
            </a:solidFill>
            <a:prstDash val="solid"/>
          </a:ln>
        </p:spPr>
      </p:sp>
      <p:sp>
        <p:nvSpPr>
          <p:cNvPr id="48" name="Text 42"/>
          <p:cNvSpPr txBox="1"/>
          <p:nvPr/>
        </p:nvSpPr>
        <p:spPr>
          <a:xfrm>
            <a:off x="7498080" y="4498848"/>
            <a:ext cx="1965960" cy="438912"/>
          </a:xfrm>
          <a:prstGeom prst="rect">
            <a:avLst/>
          </a:prstGeom>
          <a:noFill/>
          <a:ln/>
        </p:spPr>
        <p:txBody>
          <a:bodyPr wrap="square" lIns="0" tIns="0" rIns="0" bIns="0" rtlCol="0" anchor="ctr"/>
          <a:lstStyle/>
          <a:p>
            <a:pPr marL="0" indent="0" algn="ctr">
              <a:buNone/>
            </a:pPr>
            <a:r>
              <a:rPr lang="en-US" sz="1100" dirty="0">
                <a:solidFill>
                  <a:srgbClr val="0F2A43"/>
                </a:solidFill>
                <a:latin typeface="Calibri" pitchFamily="34" charset="0"/>
                <a:ea typeface="Calibri" pitchFamily="34" charset="-122"/>
                <a:cs typeface="Calibri" pitchFamily="34" charset="-120"/>
              </a:rPr>
              <a:t>Category</a:t>
            </a:r>
            <a:endParaRPr lang="en-US" sz="1100" dirty="0"/>
          </a:p>
        </p:txBody>
      </p:sp>
      <p:sp>
        <p:nvSpPr>
          <p:cNvPr id="49" name="Shape 43"/>
          <p:cNvSpPr/>
          <p:nvPr/>
        </p:nvSpPr>
        <p:spPr>
          <a:xfrm>
            <a:off x="9674352" y="4498848"/>
            <a:ext cx="1965960" cy="438912"/>
          </a:xfrm>
          <a:prstGeom prst="roundRect">
            <a:avLst>
              <a:gd name="adj" fmla="val 12500"/>
            </a:avLst>
          </a:prstGeom>
          <a:solidFill>
            <a:srgbClr val="FFFFFF"/>
          </a:solidFill>
          <a:ln w="12700">
            <a:solidFill>
              <a:srgbClr val="DCE3EA"/>
            </a:solidFill>
            <a:prstDash val="solid"/>
          </a:ln>
        </p:spPr>
      </p:sp>
      <p:sp>
        <p:nvSpPr>
          <p:cNvPr id="50" name="Text 44"/>
          <p:cNvSpPr txBox="1"/>
          <p:nvPr/>
        </p:nvSpPr>
        <p:spPr>
          <a:xfrm>
            <a:off x="9674352" y="4498848"/>
            <a:ext cx="1965960" cy="438912"/>
          </a:xfrm>
          <a:prstGeom prst="rect">
            <a:avLst/>
          </a:prstGeom>
          <a:noFill/>
          <a:ln/>
        </p:spPr>
        <p:txBody>
          <a:bodyPr wrap="square" lIns="0" tIns="0" rIns="0" bIns="0" rtlCol="0" anchor="ctr"/>
          <a:lstStyle/>
          <a:p>
            <a:pPr marL="0" indent="0" algn="ctr">
              <a:buNone/>
            </a:pPr>
            <a:r>
              <a:rPr lang="en-US" sz="1100" dirty="0">
                <a:solidFill>
                  <a:srgbClr val="0F2A43"/>
                </a:solidFill>
                <a:latin typeface="Calibri" pitchFamily="34" charset="0"/>
                <a:ea typeface="Calibri" pitchFamily="34" charset="-122"/>
                <a:cs typeface="Calibri" pitchFamily="34" charset="-120"/>
              </a:rPr>
              <a:t>Product</a:t>
            </a:r>
            <a:endParaRPr lang="en-US" sz="1100" dirty="0"/>
          </a:p>
        </p:txBody>
      </p:sp>
      <p:sp>
        <p:nvSpPr>
          <p:cNvPr id="51" name="Shape 45"/>
          <p:cNvSpPr/>
          <p:nvPr/>
        </p:nvSpPr>
        <p:spPr>
          <a:xfrm>
            <a:off x="7498080" y="5020056"/>
            <a:ext cx="1965960" cy="438912"/>
          </a:xfrm>
          <a:prstGeom prst="roundRect">
            <a:avLst>
              <a:gd name="adj" fmla="val 12500"/>
            </a:avLst>
          </a:prstGeom>
          <a:solidFill>
            <a:srgbClr val="FFFFFF"/>
          </a:solidFill>
          <a:ln w="12700">
            <a:solidFill>
              <a:srgbClr val="DCE3EA"/>
            </a:solidFill>
            <a:prstDash val="solid"/>
          </a:ln>
        </p:spPr>
      </p:sp>
      <p:sp>
        <p:nvSpPr>
          <p:cNvPr id="52" name="Text 46"/>
          <p:cNvSpPr txBox="1"/>
          <p:nvPr/>
        </p:nvSpPr>
        <p:spPr>
          <a:xfrm>
            <a:off x="7498080" y="5020056"/>
            <a:ext cx="1965960" cy="438912"/>
          </a:xfrm>
          <a:prstGeom prst="rect">
            <a:avLst/>
          </a:prstGeom>
          <a:noFill/>
          <a:ln/>
        </p:spPr>
        <p:txBody>
          <a:bodyPr wrap="square" lIns="0" tIns="0" rIns="0" bIns="0" rtlCol="0" anchor="ctr"/>
          <a:lstStyle/>
          <a:p>
            <a:pPr marL="0" indent="0" algn="ctr">
              <a:buNone/>
            </a:pPr>
            <a:r>
              <a:rPr lang="en-US" sz="1100" dirty="0">
                <a:solidFill>
                  <a:srgbClr val="0F2A43"/>
                </a:solidFill>
                <a:latin typeface="Calibri" pitchFamily="34" charset="0"/>
                <a:ea typeface="Calibri" pitchFamily="34" charset="-122"/>
                <a:cs typeface="Calibri" pitchFamily="34" charset="-120"/>
              </a:rPr>
              <a:t>Units Sold</a:t>
            </a:r>
            <a:endParaRPr lang="en-US" sz="1100" dirty="0"/>
          </a:p>
        </p:txBody>
      </p:sp>
      <p:sp>
        <p:nvSpPr>
          <p:cNvPr id="53" name="Shape 47"/>
          <p:cNvSpPr/>
          <p:nvPr/>
        </p:nvSpPr>
        <p:spPr>
          <a:xfrm>
            <a:off x="9674352" y="5020056"/>
            <a:ext cx="1965960" cy="438912"/>
          </a:xfrm>
          <a:prstGeom prst="roundRect">
            <a:avLst>
              <a:gd name="adj" fmla="val 12500"/>
            </a:avLst>
          </a:prstGeom>
          <a:solidFill>
            <a:srgbClr val="FFFFFF"/>
          </a:solidFill>
          <a:ln w="12700">
            <a:solidFill>
              <a:srgbClr val="DCE3EA"/>
            </a:solidFill>
            <a:prstDash val="solid"/>
          </a:ln>
        </p:spPr>
      </p:sp>
      <p:sp>
        <p:nvSpPr>
          <p:cNvPr id="54" name="Text 48"/>
          <p:cNvSpPr txBox="1"/>
          <p:nvPr/>
        </p:nvSpPr>
        <p:spPr>
          <a:xfrm>
            <a:off x="9674352" y="5020056"/>
            <a:ext cx="1965960" cy="438912"/>
          </a:xfrm>
          <a:prstGeom prst="rect">
            <a:avLst/>
          </a:prstGeom>
          <a:noFill/>
          <a:ln/>
        </p:spPr>
        <p:txBody>
          <a:bodyPr wrap="square" lIns="0" tIns="0" rIns="0" bIns="0" rtlCol="0" anchor="ctr"/>
          <a:lstStyle/>
          <a:p>
            <a:pPr marL="0" indent="0" algn="ctr">
              <a:buNone/>
            </a:pPr>
            <a:r>
              <a:rPr lang="en-US" sz="1100" dirty="0">
                <a:solidFill>
                  <a:srgbClr val="0F2A43"/>
                </a:solidFill>
                <a:latin typeface="Calibri" pitchFamily="34" charset="0"/>
                <a:ea typeface="Calibri" pitchFamily="34" charset="-122"/>
                <a:cs typeface="Calibri" pitchFamily="34" charset="-120"/>
              </a:rPr>
              <a:t>Unit Price</a:t>
            </a:r>
            <a:endParaRPr lang="en-US" sz="1100" dirty="0"/>
          </a:p>
        </p:txBody>
      </p:sp>
      <p:sp>
        <p:nvSpPr>
          <p:cNvPr id="55" name="Shape 49"/>
          <p:cNvSpPr/>
          <p:nvPr/>
        </p:nvSpPr>
        <p:spPr>
          <a:xfrm>
            <a:off x="7498080" y="5541264"/>
            <a:ext cx="1965960" cy="438912"/>
          </a:xfrm>
          <a:prstGeom prst="roundRect">
            <a:avLst>
              <a:gd name="adj" fmla="val 12500"/>
            </a:avLst>
          </a:prstGeom>
          <a:solidFill>
            <a:srgbClr val="FFFFFF"/>
          </a:solidFill>
          <a:ln w="12700">
            <a:solidFill>
              <a:srgbClr val="DCE3EA"/>
            </a:solidFill>
            <a:prstDash val="solid"/>
          </a:ln>
        </p:spPr>
      </p:sp>
      <p:sp>
        <p:nvSpPr>
          <p:cNvPr id="56" name="Text 50"/>
          <p:cNvSpPr txBox="1"/>
          <p:nvPr/>
        </p:nvSpPr>
        <p:spPr>
          <a:xfrm>
            <a:off x="7498080" y="5541264"/>
            <a:ext cx="1965960" cy="438912"/>
          </a:xfrm>
          <a:prstGeom prst="rect">
            <a:avLst/>
          </a:prstGeom>
          <a:noFill/>
          <a:ln/>
        </p:spPr>
        <p:txBody>
          <a:bodyPr wrap="square" lIns="0" tIns="0" rIns="0" bIns="0" rtlCol="0" anchor="ctr"/>
          <a:lstStyle/>
          <a:p>
            <a:pPr marL="0" indent="0" algn="ctr">
              <a:buNone/>
            </a:pPr>
            <a:r>
              <a:rPr lang="en-US" sz="1100" dirty="0">
                <a:solidFill>
                  <a:srgbClr val="0F2A43"/>
                </a:solidFill>
                <a:latin typeface="Calibri" pitchFamily="34" charset="0"/>
                <a:ea typeface="Calibri" pitchFamily="34" charset="-122"/>
                <a:cs typeface="Calibri" pitchFamily="34" charset="-120"/>
              </a:rPr>
              <a:t>Revenue</a:t>
            </a:r>
            <a:endParaRPr lang="en-US" sz="1100" dirty="0"/>
          </a:p>
        </p:txBody>
      </p:sp>
      <p:sp>
        <p:nvSpPr>
          <p:cNvPr id="57" name="Shape 51"/>
          <p:cNvSpPr/>
          <p:nvPr/>
        </p:nvSpPr>
        <p:spPr>
          <a:xfrm>
            <a:off x="9674352" y="5541264"/>
            <a:ext cx="1965960" cy="438912"/>
          </a:xfrm>
          <a:prstGeom prst="roundRect">
            <a:avLst>
              <a:gd name="adj" fmla="val 12500"/>
            </a:avLst>
          </a:prstGeom>
          <a:solidFill>
            <a:srgbClr val="FFFFFF"/>
          </a:solidFill>
          <a:ln w="12700">
            <a:solidFill>
              <a:srgbClr val="DCE3EA"/>
            </a:solidFill>
            <a:prstDash val="solid"/>
          </a:ln>
        </p:spPr>
      </p:sp>
      <p:sp>
        <p:nvSpPr>
          <p:cNvPr id="58" name="Text 52"/>
          <p:cNvSpPr txBox="1"/>
          <p:nvPr/>
        </p:nvSpPr>
        <p:spPr>
          <a:xfrm>
            <a:off x="9674352" y="5541264"/>
            <a:ext cx="1965960" cy="438912"/>
          </a:xfrm>
          <a:prstGeom prst="rect">
            <a:avLst/>
          </a:prstGeom>
          <a:noFill/>
          <a:ln/>
        </p:spPr>
        <p:txBody>
          <a:bodyPr wrap="square" lIns="0" tIns="0" rIns="0" bIns="0" rtlCol="0" anchor="ctr"/>
          <a:lstStyle/>
          <a:p>
            <a:pPr marL="0" indent="0" algn="ctr">
              <a:buNone/>
            </a:pPr>
            <a:r>
              <a:rPr lang="en-US" sz="1100" dirty="0">
                <a:solidFill>
                  <a:srgbClr val="0F2A43"/>
                </a:solidFill>
                <a:latin typeface="Calibri" pitchFamily="34" charset="0"/>
                <a:ea typeface="Calibri" pitchFamily="34" charset="-122"/>
                <a:cs typeface="Calibri" pitchFamily="34" charset="-120"/>
              </a:rPr>
              <a:t>Discount %</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56032"/>
          </a:xfrm>
          <a:prstGeom prst="rect">
            <a:avLst/>
          </a:prstGeom>
          <a:noFill/>
          <a:ln/>
        </p:spPr>
        <p:txBody>
          <a:bodyPr wrap="square" lIns="0" tIns="0" rIns="0" bIns="0" rtlCol="0" anchor="ctr"/>
          <a:lstStyle/>
          <a:p>
            <a:pPr marL="0" indent="0">
              <a:buNone/>
            </a:pPr>
            <a:r>
              <a:rPr lang="en-US" sz="1100" b="1" kern="0" spc="200" dirty="0">
                <a:solidFill>
                  <a:srgbClr val="E08A1E"/>
                </a:solidFill>
                <a:latin typeface="Calibri" pitchFamily="34" charset="0"/>
                <a:ea typeface="Calibri" pitchFamily="34" charset="-122"/>
                <a:cs typeface="Calibri" pitchFamily="34" charset="-120"/>
              </a:rPr>
              <a:t>STEP 6.2  ·  THE MOST IMPORTANT CHART</a:t>
            </a:r>
            <a:endParaRPr lang="en-US" sz="1100" dirty="0"/>
          </a:p>
        </p:txBody>
      </p:sp>
      <p:sp>
        <p:nvSpPr>
          <p:cNvPr id="3" name="Text 1"/>
          <p:cNvSpPr txBox="1"/>
          <p:nvPr/>
        </p:nvSpPr>
        <p:spPr>
          <a:xfrm>
            <a:off x="548640" y="566928"/>
            <a:ext cx="10515600" cy="658368"/>
          </a:xfrm>
          <a:prstGeom prst="rect">
            <a:avLst/>
          </a:prstGeom>
          <a:noFill/>
          <a:ln/>
        </p:spPr>
        <p:txBody>
          <a:bodyPr wrap="square" lIns="0" tIns="0" rIns="0" bIns="0" rtlCol="0" anchor="ctr"/>
          <a:lstStyle/>
          <a:p>
            <a:pPr marL="0" indent="0">
              <a:buNone/>
            </a:pPr>
            <a:r>
              <a:rPr lang="en-US" sz="3200" b="1" dirty="0">
                <a:solidFill>
                  <a:srgbClr val="0F2A43"/>
                </a:solidFill>
                <a:latin typeface="Cambria" pitchFamily="34" charset="0"/>
                <a:ea typeface="Cambria" pitchFamily="34" charset="-122"/>
                <a:cs typeface="Cambria" pitchFamily="34" charset="-120"/>
              </a:rPr>
              <a:t>Category Revenue Trend — January to June 2026</a:t>
            </a:r>
            <a:endParaRPr lang="en-US" sz="3200" dirty="0"/>
          </a:p>
        </p:txBody>
      </p:sp>
      <p:sp>
        <p:nvSpPr>
          <p:cNvPr id="5" name="Text 3"/>
          <p:cNvSpPr txBox="1"/>
          <p:nvPr/>
        </p:nvSpPr>
        <p:spPr>
          <a:xfrm>
            <a:off x="6400800" y="6336792"/>
            <a:ext cx="5239512" cy="274320"/>
          </a:xfrm>
          <a:prstGeom prst="rect">
            <a:avLst/>
          </a:prstGeom>
          <a:noFill/>
          <a:ln/>
        </p:spPr>
        <p:txBody>
          <a:bodyPr wrap="square" lIns="0" tIns="0" rIns="0" bIns="0" rtlCol="0" anchor="ctr"/>
          <a:lstStyle/>
          <a:p>
            <a:pPr marL="0" indent="0" algn="r">
              <a:buNone/>
            </a:pPr>
            <a:r>
              <a:rPr lang="en-US" sz="1000" dirty="0">
                <a:solidFill>
                  <a:srgbClr val="A6B2BD"/>
                </a:solidFill>
                <a:latin typeface="Calibri" pitchFamily="34" charset="0"/>
                <a:ea typeface="Calibri" pitchFamily="34" charset="-122"/>
                <a:cs typeface="Calibri" pitchFamily="34" charset="-120"/>
              </a:rPr>
              <a:t>GROUP 12  ·  Category Intelligence</a:t>
            </a:r>
            <a:endParaRPr lang="en-US" sz="1000" dirty="0"/>
          </a:p>
        </p:txBody>
      </p:sp>
      <p:pic>
        <p:nvPicPr>
          <p:cNvPr id="6" name="Image 0" descr="sl_trend.png"/>
          <p:cNvPicPr>
            <a:picLocks noChangeAspect="1"/>
          </p:cNvPicPr>
          <p:nvPr/>
        </p:nvPicPr>
        <p:blipFill>
          <a:blip r:embed="rId3"/>
          <a:stretch>
            <a:fillRect/>
          </a:stretch>
        </p:blipFill>
        <p:spPr>
          <a:xfrm>
            <a:off x="548640" y="1371600"/>
            <a:ext cx="7086600" cy="4389120"/>
          </a:xfrm>
          <a:prstGeom prst="rect">
            <a:avLst/>
          </a:prstGeom>
        </p:spPr>
      </p:pic>
      <p:sp>
        <p:nvSpPr>
          <p:cNvPr id="7" name="Shape 4"/>
          <p:cNvSpPr/>
          <p:nvPr/>
        </p:nvSpPr>
        <p:spPr>
          <a:xfrm>
            <a:off x="7882128" y="1481328"/>
            <a:ext cx="3758184" cy="1298448"/>
          </a:xfrm>
          <a:prstGeom prst="roundRect">
            <a:avLst>
              <a:gd name="adj" fmla="val 5634"/>
            </a:avLst>
          </a:prstGeom>
          <a:solidFill>
            <a:srgbClr val="F2F5F8"/>
          </a:solidFill>
          <a:ln w="12700">
            <a:solidFill>
              <a:srgbClr val="DCE3EA"/>
            </a:solidFill>
            <a:prstDash val="solid"/>
          </a:ln>
        </p:spPr>
      </p:sp>
      <p:sp>
        <p:nvSpPr>
          <p:cNvPr id="8" name="Shape 5"/>
          <p:cNvSpPr/>
          <p:nvPr/>
        </p:nvSpPr>
        <p:spPr>
          <a:xfrm>
            <a:off x="8101584" y="1719072"/>
            <a:ext cx="182880" cy="182880"/>
          </a:xfrm>
          <a:prstGeom prst="ellipse">
            <a:avLst/>
          </a:prstGeom>
          <a:solidFill>
            <a:srgbClr val="B3261E"/>
          </a:solidFill>
          <a:ln/>
        </p:spPr>
      </p:sp>
      <p:sp>
        <p:nvSpPr>
          <p:cNvPr id="9" name="Text 6"/>
          <p:cNvSpPr txBox="1"/>
          <p:nvPr/>
        </p:nvSpPr>
        <p:spPr>
          <a:xfrm>
            <a:off x="8375904" y="1645920"/>
            <a:ext cx="3108960" cy="310896"/>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Steepest decline: Electronics</a:t>
            </a:r>
            <a:endParaRPr lang="en-US" sz="1300" dirty="0"/>
          </a:p>
        </p:txBody>
      </p:sp>
      <p:sp>
        <p:nvSpPr>
          <p:cNvPr id="10" name="Text 7"/>
          <p:cNvSpPr txBox="1"/>
          <p:nvPr/>
        </p:nvSpPr>
        <p:spPr>
          <a:xfrm>
            <a:off x="8101584" y="1984248"/>
            <a:ext cx="3291840" cy="713232"/>
          </a:xfrm>
          <a:prstGeom prst="rect">
            <a:avLst/>
          </a:prstGeom>
          <a:noFill/>
          <a:ln/>
        </p:spPr>
        <p:txBody>
          <a:bodyPr wrap="square" lIns="0" tIns="0" rIns="0" bIns="0" rtlCol="0" anchor="ctr"/>
          <a:lstStyle/>
          <a:p>
            <a:pPr marL="0" indent="0">
              <a:buNone/>
            </a:pPr>
            <a:r>
              <a:rPr lang="en-US" sz="1150" dirty="0">
                <a:solidFill>
                  <a:srgbClr val="5A6B7B"/>
                </a:solidFill>
                <a:latin typeface="Calibri" pitchFamily="34" charset="0"/>
                <a:ea typeface="Calibri" pitchFamily="34" charset="-122"/>
                <a:cs typeface="Calibri" pitchFamily="34" charset="-120"/>
              </a:rPr>
              <a:t>₹4.57 Cr → ₹2.97 Cr. Down 35.02% — a ₹1.60 Cr loss, larger than the chain's entire ₹1.55 Cr decline.</a:t>
            </a:r>
            <a:endParaRPr lang="en-US" sz="1150" dirty="0"/>
          </a:p>
        </p:txBody>
      </p:sp>
      <p:sp>
        <p:nvSpPr>
          <p:cNvPr id="11" name="Shape 8"/>
          <p:cNvSpPr/>
          <p:nvPr/>
        </p:nvSpPr>
        <p:spPr>
          <a:xfrm>
            <a:off x="7882128" y="2944368"/>
            <a:ext cx="3758184" cy="1298448"/>
          </a:xfrm>
          <a:prstGeom prst="roundRect">
            <a:avLst>
              <a:gd name="adj" fmla="val 5634"/>
            </a:avLst>
          </a:prstGeom>
          <a:solidFill>
            <a:srgbClr val="F2F5F8"/>
          </a:solidFill>
          <a:ln w="12700">
            <a:solidFill>
              <a:srgbClr val="DCE3EA"/>
            </a:solidFill>
            <a:prstDash val="solid"/>
          </a:ln>
        </p:spPr>
      </p:sp>
      <p:sp>
        <p:nvSpPr>
          <p:cNvPr id="12" name="Shape 9"/>
          <p:cNvSpPr/>
          <p:nvPr/>
        </p:nvSpPr>
        <p:spPr>
          <a:xfrm>
            <a:off x="8101584" y="3182112"/>
            <a:ext cx="182880" cy="182880"/>
          </a:xfrm>
          <a:prstGeom prst="ellipse">
            <a:avLst/>
          </a:prstGeom>
          <a:solidFill>
            <a:srgbClr val="2E7D32"/>
          </a:solidFill>
          <a:ln/>
        </p:spPr>
      </p:sp>
      <p:sp>
        <p:nvSpPr>
          <p:cNvPr id="13" name="Text 10"/>
          <p:cNvSpPr txBox="1"/>
          <p:nvPr/>
        </p:nvSpPr>
        <p:spPr>
          <a:xfrm>
            <a:off x="8375904" y="3108960"/>
            <a:ext cx="3108960" cy="310896"/>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Strongest growth: Apparel</a:t>
            </a:r>
            <a:endParaRPr lang="en-US" sz="1300" dirty="0"/>
          </a:p>
        </p:txBody>
      </p:sp>
      <p:sp>
        <p:nvSpPr>
          <p:cNvPr id="14" name="Text 11"/>
          <p:cNvSpPr txBox="1"/>
          <p:nvPr/>
        </p:nvSpPr>
        <p:spPr>
          <a:xfrm>
            <a:off x="8101584" y="3447288"/>
            <a:ext cx="3291840" cy="713232"/>
          </a:xfrm>
          <a:prstGeom prst="rect">
            <a:avLst/>
          </a:prstGeom>
          <a:noFill/>
          <a:ln/>
        </p:spPr>
        <p:txBody>
          <a:bodyPr wrap="square" lIns="0" tIns="0" rIns="0" bIns="0" rtlCol="0" anchor="ctr"/>
          <a:lstStyle/>
          <a:p>
            <a:pPr marL="0" indent="0">
              <a:buNone/>
            </a:pPr>
            <a:r>
              <a:rPr lang="en-US" sz="1150" dirty="0">
                <a:solidFill>
                  <a:srgbClr val="5A6B7B"/>
                </a:solidFill>
                <a:latin typeface="Calibri" pitchFamily="34" charset="0"/>
                <a:ea typeface="Calibri" pitchFamily="34" charset="-122"/>
                <a:cs typeface="Calibri" pitchFamily="34" charset="-120"/>
              </a:rPr>
              <a:t>₹1.00 Cr → ₹1.35 Cr, up 34.10%, rising in every month except February.</a:t>
            </a:r>
            <a:endParaRPr lang="en-US" sz="1150" dirty="0"/>
          </a:p>
        </p:txBody>
      </p:sp>
      <p:sp>
        <p:nvSpPr>
          <p:cNvPr id="15" name="Shape 12"/>
          <p:cNvSpPr/>
          <p:nvPr/>
        </p:nvSpPr>
        <p:spPr>
          <a:xfrm>
            <a:off x="7882128" y="4407408"/>
            <a:ext cx="3758184" cy="1298448"/>
          </a:xfrm>
          <a:prstGeom prst="roundRect">
            <a:avLst>
              <a:gd name="adj" fmla="val 5634"/>
            </a:avLst>
          </a:prstGeom>
          <a:solidFill>
            <a:srgbClr val="F2F5F8"/>
          </a:solidFill>
          <a:ln w="12700">
            <a:solidFill>
              <a:srgbClr val="DCE3EA"/>
            </a:solidFill>
            <a:prstDash val="solid"/>
          </a:ln>
        </p:spPr>
      </p:sp>
      <p:sp>
        <p:nvSpPr>
          <p:cNvPr id="16" name="Shape 13"/>
          <p:cNvSpPr/>
          <p:nvPr/>
        </p:nvSpPr>
        <p:spPr>
          <a:xfrm>
            <a:off x="8101584" y="4645152"/>
            <a:ext cx="182880" cy="182880"/>
          </a:xfrm>
          <a:prstGeom prst="ellipse">
            <a:avLst/>
          </a:prstGeom>
          <a:solidFill>
            <a:srgbClr val="0F2A43"/>
          </a:solidFill>
          <a:ln/>
        </p:spPr>
      </p:sp>
      <p:sp>
        <p:nvSpPr>
          <p:cNvPr id="17" name="Text 14"/>
          <p:cNvSpPr txBox="1"/>
          <p:nvPr/>
        </p:nvSpPr>
        <p:spPr>
          <a:xfrm>
            <a:off x="8375904" y="4572000"/>
            <a:ext cx="3108960" cy="310896"/>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Most consistent: Grocery</a:t>
            </a:r>
            <a:endParaRPr lang="en-US" sz="1300" dirty="0"/>
          </a:p>
        </p:txBody>
      </p:sp>
      <p:sp>
        <p:nvSpPr>
          <p:cNvPr id="18" name="Text 15"/>
          <p:cNvSpPr txBox="1"/>
          <p:nvPr/>
        </p:nvSpPr>
        <p:spPr>
          <a:xfrm>
            <a:off x="8101584" y="4910328"/>
            <a:ext cx="3291840" cy="713232"/>
          </a:xfrm>
          <a:prstGeom prst="rect">
            <a:avLst/>
          </a:prstGeom>
          <a:noFill/>
          <a:ln/>
        </p:spPr>
        <p:txBody>
          <a:bodyPr wrap="square" lIns="0" tIns="0" rIns="0" bIns="0" rtlCol="0" anchor="ctr"/>
          <a:lstStyle/>
          <a:p>
            <a:pPr marL="0" indent="0">
              <a:buNone/>
            </a:pPr>
            <a:r>
              <a:rPr lang="en-US" sz="1150" dirty="0">
                <a:solidFill>
                  <a:srgbClr val="5A6B7B"/>
                </a:solidFill>
                <a:latin typeface="Calibri" pitchFamily="34" charset="0"/>
                <a:ea typeface="Calibri" pitchFamily="34" charset="-122"/>
                <a:cs typeface="Calibri" pitchFamily="34" charset="-120"/>
              </a:rPr>
              <a:t>Coefficient of variation of just 3.87% across the six months — steady, but flat at −3.55%.</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56032"/>
          </a:xfrm>
          <a:prstGeom prst="rect">
            <a:avLst/>
          </a:prstGeom>
          <a:noFill/>
          <a:ln/>
        </p:spPr>
        <p:txBody>
          <a:bodyPr wrap="square" lIns="0" tIns="0" rIns="0" bIns="0" rtlCol="0" anchor="ctr"/>
          <a:lstStyle/>
          <a:p>
            <a:pPr marL="0" indent="0">
              <a:buNone/>
            </a:pPr>
            <a:r>
              <a:rPr lang="en-US" sz="1100" b="1" kern="0" spc="200" dirty="0">
                <a:solidFill>
                  <a:srgbClr val="E08A1E"/>
                </a:solidFill>
                <a:latin typeface="Calibri" pitchFamily="34" charset="0"/>
                <a:ea typeface="Calibri" pitchFamily="34" charset="-122"/>
                <a:cs typeface="Calibri" pitchFamily="34" charset="-120"/>
              </a:rPr>
              <a:t>FROM DATA SIGNAL TO BUSINESS SIGNAL</a:t>
            </a:r>
            <a:endParaRPr lang="en-US" sz="1100" dirty="0"/>
          </a:p>
        </p:txBody>
      </p:sp>
      <p:sp>
        <p:nvSpPr>
          <p:cNvPr id="3" name="Text 1"/>
          <p:cNvSpPr txBox="1"/>
          <p:nvPr/>
        </p:nvSpPr>
        <p:spPr>
          <a:xfrm>
            <a:off x="548640" y="566928"/>
            <a:ext cx="10515600" cy="658368"/>
          </a:xfrm>
          <a:prstGeom prst="rect">
            <a:avLst/>
          </a:prstGeom>
          <a:noFill/>
          <a:ln/>
        </p:spPr>
        <p:txBody>
          <a:bodyPr wrap="square" lIns="0" tIns="0" rIns="0" bIns="0" rtlCol="0" anchor="ctr"/>
          <a:lstStyle/>
          <a:p>
            <a:pPr marL="0" indent="0">
              <a:buNone/>
            </a:pPr>
            <a:r>
              <a:rPr lang="en-US" sz="3200" b="1" dirty="0">
                <a:solidFill>
                  <a:srgbClr val="0F2A43"/>
                </a:solidFill>
                <a:latin typeface="Cambria" pitchFamily="34" charset="0"/>
                <a:ea typeface="Cambria" pitchFamily="34" charset="-122"/>
                <a:cs typeface="Cambria" pitchFamily="34" charset="-120"/>
              </a:rPr>
              <a:t>What Does the Trend Mean for the Business?</a:t>
            </a:r>
            <a:endParaRPr lang="en-US" sz="3200" dirty="0"/>
          </a:p>
        </p:txBody>
      </p:sp>
      <p:sp>
        <p:nvSpPr>
          <p:cNvPr id="5" name="Text 3"/>
          <p:cNvSpPr txBox="1"/>
          <p:nvPr/>
        </p:nvSpPr>
        <p:spPr>
          <a:xfrm>
            <a:off x="6400800" y="6336792"/>
            <a:ext cx="5239512" cy="274320"/>
          </a:xfrm>
          <a:prstGeom prst="rect">
            <a:avLst/>
          </a:prstGeom>
          <a:noFill/>
          <a:ln/>
        </p:spPr>
        <p:txBody>
          <a:bodyPr wrap="square" lIns="0" tIns="0" rIns="0" bIns="0" rtlCol="0" anchor="ctr"/>
          <a:lstStyle/>
          <a:p>
            <a:pPr marL="0" indent="0" algn="r">
              <a:buNone/>
            </a:pPr>
            <a:r>
              <a:rPr lang="en-US" sz="1000" dirty="0">
                <a:solidFill>
                  <a:srgbClr val="A6B2BD"/>
                </a:solidFill>
                <a:latin typeface="Calibri" pitchFamily="34" charset="0"/>
                <a:ea typeface="Calibri" pitchFamily="34" charset="-122"/>
                <a:cs typeface="Calibri" pitchFamily="34" charset="-120"/>
              </a:rPr>
              <a:t>GROUP 12  ·  Category Intelligence</a:t>
            </a:r>
            <a:endParaRPr lang="en-US" sz="1000" dirty="0"/>
          </a:p>
        </p:txBody>
      </p:sp>
      <p:sp>
        <p:nvSpPr>
          <p:cNvPr id="6" name="Shape 4"/>
          <p:cNvSpPr/>
          <p:nvPr/>
        </p:nvSpPr>
        <p:spPr>
          <a:xfrm>
            <a:off x="548640" y="1371600"/>
            <a:ext cx="11091672" cy="868680"/>
          </a:xfrm>
          <a:prstGeom prst="roundRect">
            <a:avLst>
              <a:gd name="adj" fmla="val 8421"/>
            </a:avLst>
          </a:prstGeom>
          <a:solidFill>
            <a:srgbClr val="F2F5F8"/>
          </a:solidFill>
          <a:ln w="12700">
            <a:solidFill>
              <a:srgbClr val="DCE3EA"/>
            </a:solidFill>
            <a:prstDash val="solid"/>
          </a:ln>
        </p:spPr>
      </p:sp>
      <p:sp>
        <p:nvSpPr>
          <p:cNvPr id="7" name="Shape 5"/>
          <p:cNvSpPr/>
          <p:nvPr/>
        </p:nvSpPr>
        <p:spPr>
          <a:xfrm>
            <a:off x="749808" y="1609344"/>
            <a:ext cx="402336" cy="402336"/>
          </a:xfrm>
          <a:prstGeom prst="ellipse">
            <a:avLst/>
          </a:prstGeom>
          <a:solidFill>
            <a:srgbClr val="2E7D32"/>
          </a:solidFill>
          <a:ln/>
        </p:spPr>
      </p:sp>
      <p:pic>
        <p:nvPicPr>
          <p:cNvPr id="8" name="Image 0" descr="icon_up_w.png"/>
          <p:cNvPicPr>
            <a:picLocks noChangeAspect="1"/>
          </p:cNvPicPr>
          <p:nvPr/>
        </p:nvPicPr>
        <p:blipFill>
          <a:blip r:embed="rId3"/>
          <a:stretch>
            <a:fillRect/>
          </a:stretch>
        </p:blipFill>
        <p:spPr>
          <a:xfrm>
            <a:off x="850392" y="1709928"/>
            <a:ext cx="201168" cy="201168"/>
          </a:xfrm>
          <a:prstGeom prst="rect">
            <a:avLst/>
          </a:prstGeom>
        </p:spPr>
      </p:pic>
      <p:sp>
        <p:nvSpPr>
          <p:cNvPr id="9" name="Text 6"/>
          <p:cNvSpPr txBox="1"/>
          <p:nvPr/>
        </p:nvSpPr>
        <p:spPr>
          <a:xfrm>
            <a:off x="1298448" y="1527048"/>
            <a:ext cx="2011680" cy="292608"/>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Apparel</a:t>
            </a:r>
            <a:endParaRPr lang="en-US" sz="1450" dirty="0"/>
          </a:p>
        </p:txBody>
      </p:sp>
      <p:sp>
        <p:nvSpPr>
          <p:cNvPr id="10" name="Text 7"/>
          <p:cNvSpPr txBox="1"/>
          <p:nvPr/>
        </p:nvSpPr>
        <p:spPr>
          <a:xfrm>
            <a:off x="1298448" y="1828800"/>
            <a:ext cx="2011680" cy="274320"/>
          </a:xfrm>
          <a:prstGeom prst="rect">
            <a:avLst/>
          </a:prstGeom>
          <a:noFill/>
          <a:ln/>
        </p:spPr>
        <p:txBody>
          <a:bodyPr wrap="square" lIns="0" tIns="0" rIns="0" bIns="0" rtlCol="0" anchor="ctr"/>
          <a:lstStyle/>
          <a:p>
            <a:pPr marL="0" indent="0">
              <a:buNone/>
            </a:pPr>
            <a:r>
              <a:rPr lang="en-US" sz="1100" dirty="0">
                <a:solidFill>
                  <a:srgbClr val="5A6B7B"/>
                </a:solidFill>
                <a:latin typeface="Calibri" pitchFamily="34" charset="0"/>
                <a:ea typeface="Calibri" pitchFamily="34" charset="-122"/>
                <a:cs typeface="Calibri" pitchFamily="34" charset="-120"/>
              </a:rPr>
              <a:t>₹1.00 Cr → ₹1.35 Cr</a:t>
            </a:r>
            <a:endParaRPr lang="en-US" sz="1100" dirty="0"/>
          </a:p>
        </p:txBody>
      </p:sp>
      <p:sp>
        <p:nvSpPr>
          <p:cNvPr id="11" name="Text 8"/>
          <p:cNvSpPr txBox="1"/>
          <p:nvPr/>
        </p:nvSpPr>
        <p:spPr>
          <a:xfrm>
            <a:off x="3383280" y="1618488"/>
            <a:ext cx="1234440" cy="384048"/>
          </a:xfrm>
          <a:prstGeom prst="rect">
            <a:avLst/>
          </a:prstGeom>
          <a:noFill/>
          <a:ln/>
        </p:spPr>
        <p:txBody>
          <a:bodyPr wrap="square" lIns="0" tIns="0" rIns="0" bIns="0" rtlCol="0" anchor="ctr"/>
          <a:lstStyle/>
          <a:p>
            <a:pPr marL="0" indent="0">
              <a:buNone/>
            </a:pPr>
            <a:r>
              <a:rPr lang="en-US" sz="1900" b="1" dirty="0">
                <a:solidFill>
                  <a:srgbClr val="2E7D32"/>
                </a:solidFill>
                <a:latin typeface="Cambria" pitchFamily="34" charset="0"/>
                <a:ea typeface="Cambria" pitchFamily="34" charset="-122"/>
                <a:cs typeface="Cambria" pitchFamily="34" charset="-120"/>
              </a:rPr>
              <a:t>+34.10%</a:t>
            </a:r>
            <a:endParaRPr lang="en-US" sz="1900" dirty="0"/>
          </a:p>
        </p:txBody>
      </p:sp>
      <p:sp>
        <p:nvSpPr>
          <p:cNvPr id="12" name="Text 9"/>
          <p:cNvSpPr txBox="1"/>
          <p:nvPr/>
        </p:nvSpPr>
        <p:spPr>
          <a:xfrm>
            <a:off x="4800600" y="1536192"/>
            <a:ext cx="6583680" cy="566928"/>
          </a:xfrm>
          <a:prstGeom prst="rect">
            <a:avLst/>
          </a:prstGeom>
          <a:noFill/>
          <a:ln/>
        </p:spPr>
        <p:txBody>
          <a:bodyPr wrap="square" lIns="0" tIns="0" rIns="0" bIns="0" rtlCol="0" anchor="ctr"/>
          <a:lstStyle/>
          <a:p>
            <a:pPr marL="0" indent="0">
              <a:buNone/>
            </a:pPr>
            <a:r>
              <a:rPr lang="en-US" sz="1200" dirty="0">
                <a:solidFill>
                  <a:srgbClr val="33465A"/>
                </a:solidFill>
                <a:latin typeface="Calibri" pitchFamily="34" charset="0"/>
                <a:ea typeface="Calibri" pitchFamily="34" charset="-122"/>
                <a:cs typeface="Calibri" pitchFamily="34" charset="-120"/>
              </a:rPr>
              <a:t>Growing against a declining chain — the strongest evidence-based case for more shelf space and promotional funding.</a:t>
            </a:r>
            <a:endParaRPr lang="en-US" sz="1200" dirty="0"/>
          </a:p>
        </p:txBody>
      </p:sp>
      <p:sp>
        <p:nvSpPr>
          <p:cNvPr id="13" name="Shape 10"/>
          <p:cNvSpPr/>
          <p:nvPr/>
        </p:nvSpPr>
        <p:spPr>
          <a:xfrm>
            <a:off x="548640" y="2313432"/>
            <a:ext cx="11091672" cy="868680"/>
          </a:xfrm>
          <a:prstGeom prst="roundRect">
            <a:avLst>
              <a:gd name="adj" fmla="val 8421"/>
            </a:avLst>
          </a:prstGeom>
          <a:solidFill>
            <a:srgbClr val="F2F5F8"/>
          </a:solidFill>
          <a:ln w="12700">
            <a:solidFill>
              <a:srgbClr val="DCE3EA"/>
            </a:solidFill>
            <a:prstDash val="solid"/>
          </a:ln>
        </p:spPr>
      </p:sp>
      <p:sp>
        <p:nvSpPr>
          <p:cNvPr id="14" name="Shape 11"/>
          <p:cNvSpPr/>
          <p:nvPr/>
        </p:nvSpPr>
        <p:spPr>
          <a:xfrm>
            <a:off x="749808" y="2551176"/>
            <a:ext cx="402336" cy="402336"/>
          </a:xfrm>
          <a:prstGeom prst="ellipse">
            <a:avLst/>
          </a:prstGeom>
          <a:solidFill>
            <a:srgbClr val="5A6B7B"/>
          </a:solidFill>
          <a:ln/>
        </p:spPr>
      </p:sp>
      <p:pic>
        <p:nvPicPr>
          <p:cNvPr id="15" name="Image 1" descr="icon_flat_w.png"/>
          <p:cNvPicPr>
            <a:picLocks noChangeAspect="1"/>
          </p:cNvPicPr>
          <p:nvPr/>
        </p:nvPicPr>
        <p:blipFill>
          <a:blip r:embed="rId4"/>
          <a:stretch>
            <a:fillRect/>
          </a:stretch>
        </p:blipFill>
        <p:spPr>
          <a:xfrm>
            <a:off x="850392" y="2651760"/>
            <a:ext cx="201168" cy="201168"/>
          </a:xfrm>
          <a:prstGeom prst="rect">
            <a:avLst/>
          </a:prstGeom>
        </p:spPr>
      </p:pic>
      <p:sp>
        <p:nvSpPr>
          <p:cNvPr id="16" name="Text 12"/>
          <p:cNvSpPr txBox="1"/>
          <p:nvPr/>
        </p:nvSpPr>
        <p:spPr>
          <a:xfrm>
            <a:off x="1298448" y="2468880"/>
            <a:ext cx="2011680" cy="292608"/>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Personal Care</a:t>
            </a:r>
            <a:endParaRPr lang="en-US" sz="1450" dirty="0"/>
          </a:p>
        </p:txBody>
      </p:sp>
      <p:sp>
        <p:nvSpPr>
          <p:cNvPr id="17" name="Text 13"/>
          <p:cNvSpPr txBox="1"/>
          <p:nvPr/>
        </p:nvSpPr>
        <p:spPr>
          <a:xfrm>
            <a:off x="1298448" y="2770632"/>
            <a:ext cx="2011680" cy="274320"/>
          </a:xfrm>
          <a:prstGeom prst="rect">
            <a:avLst/>
          </a:prstGeom>
          <a:noFill/>
          <a:ln/>
        </p:spPr>
        <p:txBody>
          <a:bodyPr wrap="square" lIns="0" tIns="0" rIns="0" bIns="0" rtlCol="0" anchor="ctr"/>
          <a:lstStyle/>
          <a:p>
            <a:pPr marL="0" indent="0">
              <a:buNone/>
            </a:pPr>
            <a:r>
              <a:rPr lang="en-US" sz="1100" dirty="0">
                <a:solidFill>
                  <a:srgbClr val="5A6B7B"/>
                </a:solidFill>
                <a:latin typeface="Calibri" pitchFamily="34" charset="0"/>
                <a:ea typeface="Calibri" pitchFamily="34" charset="-122"/>
                <a:cs typeface="Calibri" pitchFamily="34" charset="-120"/>
              </a:rPr>
              <a:t>₹65.9 L → ₹67.4 L</a:t>
            </a:r>
            <a:endParaRPr lang="en-US" sz="1100" dirty="0"/>
          </a:p>
        </p:txBody>
      </p:sp>
      <p:sp>
        <p:nvSpPr>
          <p:cNvPr id="18" name="Text 14"/>
          <p:cNvSpPr txBox="1"/>
          <p:nvPr/>
        </p:nvSpPr>
        <p:spPr>
          <a:xfrm>
            <a:off x="3383280" y="2560320"/>
            <a:ext cx="1234440" cy="384048"/>
          </a:xfrm>
          <a:prstGeom prst="rect">
            <a:avLst/>
          </a:prstGeom>
          <a:noFill/>
          <a:ln/>
        </p:spPr>
        <p:txBody>
          <a:bodyPr wrap="square" lIns="0" tIns="0" rIns="0" bIns="0" rtlCol="0" anchor="ctr"/>
          <a:lstStyle/>
          <a:p>
            <a:pPr marL="0" indent="0">
              <a:buNone/>
            </a:pPr>
            <a:r>
              <a:rPr lang="en-US" sz="1900" b="1" dirty="0">
                <a:solidFill>
                  <a:srgbClr val="5A6B7B"/>
                </a:solidFill>
                <a:latin typeface="Cambria" pitchFamily="34" charset="0"/>
                <a:ea typeface="Cambria" pitchFamily="34" charset="-122"/>
                <a:cs typeface="Cambria" pitchFamily="34" charset="-120"/>
              </a:rPr>
              <a:t>+2.18%</a:t>
            </a:r>
            <a:endParaRPr lang="en-US" sz="1900" dirty="0"/>
          </a:p>
        </p:txBody>
      </p:sp>
      <p:sp>
        <p:nvSpPr>
          <p:cNvPr id="19" name="Text 15"/>
          <p:cNvSpPr txBox="1"/>
          <p:nvPr/>
        </p:nvSpPr>
        <p:spPr>
          <a:xfrm>
            <a:off x="4800600" y="2478024"/>
            <a:ext cx="6583680" cy="566928"/>
          </a:xfrm>
          <a:prstGeom prst="rect">
            <a:avLst/>
          </a:prstGeom>
          <a:noFill/>
          <a:ln/>
        </p:spPr>
        <p:txBody>
          <a:bodyPr wrap="square" lIns="0" tIns="0" rIns="0" bIns="0" rtlCol="0" anchor="ctr"/>
          <a:lstStyle/>
          <a:p>
            <a:pPr marL="0" indent="0">
              <a:buNone/>
            </a:pPr>
            <a:r>
              <a:rPr lang="en-US" sz="1200" dirty="0">
                <a:solidFill>
                  <a:srgbClr val="33465A"/>
                </a:solidFill>
                <a:latin typeface="Calibri" pitchFamily="34" charset="0"/>
                <a:ea typeface="Calibri" pitchFamily="34" charset="-122"/>
                <a:cs typeface="Calibri" pitchFamily="34" charset="-120"/>
              </a:rPr>
              <a:t>Broadly stable. Hold current space; no case for extra investment either way.</a:t>
            </a:r>
            <a:endParaRPr lang="en-US" sz="1200" dirty="0"/>
          </a:p>
        </p:txBody>
      </p:sp>
      <p:sp>
        <p:nvSpPr>
          <p:cNvPr id="20" name="Shape 16"/>
          <p:cNvSpPr/>
          <p:nvPr/>
        </p:nvSpPr>
        <p:spPr>
          <a:xfrm>
            <a:off x="548640" y="3255264"/>
            <a:ext cx="11091672" cy="868680"/>
          </a:xfrm>
          <a:prstGeom prst="roundRect">
            <a:avLst>
              <a:gd name="adj" fmla="val 8421"/>
            </a:avLst>
          </a:prstGeom>
          <a:solidFill>
            <a:srgbClr val="F2F5F8"/>
          </a:solidFill>
          <a:ln w="12700">
            <a:solidFill>
              <a:srgbClr val="DCE3EA"/>
            </a:solidFill>
            <a:prstDash val="solid"/>
          </a:ln>
        </p:spPr>
      </p:sp>
      <p:sp>
        <p:nvSpPr>
          <p:cNvPr id="21" name="Shape 17"/>
          <p:cNvSpPr/>
          <p:nvPr/>
        </p:nvSpPr>
        <p:spPr>
          <a:xfrm>
            <a:off x="749808" y="3493008"/>
            <a:ext cx="402336" cy="402336"/>
          </a:xfrm>
          <a:prstGeom prst="ellipse">
            <a:avLst/>
          </a:prstGeom>
          <a:solidFill>
            <a:srgbClr val="5A6B7B"/>
          </a:solidFill>
          <a:ln/>
        </p:spPr>
      </p:sp>
      <p:pic>
        <p:nvPicPr>
          <p:cNvPr id="22" name="Image 2" descr="icon_flat_w.png"/>
          <p:cNvPicPr>
            <a:picLocks noChangeAspect="1"/>
          </p:cNvPicPr>
          <p:nvPr/>
        </p:nvPicPr>
        <p:blipFill>
          <a:blip r:embed="rId4"/>
          <a:stretch>
            <a:fillRect/>
          </a:stretch>
        </p:blipFill>
        <p:spPr>
          <a:xfrm>
            <a:off x="850392" y="3593592"/>
            <a:ext cx="201168" cy="201168"/>
          </a:xfrm>
          <a:prstGeom prst="rect">
            <a:avLst/>
          </a:prstGeom>
        </p:spPr>
      </p:pic>
      <p:sp>
        <p:nvSpPr>
          <p:cNvPr id="23" name="Text 18"/>
          <p:cNvSpPr txBox="1"/>
          <p:nvPr/>
        </p:nvSpPr>
        <p:spPr>
          <a:xfrm>
            <a:off x="1298448" y="3410712"/>
            <a:ext cx="2011680" cy="292608"/>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Grocery</a:t>
            </a:r>
            <a:endParaRPr lang="en-US" sz="1450" dirty="0"/>
          </a:p>
        </p:txBody>
      </p:sp>
      <p:sp>
        <p:nvSpPr>
          <p:cNvPr id="24" name="Text 19"/>
          <p:cNvSpPr txBox="1"/>
          <p:nvPr/>
        </p:nvSpPr>
        <p:spPr>
          <a:xfrm>
            <a:off x="1298448" y="3712464"/>
            <a:ext cx="2011680" cy="274320"/>
          </a:xfrm>
          <a:prstGeom prst="rect">
            <a:avLst/>
          </a:prstGeom>
          <a:noFill/>
          <a:ln/>
        </p:spPr>
        <p:txBody>
          <a:bodyPr wrap="square" lIns="0" tIns="0" rIns="0" bIns="0" rtlCol="0" anchor="ctr"/>
          <a:lstStyle/>
          <a:p>
            <a:pPr marL="0" indent="0">
              <a:buNone/>
            </a:pPr>
            <a:r>
              <a:rPr lang="en-US" sz="1100" dirty="0">
                <a:solidFill>
                  <a:srgbClr val="5A6B7B"/>
                </a:solidFill>
                <a:latin typeface="Calibri" pitchFamily="34" charset="0"/>
                <a:ea typeface="Calibri" pitchFamily="34" charset="-122"/>
                <a:cs typeface="Calibri" pitchFamily="34" charset="-120"/>
              </a:rPr>
              <a:t>₹73.1 L → ₹70.5 L</a:t>
            </a:r>
            <a:endParaRPr lang="en-US" sz="1100" dirty="0"/>
          </a:p>
        </p:txBody>
      </p:sp>
      <p:sp>
        <p:nvSpPr>
          <p:cNvPr id="25" name="Text 20"/>
          <p:cNvSpPr txBox="1"/>
          <p:nvPr/>
        </p:nvSpPr>
        <p:spPr>
          <a:xfrm>
            <a:off x="3383280" y="3502152"/>
            <a:ext cx="1234440" cy="384048"/>
          </a:xfrm>
          <a:prstGeom prst="rect">
            <a:avLst/>
          </a:prstGeom>
          <a:noFill/>
          <a:ln/>
        </p:spPr>
        <p:txBody>
          <a:bodyPr wrap="square" lIns="0" tIns="0" rIns="0" bIns="0" rtlCol="0" anchor="ctr"/>
          <a:lstStyle/>
          <a:p>
            <a:pPr marL="0" indent="0">
              <a:buNone/>
            </a:pPr>
            <a:r>
              <a:rPr lang="en-US" sz="1900" b="1" dirty="0">
                <a:solidFill>
                  <a:srgbClr val="5A6B7B"/>
                </a:solidFill>
                <a:latin typeface="Cambria" pitchFamily="34" charset="0"/>
                <a:ea typeface="Cambria" pitchFamily="34" charset="-122"/>
                <a:cs typeface="Cambria" pitchFamily="34" charset="-120"/>
              </a:rPr>
              <a:t>−3.55%</a:t>
            </a:r>
            <a:endParaRPr lang="en-US" sz="1900" dirty="0"/>
          </a:p>
        </p:txBody>
      </p:sp>
      <p:sp>
        <p:nvSpPr>
          <p:cNvPr id="26" name="Text 21"/>
          <p:cNvSpPr txBox="1"/>
          <p:nvPr/>
        </p:nvSpPr>
        <p:spPr>
          <a:xfrm>
            <a:off x="4800600" y="3419856"/>
            <a:ext cx="6583680" cy="566928"/>
          </a:xfrm>
          <a:prstGeom prst="rect">
            <a:avLst/>
          </a:prstGeom>
          <a:noFill/>
          <a:ln/>
        </p:spPr>
        <p:txBody>
          <a:bodyPr wrap="square" lIns="0" tIns="0" rIns="0" bIns="0" rtlCol="0" anchor="ctr"/>
          <a:lstStyle/>
          <a:p>
            <a:pPr marL="0" indent="0">
              <a:buNone/>
            </a:pPr>
            <a:r>
              <a:rPr lang="en-US" sz="1200" dirty="0">
                <a:solidFill>
                  <a:srgbClr val="33465A"/>
                </a:solidFill>
                <a:latin typeface="Calibri" pitchFamily="34" charset="0"/>
                <a:ea typeface="Calibri" pitchFamily="34" charset="-122"/>
                <a:cs typeface="Calibri" pitchFamily="34" charset="-120"/>
              </a:rPr>
              <a:t>The steadiest category in the chain. Its value is footfall and stability, not growth — protect it, do not promote it.</a:t>
            </a:r>
            <a:endParaRPr lang="en-US" sz="1200" dirty="0"/>
          </a:p>
        </p:txBody>
      </p:sp>
      <p:sp>
        <p:nvSpPr>
          <p:cNvPr id="27" name="Shape 22"/>
          <p:cNvSpPr/>
          <p:nvPr/>
        </p:nvSpPr>
        <p:spPr>
          <a:xfrm>
            <a:off x="548640" y="4197096"/>
            <a:ext cx="11091672" cy="868680"/>
          </a:xfrm>
          <a:prstGeom prst="roundRect">
            <a:avLst>
              <a:gd name="adj" fmla="val 8421"/>
            </a:avLst>
          </a:prstGeom>
          <a:solidFill>
            <a:srgbClr val="F2F5F8"/>
          </a:solidFill>
          <a:ln w="12700">
            <a:solidFill>
              <a:srgbClr val="DCE3EA"/>
            </a:solidFill>
            <a:prstDash val="solid"/>
          </a:ln>
        </p:spPr>
      </p:sp>
      <p:sp>
        <p:nvSpPr>
          <p:cNvPr id="28" name="Shape 23"/>
          <p:cNvSpPr/>
          <p:nvPr/>
        </p:nvSpPr>
        <p:spPr>
          <a:xfrm>
            <a:off x="749808" y="4434840"/>
            <a:ext cx="402336" cy="402336"/>
          </a:xfrm>
          <a:prstGeom prst="ellipse">
            <a:avLst/>
          </a:prstGeom>
          <a:solidFill>
            <a:srgbClr val="B3261E"/>
          </a:solidFill>
          <a:ln/>
        </p:spPr>
      </p:sp>
      <p:pic>
        <p:nvPicPr>
          <p:cNvPr id="29" name="Image 3" descr="icon_down_w.png"/>
          <p:cNvPicPr>
            <a:picLocks noChangeAspect="1"/>
          </p:cNvPicPr>
          <p:nvPr/>
        </p:nvPicPr>
        <p:blipFill>
          <a:blip r:embed="rId5"/>
          <a:stretch>
            <a:fillRect/>
          </a:stretch>
        </p:blipFill>
        <p:spPr>
          <a:xfrm>
            <a:off x="850392" y="4535424"/>
            <a:ext cx="201168" cy="201168"/>
          </a:xfrm>
          <a:prstGeom prst="rect">
            <a:avLst/>
          </a:prstGeom>
        </p:spPr>
      </p:pic>
      <p:sp>
        <p:nvSpPr>
          <p:cNvPr id="30" name="Text 24"/>
          <p:cNvSpPr txBox="1"/>
          <p:nvPr/>
        </p:nvSpPr>
        <p:spPr>
          <a:xfrm>
            <a:off x="1298448" y="4352544"/>
            <a:ext cx="2011680" cy="292608"/>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Home &amp; Kitchen</a:t>
            </a:r>
            <a:endParaRPr lang="en-US" sz="1450" dirty="0"/>
          </a:p>
        </p:txBody>
      </p:sp>
      <p:sp>
        <p:nvSpPr>
          <p:cNvPr id="31" name="Text 25"/>
          <p:cNvSpPr txBox="1"/>
          <p:nvPr/>
        </p:nvSpPr>
        <p:spPr>
          <a:xfrm>
            <a:off x="1298448" y="4654296"/>
            <a:ext cx="2011680" cy="274320"/>
          </a:xfrm>
          <a:prstGeom prst="rect">
            <a:avLst/>
          </a:prstGeom>
          <a:noFill/>
          <a:ln/>
        </p:spPr>
        <p:txBody>
          <a:bodyPr wrap="square" lIns="0" tIns="0" rIns="0" bIns="0" rtlCol="0" anchor="ctr"/>
          <a:lstStyle/>
          <a:p>
            <a:pPr marL="0" indent="0">
              <a:buNone/>
            </a:pPr>
            <a:r>
              <a:rPr lang="en-US" sz="1100" dirty="0">
                <a:solidFill>
                  <a:srgbClr val="5A6B7B"/>
                </a:solidFill>
                <a:latin typeface="Calibri" pitchFamily="34" charset="0"/>
                <a:ea typeface="Calibri" pitchFamily="34" charset="-122"/>
                <a:cs typeface="Calibri" pitchFamily="34" charset="-120"/>
              </a:rPr>
              <a:t>₹1.51 Cr → ₹1.23 Cr</a:t>
            </a:r>
            <a:endParaRPr lang="en-US" sz="1100" dirty="0"/>
          </a:p>
        </p:txBody>
      </p:sp>
      <p:sp>
        <p:nvSpPr>
          <p:cNvPr id="32" name="Text 26"/>
          <p:cNvSpPr txBox="1"/>
          <p:nvPr/>
        </p:nvSpPr>
        <p:spPr>
          <a:xfrm>
            <a:off x="3383280" y="4443984"/>
            <a:ext cx="1234440" cy="384048"/>
          </a:xfrm>
          <a:prstGeom prst="rect">
            <a:avLst/>
          </a:prstGeom>
          <a:noFill/>
          <a:ln/>
        </p:spPr>
        <p:txBody>
          <a:bodyPr wrap="square" lIns="0" tIns="0" rIns="0" bIns="0" rtlCol="0" anchor="ctr"/>
          <a:lstStyle/>
          <a:p>
            <a:pPr marL="0" indent="0">
              <a:buNone/>
            </a:pPr>
            <a:r>
              <a:rPr lang="en-US" sz="1900" b="1" dirty="0">
                <a:solidFill>
                  <a:srgbClr val="B3261E"/>
                </a:solidFill>
                <a:latin typeface="Cambria" pitchFamily="34" charset="0"/>
                <a:ea typeface="Cambria" pitchFamily="34" charset="-122"/>
                <a:cs typeface="Cambria" pitchFamily="34" charset="-120"/>
              </a:rPr>
              <a:t>−18.49%</a:t>
            </a:r>
            <a:endParaRPr lang="en-US" sz="1900" dirty="0"/>
          </a:p>
        </p:txBody>
      </p:sp>
      <p:sp>
        <p:nvSpPr>
          <p:cNvPr id="33" name="Text 27"/>
          <p:cNvSpPr txBox="1"/>
          <p:nvPr/>
        </p:nvSpPr>
        <p:spPr>
          <a:xfrm>
            <a:off x="4800600" y="4361688"/>
            <a:ext cx="6583680" cy="566928"/>
          </a:xfrm>
          <a:prstGeom prst="rect">
            <a:avLst/>
          </a:prstGeom>
          <a:noFill/>
          <a:ln/>
        </p:spPr>
        <p:txBody>
          <a:bodyPr wrap="square" lIns="0" tIns="0" rIns="0" bIns="0" rtlCol="0" anchor="ctr"/>
          <a:lstStyle/>
          <a:p>
            <a:pPr marL="0" indent="0">
              <a:buNone/>
            </a:pPr>
            <a:r>
              <a:rPr lang="en-US" sz="1200" dirty="0">
                <a:solidFill>
                  <a:srgbClr val="33465A"/>
                </a:solidFill>
                <a:latin typeface="Calibri" pitchFamily="34" charset="0"/>
                <a:ea typeface="Calibri" pitchFamily="34" charset="-122"/>
                <a:cs typeface="Calibri" pitchFamily="34" charset="-120"/>
              </a:rPr>
              <a:t>A real slide, overtaken by Apparel in June. Worth a question in the review, but not the headline.</a:t>
            </a:r>
            <a:endParaRPr lang="en-US" sz="1200" dirty="0"/>
          </a:p>
        </p:txBody>
      </p:sp>
      <p:sp>
        <p:nvSpPr>
          <p:cNvPr id="34" name="Shape 28"/>
          <p:cNvSpPr/>
          <p:nvPr/>
        </p:nvSpPr>
        <p:spPr>
          <a:xfrm>
            <a:off x="548640" y="5138928"/>
            <a:ext cx="11091672" cy="868680"/>
          </a:xfrm>
          <a:prstGeom prst="roundRect">
            <a:avLst>
              <a:gd name="adj" fmla="val 8421"/>
            </a:avLst>
          </a:prstGeom>
          <a:solidFill>
            <a:srgbClr val="F2F5F8"/>
          </a:solidFill>
          <a:ln w="12700">
            <a:solidFill>
              <a:srgbClr val="DCE3EA"/>
            </a:solidFill>
            <a:prstDash val="solid"/>
          </a:ln>
        </p:spPr>
      </p:sp>
      <p:sp>
        <p:nvSpPr>
          <p:cNvPr id="35" name="Shape 29"/>
          <p:cNvSpPr/>
          <p:nvPr/>
        </p:nvSpPr>
        <p:spPr>
          <a:xfrm>
            <a:off x="749808" y="5376672"/>
            <a:ext cx="402336" cy="402336"/>
          </a:xfrm>
          <a:prstGeom prst="ellipse">
            <a:avLst/>
          </a:prstGeom>
          <a:solidFill>
            <a:srgbClr val="B3261E"/>
          </a:solidFill>
          <a:ln/>
        </p:spPr>
      </p:sp>
      <p:pic>
        <p:nvPicPr>
          <p:cNvPr id="36" name="Image 4" descr="icon_down_w.png"/>
          <p:cNvPicPr>
            <a:picLocks noChangeAspect="1"/>
          </p:cNvPicPr>
          <p:nvPr/>
        </p:nvPicPr>
        <p:blipFill>
          <a:blip r:embed="rId5"/>
          <a:stretch>
            <a:fillRect/>
          </a:stretch>
        </p:blipFill>
        <p:spPr>
          <a:xfrm>
            <a:off x="850392" y="5477256"/>
            <a:ext cx="201168" cy="201168"/>
          </a:xfrm>
          <a:prstGeom prst="rect">
            <a:avLst/>
          </a:prstGeom>
        </p:spPr>
      </p:pic>
      <p:sp>
        <p:nvSpPr>
          <p:cNvPr id="37" name="Text 30"/>
          <p:cNvSpPr txBox="1"/>
          <p:nvPr/>
        </p:nvSpPr>
        <p:spPr>
          <a:xfrm>
            <a:off x="1298448" y="5294376"/>
            <a:ext cx="2011680" cy="292608"/>
          </a:xfrm>
          <a:prstGeom prst="rect">
            <a:avLst/>
          </a:prstGeom>
          <a:noFill/>
          <a:ln/>
        </p:spPr>
        <p:txBody>
          <a:bodyPr wrap="square" lIns="0" tIns="0" rIns="0" bIns="0" rtlCol="0" anchor="ctr"/>
          <a:lstStyle/>
          <a:p>
            <a:pPr marL="0" indent="0">
              <a:buNone/>
            </a:pPr>
            <a:r>
              <a:rPr lang="en-US" sz="1450" b="1" dirty="0">
                <a:solidFill>
                  <a:srgbClr val="0F2A43"/>
                </a:solidFill>
                <a:latin typeface="Calibri" pitchFamily="34" charset="0"/>
                <a:ea typeface="Calibri" pitchFamily="34" charset="-122"/>
                <a:cs typeface="Calibri" pitchFamily="34" charset="-120"/>
              </a:rPr>
              <a:t>Electronics</a:t>
            </a:r>
            <a:endParaRPr lang="en-US" sz="1450" dirty="0"/>
          </a:p>
        </p:txBody>
      </p:sp>
      <p:sp>
        <p:nvSpPr>
          <p:cNvPr id="38" name="Text 31"/>
          <p:cNvSpPr txBox="1"/>
          <p:nvPr/>
        </p:nvSpPr>
        <p:spPr>
          <a:xfrm>
            <a:off x="1298448" y="5596128"/>
            <a:ext cx="2011680" cy="274320"/>
          </a:xfrm>
          <a:prstGeom prst="rect">
            <a:avLst/>
          </a:prstGeom>
          <a:noFill/>
          <a:ln/>
        </p:spPr>
        <p:txBody>
          <a:bodyPr wrap="square" lIns="0" tIns="0" rIns="0" bIns="0" rtlCol="0" anchor="ctr"/>
          <a:lstStyle/>
          <a:p>
            <a:pPr marL="0" indent="0">
              <a:buNone/>
            </a:pPr>
            <a:r>
              <a:rPr lang="en-US" sz="1100" dirty="0">
                <a:solidFill>
                  <a:srgbClr val="5A6B7B"/>
                </a:solidFill>
                <a:latin typeface="Calibri" pitchFamily="34" charset="0"/>
                <a:ea typeface="Calibri" pitchFamily="34" charset="-122"/>
                <a:cs typeface="Calibri" pitchFamily="34" charset="-120"/>
              </a:rPr>
              <a:t>₹4.57 Cr → ₹2.97 Cr</a:t>
            </a:r>
            <a:endParaRPr lang="en-US" sz="1100" dirty="0"/>
          </a:p>
        </p:txBody>
      </p:sp>
      <p:sp>
        <p:nvSpPr>
          <p:cNvPr id="39" name="Text 32"/>
          <p:cNvSpPr txBox="1"/>
          <p:nvPr/>
        </p:nvSpPr>
        <p:spPr>
          <a:xfrm>
            <a:off x="3383280" y="5385816"/>
            <a:ext cx="1234440" cy="384048"/>
          </a:xfrm>
          <a:prstGeom prst="rect">
            <a:avLst/>
          </a:prstGeom>
          <a:noFill/>
          <a:ln/>
        </p:spPr>
        <p:txBody>
          <a:bodyPr wrap="square" lIns="0" tIns="0" rIns="0" bIns="0" rtlCol="0" anchor="ctr"/>
          <a:lstStyle/>
          <a:p>
            <a:pPr marL="0" indent="0">
              <a:buNone/>
            </a:pPr>
            <a:r>
              <a:rPr lang="en-US" sz="1900" b="1" dirty="0">
                <a:solidFill>
                  <a:srgbClr val="B3261E"/>
                </a:solidFill>
                <a:latin typeface="Cambria" pitchFamily="34" charset="0"/>
                <a:ea typeface="Cambria" pitchFamily="34" charset="-122"/>
                <a:cs typeface="Cambria" pitchFamily="34" charset="-120"/>
              </a:rPr>
              <a:t>−35.02%</a:t>
            </a:r>
            <a:endParaRPr lang="en-US" sz="1900" dirty="0"/>
          </a:p>
        </p:txBody>
      </p:sp>
      <p:sp>
        <p:nvSpPr>
          <p:cNvPr id="40" name="Text 33"/>
          <p:cNvSpPr txBox="1"/>
          <p:nvPr/>
        </p:nvSpPr>
        <p:spPr>
          <a:xfrm>
            <a:off x="4800600" y="5303520"/>
            <a:ext cx="6583680" cy="566928"/>
          </a:xfrm>
          <a:prstGeom prst="rect">
            <a:avLst/>
          </a:prstGeom>
          <a:noFill/>
          <a:ln/>
        </p:spPr>
        <p:txBody>
          <a:bodyPr wrap="square" lIns="0" tIns="0" rIns="0" bIns="0" rtlCol="0" anchor="ctr"/>
          <a:lstStyle/>
          <a:p>
            <a:pPr marL="0" indent="0">
              <a:buNone/>
            </a:pPr>
            <a:r>
              <a:rPr lang="en-US" sz="1200" dirty="0">
                <a:solidFill>
                  <a:srgbClr val="33465A"/>
                </a:solidFill>
                <a:latin typeface="Calibri" pitchFamily="34" charset="0"/>
                <a:ea typeface="Calibri" pitchFamily="34" charset="-122"/>
                <a:cs typeface="Calibri" pitchFamily="34" charset="-120"/>
              </a:rPr>
              <a:t>Half the chain's revenue on a falling trajectory. The supplier is asking us to fund a declining asset.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56032"/>
          </a:xfrm>
          <a:prstGeom prst="rect">
            <a:avLst/>
          </a:prstGeom>
          <a:noFill/>
          <a:ln/>
        </p:spPr>
        <p:txBody>
          <a:bodyPr wrap="square" lIns="0" tIns="0" rIns="0" bIns="0" rtlCol="0" anchor="ctr"/>
          <a:lstStyle/>
          <a:p>
            <a:pPr marL="0" indent="0">
              <a:buNone/>
            </a:pPr>
            <a:r>
              <a:rPr lang="en-US" sz="1100" b="1" kern="0" spc="200" dirty="0">
                <a:solidFill>
                  <a:srgbClr val="E08A1E"/>
                </a:solidFill>
                <a:latin typeface="Calibri" pitchFamily="34" charset="0"/>
                <a:ea typeface="Calibri" pitchFamily="34" charset="-122"/>
                <a:cs typeface="Calibri" pitchFamily="34" charset="-120"/>
              </a:rPr>
              <a:t>STEP 6.3  ·  TOP 2 AND BOTTOM 2 BY CATEGORY</a:t>
            </a:r>
            <a:endParaRPr lang="en-US" sz="1100" dirty="0"/>
          </a:p>
        </p:txBody>
      </p:sp>
      <p:sp>
        <p:nvSpPr>
          <p:cNvPr id="3" name="Text 1"/>
          <p:cNvSpPr txBox="1"/>
          <p:nvPr/>
        </p:nvSpPr>
        <p:spPr>
          <a:xfrm>
            <a:off x="548640" y="566928"/>
            <a:ext cx="10515600" cy="658368"/>
          </a:xfrm>
          <a:prstGeom prst="rect">
            <a:avLst/>
          </a:prstGeom>
          <a:noFill/>
          <a:ln/>
        </p:spPr>
        <p:txBody>
          <a:bodyPr wrap="square" lIns="0" tIns="0" rIns="0" bIns="0" rtlCol="0" anchor="ctr"/>
          <a:lstStyle/>
          <a:p>
            <a:pPr marL="0" indent="0">
              <a:buNone/>
            </a:pPr>
            <a:r>
              <a:rPr lang="en-US" sz="3200" b="1" dirty="0">
                <a:solidFill>
                  <a:srgbClr val="0F2A43"/>
                </a:solidFill>
                <a:latin typeface="Cambria" pitchFamily="34" charset="0"/>
                <a:ea typeface="Cambria" pitchFamily="34" charset="-122"/>
                <a:cs typeface="Cambria" pitchFamily="34" charset="-120"/>
              </a:rPr>
              <a:t>Product-Level Performance</a:t>
            </a:r>
            <a:endParaRPr lang="en-US" sz="3200" dirty="0"/>
          </a:p>
        </p:txBody>
      </p:sp>
      <p:sp>
        <p:nvSpPr>
          <p:cNvPr id="5" name="Text 3"/>
          <p:cNvSpPr txBox="1"/>
          <p:nvPr/>
        </p:nvSpPr>
        <p:spPr>
          <a:xfrm>
            <a:off x="6400800" y="6336792"/>
            <a:ext cx="5239512" cy="274320"/>
          </a:xfrm>
          <a:prstGeom prst="rect">
            <a:avLst/>
          </a:prstGeom>
          <a:noFill/>
          <a:ln/>
        </p:spPr>
        <p:txBody>
          <a:bodyPr wrap="square" lIns="0" tIns="0" rIns="0" bIns="0" rtlCol="0" anchor="ctr"/>
          <a:lstStyle/>
          <a:p>
            <a:pPr marL="0" indent="0" algn="r">
              <a:buNone/>
            </a:pPr>
            <a:r>
              <a:rPr lang="en-US" sz="1000" dirty="0">
                <a:solidFill>
                  <a:srgbClr val="A6B2BD"/>
                </a:solidFill>
                <a:latin typeface="Calibri" pitchFamily="34" charset="0"/>
                <a:ea typeface="Calibri" pitchFamily="34" charset="-122"/>
                <a:cs typeface="Calibri" pitchFamily="34" charset="-120"/>
              </a:rPr>
              <a:t>GROUP 12  ·  Category Intelligence</a:t>
            </a:r>
            <a:endParaRPr lang="en-US" sz="1000" dirty="0"/>
          </a:p>
        </p:txBody>
      </p:sp>
      <p:sp>
        <p:nvSpPr>
          <p:cNvPr id="6" name="Text 4"/>
          <p:cNvSpPr txBox="1"/>
          <p:nvPr/>
        </p:nvSpPr>
        <p:spPr>
          <a:xfrm>
            <a:off x="548640" y="1389888"/>
            <a:ext cx="2057400" cy="310896"/>
          </a:xfrm>
          <a:prstGeom prst="rect">
            <a:avLst/>
          </a:prstGeom>
          <a:noFill/>
          <a:ln/>
        </p:spPr>
        <p:txBody>
          <a:bodyPr wrap="square" lIns="0" tIns="0" rIns="0" bIns="0" rtlCol="0" anchor="ctr"/>
          <a:lstStyle/>
          <a:p>
            <a:pPr marL="0" indent="0">
              <a:buNone/>
            </a:pPr>
            <a:r>
              <a:rPr lang="en-US" sz="1150" b="1" kern="0" spc="100" dirty="0">
                <a:solidFill>
                  <a:srgbClr val="5A6B7B"/>
                </a:solidFill>
                <a:latin typeface="Calibri" pitchFamily="34" charset="0"/>
                <a:ea typeface="Calibri" pitchFamily="34" charset="-122"/>
                <a:cs typeface="Calibri" pitchFamily="34" charset="-120"/>
              </a:rPr>
              <a:t>Category</a:t>
            </a:r>
            <a:endParaRPr lang="en-US" sz="1150" dirty="0"/>
          </a:p>
        </p:txBody>
      </p:sp>
      <p:sp>
        <p:nvSpPr>
          <p:cNvPr id="7" name="Text 5"/>
          <p:cNvSpPr txBox="1"/>
          <p:nvPr/>
        </p:nvSpPr>
        <p:spPr>
          <a:xfrm>
            <a:off x="2606040" y="1389888"/>
            <a:ext cx="3383280" cy="310896"/>
          </a:xfrm>
          <a:prstGeom prst="rect">
            <a:avLst/>
          </a:prstGeom>
          <a:noFill/>
          <a:ln/>
        </p:spPr>
        <p:txBody>
          <a:bodyPr wrap="square" lIns="0" tIns="0" rIns="0" bIns="0" rtlCol="0" anchor="ctr"/>
          <a:lstStyle/>
          <a:p>
            <a:pPr marL="0" indent="0">
              <a:buNone/>
            </a:pPr>
            <a:r>
              <a:rPr lang="en-US" sz="1150" b="1" kern="0" spc="100" dirty="0">
                <a:solidFill>
                  <a:srgbClr val="5A6B7B"/>
                </a:solidFill>
                <a:latin typeface="Calibri" pitchFamily="34" charset="0"/>
                <a:ea typeface="Calibri" pitchFamily="34" charset="-122"/>
                <a:cs typeface="Calibri" pitchFamily="34" charset="-120"/>
              </a:rPr>
              <a:t>Top 2 Products</a:t>
            </a:r>
            <a:endParaRPr lang="en-US" sz="1150" dirty="0"/>
          </a:p>
        </p:txBody>
      </p:sp>
      <p:sp>
        <p:nvSpPr>
          <p:cNvPr id="8" name="Text 6"/>
          <p:cNvSpPr txBox="1"/>
          <p:nvPr/>
        </p:nvSpPr>
        <p:spPr>
          <a:xfrm>
            <a:off x="5989320" y="1389888"/>
            <a:ext cx="3429000" cy="310896"/>
          </a:xfrm>
          <a:prstGeom prst="rect">
            <a:avLst/>
          </a:prstGeom>
          <a:noFill/>
          <a:ln/>
        </p:spPr>
        <p:txBody>
          <a:bodyPr wrap="square" lIns="0" tIns="0" rIns="0" bIns="0" rtlCol="0" anchor="ctr"/>
          <a:lstStyle/>
          <a:p>
            <a:pPr marL="0" indent="0">
              <a:buNone/>
            </a:pPr>
            <a:r>
              <a:rPr lang="en-US" sz="1150" b="1" kern="0" spc="100" dirty="0">
                <a:solidFill>
                  <a:srgbClr val="5A6B7B"/>
                </a:solidFill>
                <a:latin typeface="Calibri" pitchFamily="34" charset="0"/>
                <a:ea typeface="Calibri" pitchFamily="34" charset="-122"/>
                <a:cs typeface="Calibri" pitchFamily="34" charset="-120"/>
              </a:rPr>
              <a:t>Bottom 2 Products</a:t>
            </a:r>
            <a:endParaRPr lang="en-US" sz="1150" dirty="0"/>
          </a:p>
        </p:txBody>
      </p:sp>
      <p:sp>
        <p:nvSpPr>
          <p:cNvPr id="9" name="Text 7"/>
          <p:cNvSpPr txBox="1"/>
          <p:nvPr/>
        </p:nvSpPr>
        <p:spPr>
          <a:xfrm>
            <a:off x="9418320" y="1389888"/>
            <a:ext cx="2221992" cy="310896"/>
          </a:xfrm>
          <a:prstGeom prst="rect">
            <a:avLst/>
          </a:prstGeom>
          <a:noFill/>
          <a:ln/>
        </p:spPr>
        <p:txBody>
          <a:bodyPr wrap="square" lIns="0" tIns="0" rIns="0" bIns="0" rtlCol="0" anchor="ctr"/>
          <a:lstStyle/>
          <a:p>
            <a:pPr marL="0" indent="0">
              <a:buNone/>
            </a:pPr>
            <a:r>
              <a:rPr lang="en-US" sz="1150" b="1" kern="0" spc="100" dirty="0">
                <a:solidFill>
                  <a:srgbClr val="5A6B7B"/>
                </a:solidFill>
                <a:latin typeface="Calibri" pitchFamily="34" charset="0"/>
                <a:ea typeface="Calibri" pitchFamily="34" charset="-122"/>
                <a:cs typeface="Calibri" pitchFamily="34" charset="-120"/>
              </a:rPr>
              <a:t>Weakest as % of best</a:t>
            </a:r>
            <a:endParaRPr lang="en-US" sz="1150" dirty="0"/>
          </a:p>
        </p:txBody>
      </p:sp>
      <p:sp>
        <p:nvSpPr>
          <p:cNvPr id="10" name="Shape 8"/>
          <p:cNvSpPr/>
          <p:nvPr/>
        </p:nvSpPr>
        <p:spPr>
          <a:xfrm>
            <a:off x="548640" y="1737360"/>
            <a:ext cx="11091672" cy="18288"/>
          </a:xfrm>
          <a:prstGeom prst="rect">
            <a:avLst/>
          </a:prstGeom>
          <a:solidFill>
            <a:srgbClr val="DCE3EA"/>
          </a:solidFill>
          <a:ln/>
        </p:spPr>
      </p:sp>
      <p:sp>
        <p:nvSpPr>
          <p:cNvPr id="11" name="Shape 9"/>
          <p:cNvSpPr/>
          <p:nvPr/>
        </p:nvSpPr>
        <p:spPr>
          <a:xfrm>
            <a:off x="548640" y="1828800"/>
            <a:ext cx="11091672" cy="658368"/>
          </a:xfrm>
          <a:prstGeom prst="roundRect">
            <a:avLst>
              <a:gd name="adj" fmla="val 8333"/>
            </a:avLst>
          </a:prstGeom>
          <a:solidFill>
            <a:srgbClr val="FDF1DF"/>
          </a:solidFill>
          <a:ln w="12700">
            <a:solidFill>
              <a:srgbClr val="E08A1E"/>
            </a:solidFill>
            <a:prstDash val="solid"/>
          </a:ln>
        </p:spPr>
      </p:sp>
      <p:sp>
        <p:nvSpPr>
          <p:cNvPr id="12" name="Text 10"/>
          <p:cNvSpPr txBox="1"/>
          <p:nvPr/>
        </p:nvSpPr>
        <p:spPr>
          <a:xfrm>
            <a:off x="694944" y="1847088"/>
            <a:ext cx="2057400" cy="621792"/>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Electronics</a:t>
            </a:r>
            <a:endParaRPr lang="en-US" sz="1300" dirty="0"/>
          </a:p>
        </p:txBody>
      </p:sp>
      <p:sp>
        <p:nvSpPr>
          <p:cNvPr id="13" name="Text 11"/>
          <p:cNvSpPr txBox="1"/>
          <p:nvPr/>
        </p:nvSpPr>
        <p:spPr>
          <a:xfrm>
            <a:off x="2606040" y="1847088"/>
            <a:ext cx="3383280" cy="621792"/>
          </a:xfrm>
          <a:prstGeom prst="rect">
            <a:avLst/>
          </a:prstGeom>
          <a:noFill/>
          <a:ln/>
        </p:spPr>
        <p:txBody>
          <a:bodyPr wrap="square" lIns="0" tIns="0" rIns="0" bIns="0" rtlCol="0" anchor="ctr"/>
          <a:lstStyle/>
          <a:p>
            <a:pPr marL="0" indent="0">
              <a:buNone/>
            </a:pPr>
            <a:r>
              <a:rPr lang="en-US" sz="1150" dirty="0">
                <a:solidFill>
                  <a:srgbClr val="33465A"/>
                </a:solidFill>
                <a:latin typeface="Calibri" pitchFamily="34" charset="0"/>
                <a:ea typeface="Calibri" pitchFamily="34" charset="-122"/>
                <a:cs typeface="Calibri" pitchFamily="34" charset="-120"/>
              </a:rPr>
              <a:t>Headphones ₹4.77 Cr  ·  Laptop ₹4.66 Cr</a:t>
            </a:r>
            <a:endParaRPr lang="en-US" sz="1150" dirty="0"/>
          </a:p>
        </p:txBody>
      </p:sp>
      <p:sp>
        <p:nvSpPr>
          <p:cNvPr id="14" name="Text 12"/>
          <p:cNvSpPr txBox="1"/>
          <p:nvPr/>
        </p:nvSpPr>
        <p:spPr>
          <a:xfrm>
            <a:off x="5989320" y="1847088"/>
            <a:ext cx="3429000" cy="621792"/>
          </a:xfrm>
          <a:prstGeom prst="rect">
            <a:avLst/>
          </a:prstGeom>
          <a:noFill/>
          <a:ln/>
        </p:spPr>
        <p:txBody>
          <a:bodyPr wrap="square" lIns="0" tIns="0" rIns="0" bIns="0" rtlCol="0" anchor="ctr"/>
          <a:lstStyle/>
          <a:p>
            <a:pPr marL="0" indent="0">
              <a:buNone/>
            </a:pPr>
            <a:r>
              <a:rPr lang="en-US" sz="1150" dirty="0">
                <a:solidFill>
                  <a:srgbClr val="33465A"/>
                </a:solidFill>
                <a:latin typeface="Calibri" pitchFamily="34" charset="0"/>
                <a:ea typeface="Calibri" pitchFamily="34" charset="-122"/>
                <a:cs typeface="Calibri" pitchFamily="34" charset="-120"/>
              </a:rPr>
              <a:t>Smart TV ₹4.19 Cr  ·  Tablet ₹4.47 Cr</a:t>
            </a:r>
            <a:endParaRPr lang="en-US" sz="1150" dirty="0"/>
          </a:p>
        </p:txBody>
      </p:sp>
      <p:sp>
        <p:nvSpPr>
          <p:cNvPr id="15" name="Text 13"/>
          <p:cNvSpPr txBox="1"/>
          <p:nvPr/>
        </p:nvSpPr>
        <p:spPr>
          <a:xfrm>
            <a:off x="9418320" y="1847088"/>
            <a:ext cx="2075688" cy="621792"/>
          </a:xfrm>
          <a:prstGeom prst="rect">
            <a:avLst/>
          </a:prstGeom>
          <a:noFill/>
          <a:ln/>
        </p:spPr>
        <p:txBody>
          <a:bodyPr wrap="square" lIns="0" tIns="0" rIns="0" bIns="0" rtlCol="0" anchor="ctr"/>
          <a:lstStyle/>
          <a:p>
            <a:pPr marL="0" indent="0" algn="r">
              <a:buNone/>
            </a:pPr>
            <a:r>
              <a:rPr lang="en-US" sz="1500" b="1" dirty="0">
                <a:solidFill>
                  <a:srgbClr val="E08A1E"/>
                </a:solidFill>
                <a:latin typeface="Cambria" pitchFamily="34" charset="0"/>
                <a:ea typeface="Cambria" pitchFamily="34" charset="-122"/>
                <a:cs typeface="Cambria" pitchFamily="34" charset="-120"/>
              </a:rPr>
              <a:t>87.8%</a:t>
            </a:r>
            <a:endParaRPr lang="en-US" sz="1500" dirty="0"/>
          </a:p>
        </p:txBody>
      </p:sp>
      <p:sp>
        <p:nvSpPr>
          <p:cNvPr id="16" name="Text 14"/>
          <p:cNvSpPr txBox="1"/>
          <p:nvPr/>
        </p:nvSpPr>
        <p:spPr>
          <a:xfrm>
            <a:off x="548640" y="2578608"/>
            <a:ext cx="2057400" cy="621792"/>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Home &amp; Kitchen</a:t>
            </a:r>
            <a:endParaRPr lang="en-US" sz="1300" dirty="0"/>
          </a:p>
        </p:txBody>
      </p:sp>
      <p:sp>
        <p:nvSpPr>
          <p:cNvPr id="17" name="Text 15"/>
          <p:cNvSpPr txBox="1"/>
          <p:nvPr/>
        </p:nvSpPr>
        <p:spPr>
          <a:xfrm>
            <a:off x="2606040" y="2578608"/>
            <a:ext cx="3383280" cy="621792"/>
          </a:xfrm>
          <a:prstGeom prst="rect">
            <a:avLst/>
          </a:prstGeom>
          <a:noFill/>
          <a:ln/>
        </p:spPr>
        <p:txBody>
          <a:bodyPr wrap="square" lIns="0" tIns="0" rIns="0" bIns="0" rtlCol="0" anchor="ctr"/>
          <a:lstStyle/>
          <a:p>
            <a:pPr marL="0" indent="0">
              <a:buNone/>
            </a:pPr>
            <a:r>
              <a:rPr lang="en-US" sz="1150" dirty="0">
                <a:solidFill>
                  <a:srgbClr val="33465A"/>
                </a:solidFill>
                <a:latin typeface="Calibri" pitchFamily="34" charset="0"/>
                <a:ea typeface="Calibri" pitchFamily="34" charset="-122"/>
                <a:cs typeface="Calibri" pitchFamily="34" charset="-120"/>
              </a:rPr>
              <a:t>Mixer Grinder ₹1.69 Cr  ·  Storage Box ₹1.67 Cr</a:t>
            </a:r>
            <a:endParaRPr lang="en-US" sz="1150" dirty="0"/>
          </a:p>
        </p:txBody>
      </p:sp>
      <p:sp>
        <p:nvSpPr>
          <p:cNvPr id="18" name="Text 16"/>
          <p:cNvSpPr txBox="1"/>
          <p:nvPr/>
        </p:nvSpPr>
        <p:spPr>
          <a:xfrm>
            <a:off x="5989320" y="2578608"/>
            <a:ext cx="3429000" cy="621792"/>
          </a:xfrm>
          <a:prstGeom prst="rect">
            <a:avLst/>
          </a:prstGeom>
          <a:noFill/>
          <a:ln/>
        </p:spPr>
        <p:txBody>
          <a:bodyPr wrap="square" lIns="0" tIns="0" rIns="0" bIns="0" rtlCol="0" anchor="ctr"/>
          <a:lstStyle/>
          <a:p>
            <a:pPr marL="0" indent="0">
              <a:buNone/>
            </a:pPr>
            <a:r>
              <a:rPr lang="en-US" sz="1150" dirty="0">
                <a:solidFill>
                  <a:srgbClr val="33465A"/>
                </a:solidFill>
                <a:latin typeface="Calibri" pitchFamily="34" charset="0"/>
                <a:ea typeface="Calibri" pitchFamily="34" charset="-122"/>
                <a:cs typeface="Calibri" pitchFamily="34" charset="-120"/>
              </a:rPr>
              <a:t>Water Bottle ₹1.58 Cr  ·  Pressure Cooker ₹1.61 Cr</a:t>
            </a:r>
            <a:endParaRPr lang="en-US" sz="1150" dirty="0"/>
          </a:p>
        </p:txBody>
      </p:sp>
      <p:sp>
        <p:nvSpPr>
          <p:cNvPr id="19" name="Text 17"/>
          <p:cNvSpPr txBox="1"/>
          <p:nvPr/>
        </p:nvSpPr>
        <p:spPr>
          <a:xfrm>
            <a:off x="9418320" y="2578608"/>
            <a:ext cx="2221992" cy="621792"/>
          </a:xfrm>
          <a:prstGeom prst="rect">
            <a:avLst/>
          </a:prstGeom>
          <a:noFill/>
          <a:ln/>
        </p:spPr>
        <p:txBody>
          <a:bodyPr wrap="square" lIns="0" tIns="0" rIns="0" bIns="0" rtlCol="0" anchor="ctr"/>
          <a:lstStyle/>
          <a:p>
            <a:pPr marL="0" indent="0" algn="r">
              <a:buNone/>
            </a:pPr>
            <a:r>
              <a:rPr lang="en-US" sz="1500" b="1" dirty="0">
                <a:solidFill>
                  <a:srgbClr val="5A6B7B"/>
                </a:solidFill>
                <a:latin typeface="Cambria" pitchFamily="34" charset="0"/>
                <a:ea typeface="Cambria" pitchFamily="34" charset="-122"/>
                <a:cs typeface="Cambria" pitchFamily="34" charset="-120"/>
              </a:rPr>
              <a:t>93.6%</a:t>
            </a:r>
            <a:endParaRPr lang="en-US" sz="1500" dirty="0"/>
          </a:p>
        </p:txBody>
      </p:sp>
      <p:sp>
        <p:nvSpPr>
          <p:cNvPr id="20" name="Text 18"/>
          <p:cNvSpPr txBox="1"/>
          <p:nvPr/>
        </p:nvSpPr>
        <p:spPr>
          <a:xfrm>
            <a:off x="548640" y="3310128"/>
            <a:ext cx="2057400" cy="621792"/>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Apparel</a:t>
            </a:r>
            <a:endParaRPr lang="en-US" sz="1300" dirty="0"/>
          </a:p>
        </p:txBody>
      </p:sp>
      <p:sp>
        <p:nvSpPr>
          <p:cNvPr id="21" name="Text 19"/>
          <p:cNvSpPr txBox="1"/>
          <p:nvPr/>
        </p:nvSpPr>
        <p:spPr>
          <a:xfrm>
            <a:off x="2606040" y="3310128"/>
            <a:ext cx="3383280" cy="621792"/>
          </a:xfrm>
          <a:prstGeom prst="rect">
            <a:avLst/>
          </a:prstGeom>
          <a:noFill/>
          <a:ln/>
        </p:spPr>
        <p:txBody>
          <a:bodyPr wrap="square" lIns="0" tIns="0" rIns="0" bIns="0" rtlCol="0" anchor="ctr"/>
          <a:lstStyle/>
          <a:p>
            <a:pPr marL="0" indent="0">
              <a:buNone/>
            </a:pPr>
            <a:r>
              <a:rPr lang="en-US" sz="1150" dirty="0">
                <a:solidFill>
                  <a:srgbClr val="33465A"/>
                </a:solidFill>
                <a:latin typeface="Calibri" pitchFamily="34" charset="0"/>
                <a:ea typeface="Calibri" pitchFamily="34" charset="-122"/>
                <a:cs typeface="Calibri" pitchFamily="34" charset="-120"/>
              </a:rPr>
              <a:t>Saree ₹1.42 Cr  ·  T-Shirt ₹1.41 Cr</a:t>
            </a:r>
            <a:endParaRPr lang="en-US" sz="1150" dirty="0"/>
          </a:p>
        </p:txBody>
      </p:sp>
      <p:sp>
        <p:nvSpPr>
          <p:cNvPr id="22" name="Text 20"/>
          <p:cNvSpPr txBox="1"/>
          <p:nvPr/>
        </p:nvSpPr>
        <p:spPr>
          <a:xfrm>
            <a:off x="5989320" y="3310128"/>
            <a:ext cx="3429000" cy="621792"/>
          </a:xfrm>
          <a:prstGeom prst="rect">
            <a:avLst/>
          </a:prstGeom>
          <a:noFill/>
          <a:ln/>
        </p:spPr>
        <p:txBody>
          <a:bodyPr wrap="square" lIns="0" tIns="0" rIns="0" bIns="0" rtlCol="0" anchor="ctr"/>
          <a:lstStyle/>
          <a:p>
            <a:pPr marL="0" indent="0">
              <a:buNone/>
            </a:pPr>
            <a:r>
              <a:rPr lang="en-US" sz="1150" dirty="0">
                <a:solidFill>
                  <a:srgbClr val="33465A"/>
                </a:solidFill>
                <a:latin typeface="Calibri" pitchFamily="34" charset="0"/>
                <a:ea typeface="Calibri" pitchFamily="34" charset="-122"/>
                <a:cs typeface="Calibri" pitchFamily="34" charset="-120"/>
              </a:rPr>
              <a:t>Kurta ₹1.36 Cr  ·  Formal Shirt ₹1.37 Cr</a:t>
            </a:r>
            <a:endParaRPr lang="en-US" sz="1150" dirty="0"/>
          </a:p>
        </p:txBody>
      </p:sp>
      <p:sp>
        <p:nvSpPr>
          <p:cNvPr id="23" name="Text 21"/>
          <p:cNvSpPr txBox="1"/>
          <p:nvPr/>
        </p:nvSpPr>
        <p:spPr>
          <a:xfrm>
            <a:off x="9418320" y="3310128"/>
            <a:ext cx="2221992" cy="621792"/>
          </a:xfrm>
          <a:prstGeom prst="rect">
            <a:avLst/>
          </a:prstGeom>
          <a:noFill/>
          <a:ln/>
        </p:spPr>
        <p:txBody>
          <a:bodyPr wrap="square" lIns="0" tIns="0" rIns="0" bIns="0" rtlCol="0" anchor="ctr"/>
          <a:lstStyle/>
          <a:p>
            <a:pPr marL="0" indent="0" algn="r">
              <a:buNone/>
            </a:pPr>
            <a:r>
              <a:rPr lang="en-US" sz="1500" b="1" dirty="0">
                <a:solidFill>
                  <a:srgbClr val="5A6B7B"/>
                </a:solidFill>
                <a:latin typeface="Cambria" pitchFamily="34" charset="0"/>
                <a:ea typeface="Cambria" pitchFamily="34" charset="-122"/>
                <a:cs typeface="Cambria" pitchFamily="34" charset="-120"/>
              </a:rPr>
              <a:t>96.1%</a:t>
            </a:r>
            <a:endParaRPr lang="en-US" sz="1500" dirty="0"/>
          </a:p>
        </p:txBody>
      </p:sp>
      <p:sp>
        <p:nvSpPr>
          <p:cNvPr id="24" name="Text 22"/>
          <p:cNvSpPr txBox="1"/>
          <p:nvPr/>
        </p:nvSpPr>
        <p:spPr>
          <a:xfrm>
            <a:off x="548640" y="4041648"/>
            <a:ext cx="2057400" cy="621792"/>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Grocery</a:t>
            </a:r>
            <a:endParaRPr lang="en-US" sz="1300" dirty="0"/>
          </a:p>
        </p:txBody>
      </p:sp>
      <p:sp>
        <p:nvSpPr>
          <p:cNvPr id="25" name="Text 23"/>
          <p:cNvSpPr txBox="1"/>
          <p:nvPr/>
        </p:nvSpPr>
        <p:spPr>
          <a:xfrm>
            <a:off x="2606040" y="4041648"/>
            <a:ext cx="3383280" cy="621792"/>
          </a:xfrm>
          <a:prstGeom prst="rect">
            <a:avLst/>
          </a:prstGeom>
          <a:noFill/>
          <a:ln/>
        </p:spPr>
        <p:txBody>
          <a:bodyPr wrap="square" lIns="0" tIns="0" rIns="0" bIns="0" rtlCol="0" anchor="ctr"/>
          <a:lstStyle/>
          <a:p>
            <a:pPr marL="0" indent="0">
              <a:buNone/>
            </a:pPr>
            <a:r>
              <a:rPr lang="en-US" sz="1150" dirty="0">
                <a:solidFill>
                  <a:srgbClr val="33465A"/>
                </a:solidFill>
                <a:latin typeface="Calibri" pitchFamily="34" charset="0"/>
                <a:ea typeface="Calibri" pitchFamily="34" charset="-122"/>
                <a:cs typeface="Calibri" pitchFamily="34" charset="-120"/>
              </a:rPr>
              <a:t>Rice (5kg) ₹85.62 L  ·  Dal (1kg) ₹84.88 L</a:t>
            </a:r>
            <a:endParaRPr lang="en-US" sz="1150" dirty="0"/>
          </a:p>
        </p:txBody>
      </p:sp>
      <p:sp>
        <p:nvSpPr>
          <p:cNvPr id="26" name="Text 24"/>
          <p:cNvSpPr txBox="1"/>
          <p:nvPr/>
        </p:nvSpPr>
        <p:spPr>
          <a:xfrm>
            <a:off x="5989320" y="4041648"/>
            <a:ext cx="3429000" cy="621792"/>
          </a:xfrm>
          <a:prstGeom prst="rect">
            <a:avLst/>
          </a:prstGeom>
          <a:noFill/>
          <a:ln/>
        </p:spPr>
        <p:txBody>
          <a:bodyPr wrap="square" lIns="0" tIns="0" rIns="0" bIns="0" rtlCol="0" anchor="ctr"/>
          <a:lstStyle/>
          <a:p>
            <a:pPr marL="0" indent="0">
              <a:buNone/>
            </a:pPr>
            <a:r>
              <a:rPr lang="en-US" sz="1150" dirty="0">
                <a:solidFill>
                  <a:srgbClr val="33465A"/>
                </a:solidFill>
                <a:latin typeface="Calibri" pitchFamily="34" charset="0"/>
                <a:ea typeface="Calibri" pitchFamily="34" charset="-122"/>
                <a:cs typeface="Calibri" pitchFamily="34" charset="-120"/>
              </a:rPr>
              <a:t>Sugar (1kg) ₹83.78 L  ·  Oil (1L) ₹84.32 L</a:t>
            </a:r>
            <a:endParaRPr lang="en-US" sz="1150" dirty="0"/>
          </a:p>
        </p:txBody>
      </p:sp>
      <p:sp>
        <p:nvSpPr>
          <p:cNvPr id="27" name="Text 25"/>
          <p:cNvSpPr txBox="1"/>
          <p:nvPr/>
        </p:nvSpPr>
        <p:spPr>
          <a:xfrm>
            <a:off x="9418320" y="4041648"/>
            <a:ext cx="2221992" cy="621792"/>
          </a:xfrm>
          <a:prstGeom prst="rect">
            <a:avLst/>
          </a:prstGeom>
          <a:noFill/>
          <a:ln/>
        </p:spPr>
        <p:txBody>
          <a:bodyPr wrap="square" lIns="0" tIns="0" rIns="0" bIns="0" rtlCol="0" anchor="ctr"/>
          <a:lstStyle/>
          <a:p>
            <a:pPr marL="0" indent="0" algn="r">
              <a:buNone/>
            </a:pPr>
            <a:r>
              <a:rPr lang="en-US" sz="1500" b="1" dirty="0">
                <a:solidFill>
                  <a:srgbClr val="5A6B7B"/>
                </a:solidFill>
                <a:latin typeface="Cambria" pitchFamily="34" charset="0"/>
                <a:ea typeface="Cambria" pitchFamily="34" charset="-122"/>
                <a:cs typeface="Cambria" pitchFamily="34" charset="-120"/>
              </a:rPr>
              <a:t>97.8%</a:t>
            </a:r>
            <a:endParaRPr lang="en-US" sz="1500" dirty="0"/>
          </a:p>
        </p:txBody>
      </p:sp>
      <p:sp>
        <p:nvSpPr>
          <p:cNvPr id="28" name="Text 26"/>
          <p:cNvSpPr txBox="1"/>
          <p:nvPr/>
        </p:nvSpPr>
        <p:spPr>
          <a:xfrm>
            <a:off x="548640" y="4773168"/>
            <a:ext cx="2057400" cy="621792"/>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Personal Care</a:t>
            </a:r>
            <a:endParaRPr lang="en-US" sz="1300" dirty="0"/>
          </a:p>
        </p:txBody>
      </p:sp>
      <p:sp>
        <p:nvSpPr>
          <p:cNvPr id="29" name="Text 27"/>
          <p:cNvSpPr txBox="1"/>
          <p:nvPr/>
        </p:nvSpPr>
        <p:spPr>
          <a:xfrm>
            <a:off x="2606040" y="4773168"/>
            <a:ext cx="3383280" cy="621792"/>
          </a:xfrm>
          <a:prstGeom prst="rect">
            <a:avLst/>
          </a:prstGeom>
          <a:noFill/>
          <a:ln/>
        </p:spPr>
        <p:txBody>
          <a:bodyPr wrap="square" lIns="0" tIns="0" rIns="0" bIns="0" rtlCol="0" anchor="ctr"/>
          <a:lstStyle/>
          <a:p>
            <a:pPr marL="0" indent="0">
              <a:buNone/>
            </a:pPr>
            <a:r>
              <a:rPr lang="en-US" sz="1150" dirty="0">
                <a:solidFill>
                  <a:srgbClr val="33465A"/>
                </a:solidFill>
                <a:latin typeface="Calibri" pitchFamily="34" charset="0"/>
                <a:ea typeface="Calibri" pitchFamily="34" charset="-122"/>
                <a:cs typeface="Calibri" pitchFamily="34" charset="-120"/>
              </a:rPr>
              <a:t>Shampoo ₹81.68 L  ·  Body Lotion ₹81.07 L</a:t>
            </a:r>
            <a:endParaRPr lang="en-US" sz="1150" dirty="0"/>
          </a:p>
        </p:txBody>
      </p:sp>
      <p:sp>
        <p:nvSpPr>
          <p:cNvPr id="30" name="Text 28"/>
          <p:cNvSpPr txBox="1"/>
          <p:nvPr/>
        </p:nvSpPr>
        <p:spPr>
          <a:xfrm>
            <a:off x="5989320" y="4773168"/>
            <a:ext cx="3429000" cy="621792"/>
          </a:xfrm>
          <a:prstGeom prst="rect">
            <a:avLst/>
          </a:prstGeom>
          <a:noFill/>
          <a:ln/>
        </p:spPr>
        <p:txBody>
          <a:bodyPr wrap="square" lIns="0" tIns="0" rIns="0" bIns="0" rtlCol="0" anchor="ctr"/>
          <a:lstStyle/>
          <a:p>
            <a:pPr marL="0" indent="0">
              <a:buNone/>
            </a:pPr>
            <a:r>
              <a:rPr lang="en-US" sz="1150" dirty="0">
                <a:solidFill>
                  <a:srgbClr val="33465A"/>
                </a:solidFill>
                <a:latin typeface="Calibri" pitchFamily="34" charset="0"/>
                <a:ea typeface="Calibri" pitchFamily="34" charset="-122"/>
                <a:cs typeface="Calibri" pitchFamily="34" charset="-120"/>
              </a:rPr>
              <a:t>Sunscreen ₹75.94 L  ·  Toothpaste ₹77.69 L</a:t>
            </a:r>
            <a:endParaRPr lang="en-US" sz="1150" dirty="0"/>
          </a:p>
        </p:txBody>
      </p:sp>
      <p:sp>
        <p:nvSpPr>
          <p:cNvPr id="31" name="Text 29"/>
          <p:cNvSpPr txBox="1"/>
          <p:nvPr/>
        </p:nvSpPr>
        <p:spPr>
          <a:xfrm>
            <a:off x="9418320" y="4773168"/>
            <a:ext cx="2221992" cy="621792"/>
          </a:xfrm>
          <a:prstGeom prst="rect">
            <a:avLst/>
          </a:prstGeom>
          <a:noFill/>
          <a:ln/>
        </p:spPr>
        <p:txBody>
          <a:bodyPr wrap="square" lIns="0" tIns="0" rIns="0" bIns="0" rtlCol="0" anchor="ctr"/>
          <a:lstStyle/>
          <a:p>
            <a:pPr marL="0" indent="0" algn="r">
              <a:buNone/>
            </a:pPr>
            <a:r>
              <a:rPr lang="en-US" sz="1500" b="1" dirty="0">
                <a:solidFill>
                  <a:srgbClr val="5A6B7B"/>
                </a:solidFill>
                <a:latin typeface="Cambria" pitchFamily="34" charset="0"/>
                <a:ea typeface="Cambria" pitchFamily="34" charset="-122"/>
                <a:cs typeface="Cambria" pitchFamily="34" charset="-120"/>
              </a:rPr>
              <a:t>93.0%</a:t>
            </a:r>
            <a:endParaRPr lang="en-US" sz="1500" dirty="0"/>
          </a:p>
        </p:txBody>
      </p:sp>
      <p:sp>
        <p:nvSpPr>
          <p:cNvPr id="32" name="Shape 30"/>
          <p:cNvSpPr/>
          <p:nvPr/>
        </p:nvSpPr>
        <p:spPr>
          <a:xfrm>
            <a:off x="548640" y="5559552"/>
            <a:ext cx="11091672" cy="658368"/>
          </a:xfrm>
          <a:prstGeom prst="roundRect">
            <a:avLst>
              <a:gd name="adj" fmla="val 11111"/>
            </a:avLst>
          </a:prstGeom>
          <a:solidFill>
            <a:srgbClr val="0F2A43"/>
          </a:solidFill>
          <a:ln w="12700">
            <a:solidFill>
              <a:srgbClr val="0F2A43"/>
            </a:solidFill>
            <a:prstDash val="solid"/>
          </a:ln>
        </p:spPr>
      </p:sp>
      <p:pic>
        <p:nvPicPr>
          <p:cNvPr id="33" name="Image 0" descr="icon_alert_a.png"/>
          <p:cNvPicPr>
            <a:picLocks noChangeAspect="1"/>
          </p:cNvPicPr>
          <p:nvPr/>
        </p:nvPicPr>
        <p:blipFill>
          <a:blip r:embed="rId3"/>
          <a:stretch>
            <a:fillRect/>
          </a:stretch>
        </p:blipFill>
        <p:spPr>
          <a:xfrm>
            <a:off x="777240" y="5733288"/>
            <a:ext cx="310896" cy="310896"/>
          </a:xfrm>
          <a:prstGeom prst="rect">
            <a:avLst/>
          </a:prstGeom>
        </p:spPr>
      </p:pic>
      <p:sp>
        <p:nvSpPr>
          <p:cNvPr id="34" name="Text 31"/>
          <p:cNvSpPr txBox="1"/>
          <p:nvPr/>
        </p:nvSpPr>
        <p:spPr>
          <a:xfrm>
            <a:off x="1234440" y="5632704"/>
            <a:ext cx="10195560" cy="512064"/>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No category has a dead product — the weakest line still earns 88–98% of the strongest. This is a category problem, not a delisting decision, so the challenge is Electronics as a whole. The dataset has no supplier column, so we name the category and products, not a supplier.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56032"/>
          </a:xfrm>
          <a:prstGeom prst="rect">
            <a:avLst/>
          </a:prstGeom>
          <a:noFill/>
          <a:ln/>
        </p:spPr>
        <p:txBody>
          <a:bodyPr wrap="square" lIns="0" tIns="0" rIns="0" bIns="0" rtlCol="0" anchor="ctr"/>
          <a:lstStyle/>
          <a:p>
            <a:pPr marL="0" indent="0">
              <a:buNone/>
            </a:pPr>
            <a:r>
              <a:rPr lang="en-US" sz="1100" b="1" kern="0" spc="200" dirty="0">
                <a:solidFill>
                  <a:srgbClr val="E08A1E"/>
                </a:solidFill>
                <a:latin typeface="Calibri" pitchFamily="34" charset="0"/>
                <a:ea typeface="Calibri" pitchFamily="34" charset="-122"/>
                <a:cs typeface="Calibri" pitchFamily="34" charset="-120"/>
              </a:rPr>
              <a:t>STEP 6.4  ·  DISCOUNT EFFECTIVENESS</a:t>
            </a:r>
            <a:endParaRPr lang="en-US" sz="1100" dirty="0"/>
          </a:p>
        </p:txBody>
      </p:sp>
      <p:sp>
        <p:nvSpPr>
          <p:cNvPr id="3" name="Text 1"/>
          <p:cNvSpPr txBox="1"/>
          <p:nvPr/>
        </p:nvSpPr>
        <p:spPr>
          <a:xfrm>
            <a:off x="548640" y="566928"/>
            <a:ext cx="10515600" cy="658368"/>
          </a:xfrm>
          <a:prstGeom prst="rect">
            <a:avLst/>
          </a:prstGeom>
          <a:noFill/>
          <a:ln/>
        </p:spPr>
        <p:txBody>
          <a:bodyPr wrap="square" lIns="0" tIns="0" rIns="0" bIns="0" rtlCol="0" anchor="ctr"/>
          <a:lstStyle/>
          <a:p>
            <a:pPr marL="0" indent="0">
              <a:buNone/>
            </a:pPr>
            <a:r>
              <a:rPr lang="en-US" sz="3200" b="1" dirty="0">
                <a:solidFill>
                  <a:srgbClr val="0F2A43"/>
                </a:solidFill>
                <a:latin typeface="Cambria" pitchFamily="34" charset="0"/>
                <a:ea typeface="Cambria" pitchFamily="34" charset="-122"/>
                <a:cs typeface="Cambria" pitchFamily="34" charset="-120"/>
              </a:rPr>
              <a:t>Are Discounts Driving More Revenue?</a:t>
            </a:r>
            <a:endParaRPr lang="en-US" sz="3200" dirty="0"/>
          </a:p>
        </p:txBody>
      </p:sp>
      <p:sp>
        <p:nvSpPr>
          <p:cNvPr id="5" name="Text 3"/>
          <p:cNvSpPr txBox="1"/>
          <p:nvPr/>
        </p:nvSpPr>
        <p:spPr>
          <a:xfrm>
            <a:off x="6400800" y="6336792"/>
            <a:ext cx="5239512" cy="274320"/>
          </a:xfrm>
          <a:prstGeom prst="rect">
            <a:avLst/>
          </a:prstGeom>
          <a:noFill/>
          <a:ln/>
        </p:spPr>
        <p:txBody>
          <a:bodyPr wrap="square" lIns="0" tIns="0" rIns="0" bIns="0" rtlCol="0" anchor="ctr"/>
          <a:lstStyle/>
          <a:p>
            <a:pPr marL="0" indent="0" algn="r">
              <a:buNone/>
            </a:pPr>
            <a:r>
              <a:rPr lang="en-US" sz="1000" dirty="0">
                <a:solidFill>
                  <a:srgbClr val="A6B2BD"/>
                </a:solidFill>
                <a:latin typeface="Calibri" pitchFamily="34" charset="0"/>
                <a:ea typeface="Calibri" pitchFamily="34" charset="-122"/>
                <a:cs typeface="Calibri" pitchFamily="34" charset="-120"/>
              </a:rPr>
              <a:t>GROUP 12  ·  Category Intelligence</a:t>
            </a:r>
            <a:endParaRPr lang="en-US" sz="1000" dirty="0"/>
          </a:p>
        </p:txBody>
      </p:sp>
      <p:pic>
        <p:nvPicPr>
          <p:cNvPr id="6" name="Image 0" descr="sl_discount.png"/>
          <p:cNvPicPr>
            <a:picLocks noChangeAspect="1"/>
          </p:cNvPicPr>
          <p:nvPr/>
        </p:nvPicPr>
        <p:blipFill>
          <a:blip r:embed="rId3"/>
          <a:stretch>
            <a:fillRect/>
          </a:stretch>
        </p:blipFill>
        <p:spPr>
          <a:xfrm>
            <a:off x="548640" y="1417320"/>
            <a:ext cx="6675120" cy="3977640"/>
          </a:xfrm>
          <a:prstGeom prst="rect">
            <a:avLst/>
          </a:prstGeom>
        </p:spPr>
      </p:pic>
      <p:sp>
        <p:nvSpPr>
          <p:cNvPr id="7" name="Shape 4"/>
          <p:cNvSpPr/>
          <p:nvPr/>
        </p:nvSpPr>
        <p:spPr>
          <a:xfrm>
            <a:off x="7498080" y="1417320"/>
            <a:ext cx="4142232" cy="1481328"/>
          </a:xfrm>
          <a:prstGeom prst="roundRect">
            <a:avLst>
              <a:gd name="adj" fmla="val 4938"/>
            </a:avLst>
          </a:prstGeom>
          <a:solidFill>
            <a:srgbClr val="FDF1DF"/>
          </a:solidFill>
          <a:ln w="12700">
            <a:solidFill>
              <a:srgbClr val="DCE3EA"/>
            </a:solidFill>
            <a:prstDash val="solid"/>
          </a:ln>
        </p:spPr>
      </p:sp>
      <p:sp>
        <p:nvSpPr>
          <p:cNvPr id="8" name="Text 5"/>
          <p:cNvSpPr txBox="1"/>
          <p:nvPr/>
        </p:nvSpPr>
        <p:spPr>
          <a:xfrm>
            <a:off x="7735824" y="1572768"/>
            <a:ext cx="3657600" cy="310896"/>
          </a:xfrm>
          <a:prstGeom prst="rect">
            <a:avLst/>
          </a:prstGeom>
          <a:noFill/>
          <a:ln/>
        </p:spPr>
        <p:txBody>
          <a:bodyPr wrap="square" lIns="0" tIns="0" rIns="0" bIns="0" rtlCol="0" anchor="ctr"/>
          <a:lstStyle/>
          <a:p>
            <a:pPr marL="0" indent="0">
              <a:buNone/>
            </a:pPr>
            <a:r>
              <a:rPr lang="en-US" sz="1350" b="1" dirty="0">
                <a:solidFill>
                  <a:srgbClr val="7A4A05"/>
                </a:solidFill>
                <a:latin typeface="Calibri" pitchFamily="34" charset="0"/>
                <a:ea typeface="Calibri" pitchFamily="34" charset="-122"/>
                <a:cs typeface="Calibri" pitchFamily="34" charset="-120"/>
              </a:rPr>
              <a:t>Our position: discounts are not working</a:t>
            </a:r>
            <a:endParaRPr lang="en-US" sz="1350" dirty="0"/>
          </a:p>
        </p:txBody>
      </p:sp>
      <p:sp>
        <p:nvSpPr>
          <p:cNvPr id="9" name="Text 6"/>
          <p:cNvSpPr txBox="1"/>
          <p:nvPr/>
        </p:nvSpPr>
        <p:spPr>
          <a:xfrm>
            <a:off x="7735824" y="1920240"/>
            <a:ext cx="3657600" cy="896112"/>
          </a:xfrm>
          <a:prstGeom prst="rect">
            <a:avLst/>
          </a:prstGeom>
          <a:noFill/>
          <a:ln/>
        </p:spPr>
        <p:txBody>
          <a:bodyPr wrap="square" lIns="0" tIns="0" rIns="0" bIns="0" rtlCol="0" anchor="ctr"/>
          <a:lstStyle/>
          <a:p>
            <a:pPr marL="0" indent="0">
              <a:buNone/>
            </a:pPr>
            <a:r>
              <a:rPr lang="en-US" sz="1150" dirty="0">
                <a:solidFill>
                  <a:srgbClr val="5C4415"/>
                </a:solidFill>
                <a:latin typeface="Calibri" pitchFamily="34" charset="0"/>
                <a:ea typeface="Calibri" pitchFamily="34" charset="-122"/>
                <a:cs typeface="Calibri" pitchFamily="34" charset="-120"/>
              </a:rPr>
              <a:t>Revenue per transaction falls 22.5% from ₹4,685.65 at full price to ₹3,631.73 at 20% off, while average units sold stays flat at 2.57–2.60 in every bracket and every category.</a:t>
            </a:r>
            <a:endParaRPr lang="en-US" sz="1150" dirty="0"/>
          </a:p>
        </p:txBody>
      </p:sp>
      <p:sp>
        <p:nvSpPr>
          <p:cNvPr id="10" name="Shape 7"/>
          <p:cNvSpPr/>
          <p:nvPr/>
        </p:nvSpPr>
        <p:spPr>
          <a:xfrm>
            <a:off x="7498080" y="2999232"/>
            <a:ext cx="4142232" cy="768096"/>
          </a:xfrm>
          <a:prstGeom prst="roundRect">
            <a:avLst>
              <a:gd name="adj" fmla="val 9524"/>
            </a:avLst>
          </a:prstGeom>
          <a:solidFill>
            <a:srgbClr val="F2F5F8"/>
          </a:solidFill>
          <a:ln w="12700">
            <a:solidFill>
              <a:srgbClr val="DCE3EA"/>
            </a:solidFill>
            <a:prstDash val="solid"/>
          </a:ln>
        </p:spPr>
      </p:sp>
      <p:sp>
        <p:nvSpPr>
          <p:cNvPr id="11" name="Text 8"/>
          <p:cNvSpPr txBox="1"/>
          <p:nvPr/>
        </p:nvSpPr>
        <p:spPr>
          <a:xfrm>
            <a:off x="7717536" y="3145536"/>
            <a:ext cx="1371600" cy="457200"/>
          </a:xfrm>
          <a:prstGeom prst="rect">
            <a:avLst/>
          </a:prstGeom>
          <a:noFill/>
          <a:ln/>
        </p:spPr>
        <p:txBody>
          <a:bodyPr wrap="square" lIns="0" tIns="0" rIns="0" bIns="0" rtlCol="0" anchor="ctr"/>
          <a:lstStyle/>
          <a:p>
            <a:pPr marL="0" indent="0">
              <a:buNone/>
            </a:pPr>
            <a:r>
              <a:rPr lang="en-US" sz="1900" b="1" dirty="0">
                <a:solidFill>
                  <a:srgbClr val="0F2A43"/>
                </a:solidFill>
                <a:latin typeface="Cambria" pitchFamily="34" charset="0"/>
                <a:ea typeface="Cambria" pitchFamily="34" charset="-122"/>
                <a:cs typeface="Cambria" pitchFamily="34" charset="-120"/>
              </a:rPr>
              <a:t>66.6%</a:t>
            </a:r>
            <a:endParaRPr lang="en-US" sz="1900" dirty="0"/>
          </a:p>
        </p:txBody>
      </p:sp>
      <p:sp>
        <p:nvSpPr>
          <p:cNvPr id="12" name="Text 9"/>
          <p:cNvSpPr txBox="1"/>
          <p:nvPr/>
        </p:nvSpPr>
        <p:spPr>
          <a:xfrm>
            <a:off x="9125712" y="3081528"/>
            <a:ext cx="2377440" cy="603504"/>
          </a:xfrm>
          <a:prstGeom prst="rect">
            <a:avLst/>
          </a:prstGeom>
          <a:noFill/>
          <a:ln/>
        </p:spPr>
        <p:txBody>
          <a:bodyPr wrap="square" lIns="0" tIns="0" rIns="0" bIns="0" rtlCol="0" anchor="ctr"/>
          <a:lstStyle/>
          <a:p>
            <a:pPr marL="0" indent="0">
              <a:buNone/>
            </a:pPr>
            <a:r>
              <a:rPr lang="en-US" sz="1100" dirty="0">
                <a:solidFill>
                  <a:srgbClr val="5A6B7B"/>
                </a:solidFill>
                <a:latin typeface="Calibri" pitchFamily="34" charset="0"/>
                <a:ea typeface="Calibri" pitchFamily="34" charset="-122"/>
                <a:cs typeface="Calibri" pitchFamily="34" charset="-120"/>
              </a:rPr>
              <a:t>of transactions carry a discount — 71,803 of 107,836</a:t>
            </a:r>
            <a:endParaRPr lang="en-US" sz="1100" dirty="0"/>
          </a:p>
        </p:txBody>
      </p:sp>
      <p:sp>
        <p:nvSpPr>
          <p:cNvPr id="13" name="Shape 10"/>
          <p:cNvSpPr/>
          <p:nvPr/>
        </p:nvSpPr>
        <p:spPr>
          <a:xfrm>
            <a:off x="7498080" y="3840480"/>
            <a:ext cx="4142232" cy="768096"/>
          </a:xfrm>
          <a:prstGeom prst="roundRect">
            <a:avLst>
              <a:gd name="adj" fmla="val 9524"/>
            </a:avLst>
          </a:prstGeom>
          <a:solidFill>
            <a:srgbClr val="F2F5F8"/>
          </a:solidFill>
          <a:ln w="12700">
            <a:solidFill>
              <a:srgbClr val="DCE3EA"/>
            </a:solidFill>
            <a:prstDash val="solid"/>
          </a:ln>
        </p:spPr>
      </p:sp>
      <p:sp>
        <p:nvSpPr>
          <p:cNvPr id="14" name="Text 11"/>
          <p:cNvSpPr txBox="1"/>
          <p:nvPr/>
        </p:nvSpPr>
        <p:spPr>
          <a:xfrm>
            <a:off x="7717536" y="3986784"/>
            <a:ext cx="1371600" cy="457200"/>
          </a:xfrm>
          <a:prstGeom prst="rect">
            <a:avLst/>
          </a:prstGeom>
          <a:noFill/>
          <a:ln/>
        </p:spPr>
        <p:txBody>
          <a:bodyPr wrap="square" lIns="0" tIns="0" rIns="0" bIns="0" rtlCol="0" anchor="ctr"/>
          <a:lstStyle/>
          <a:p>
            <a:pPr marL="0" indent="0">
              <a:buNone/>
            </a:pPr>
            <a:r>
              <a:rPr lang="en-US" sz="1900" b="1" dirty="0">
                <a:solidFill>
                  <a:srgbClr val="0F2A43"/>
                </a:solidFill>
                <a:latin typeface="Cambria" pitchFamily="34" charset="0"/>
                <a:ea typeface="Cambria" pitchFamily="34" charset="-122"/>
                <a:cs typeface="Cambria" pitchFamily="34" charset="-120"/>
              </a:rPr>
              <a:t>₹3.56 Cr</a:t>
            </a:r>
            <a:endParaRPr lang="en-US" sz="1900" dirty="0"/>
          </a:p>
        </p:txBody>
      </p:sp>
      <p:sp>
        <p:nvSpPr>
          <p:cNvPr id="15" name="Text 12"/>
          <p:cNvSpPr txBox="1"/>
          <p:nvPr/>
        </p:nvSpPr>
        <p:spPr>
          <a:xfrm>
            <a:off x="9125712" y="3922776"/>
            <a:ext cx="2377440" cy="603504"/>
          </a:xfrm>
          <a:prstGeom prst="rect">
            <a:avLst/>
          </a:prstGeom>
          <a:noFill/>
          <a:ln/>
        </p:spPr>
        <p:txBody>
          <a:bodyPr wrap="square" lIns="0" tIns="0" rIns="0" bIns="0" rtlCol="0" anchor="ctr"/>
          <a:lstStyle/>
          <a:p>
            <a:pPr marL="0" indent="0">
              <a:buNone/>
            </a:pPr>
            <a:r>
              <a:rPr lang="en-US" sz="1100" dirty="0">
                <a:solidFill>
                  <a:srgbClr val="5A6B7B"/>
                </a:solidFill>
                <a:latin typeface="Calibri" pitchFamily="34" charset="0"/>
                <a:ea typeface="Calibri" pitchFamily="34" charset="-122"/>
                <a:cs typeface="Calibri" pitchFamily="34" charset="-120"/>
              </a:rPr>
              <a:t>gap between list value and realised revenue over six months</a:t>
            </a:r>
            <a:endParaRPr lang="en-US" sz="1100" dirty="0"/>
          </a:p>
        </p:txBody>
      </p:sp>
      <p:sp>
        <p:nvSpPr>
          <p:cNvPr id="16" name="Shape 13"/>
          <p:cNvSpPr/>
          <p:nvPr/>
        </p:nvSpPr>
        <p:spPr>
          <a:xfrm>
            <a:off x="7498080" y="4681728"/>
            <a:ext cx="4142232" cy="768096"/>
          </a:xfrm>
          <a:prstGeom prst="roundRect">
            <a:avLst>
              <a:gd name="adj" fmla="val 9524"/>
            </a:avLst>
          </a:prstGeom>
          <a:solidFill>
            <a:srgbClr val="F2F5F8"/>
          </a:solidFill>
          <a:ln w="12700">
            <a:solidFill>
              <a:srgbClr val="DCE3EA"/>
            </a:solidFill>
            <a:prstDash val="solid"/>
          </a:ln>
        </p:spPr>
      </p:sp>
      <p:sp>
        <p:nvSpPr>
          <p:cNvPr id="17" name="Text 14"/>
          <p:cNvSpPr txBox="1"/>
          <p:nvPr/>
        </p:nvSpPr>
        <p:spPr>
          <a:xfrm>
            <a:off x="7717536" y="4828032"/>
            <a:ext cx="1371600" cy="457200"/>
          </a:xfrm>
          <a:prstGeom prst="rect">
            <a:avLst/>
          </a:prstGeom>
          <a:noFill/>
          <a:ln/>
        </p:spPr>
        <p:txBody>
          <a:bodyPr wrap="square" lIns="0" tIns="0" rIns="0" bIns="0" rtlCol="0" anchor="ctr"/>
          <a:lstStyle/>
          <a:p>
            <a:pPr marL="0" indent="0">
              <a:buNone/>
            </a:pPr>
            <a:r>
              <a:rPr lang="en-US" sz="1900" b="1" dirty="0">
                <a:solidFill>
                  <a:srgbClr val="0F2A43"/>
                </a:solidFill>
                <a:latin typeface="Cambria" pitchFamily="34" charset="0"/>
                <a:ea typeface="Cambria" pitchFamily="34" charset="-122"/>
                <a:cs typeface="Cambria" pitchFamily="34" charset="-120"/>
              </a:rPr>
              <a:t>0</a:t>
            </a:r>
            <a:endParaRPr lang="en-US" sz="1900" dirty="0"/>
          </a:p>
        </p:txBody>
      </p:sp>
      <p:sp>
        <p:nvSpPr>
          <p:cNvPr id="18" name="Text 15"/>
          <p:cNvSpPr txBox="1"/>
          <p:nvPr/>
        </p:nvSpPr>
        <p:spPr>
          <a:xfrm>
            <a:off x="9125712" y="4764024"/>
            <a:ext cx="2377440" cy="603504"/>
          </a:xfrm>
          <a:prstGeom prst="rect">
            <a:avLst/>
          </a:prstGeom>
          <a:noFill/>
          <a:ln/>
        </p:spPr>
        <p:txBody>
          <a:bodyPr wrap="square" lIns="0" tIns="0" rIns="0" bIns="0" rtlCol="0" anchor="ctr"/>
          <a:lstStyle/>
          <a:p>
            <a:pPr marL="0" indent="0">
              <a:buNone/>
            </a:pPr>
            <a:r>
              <a:rPr lang="en-US" sz="1100" dirty="0">
                <a:solidFill>
                  <a:srgbClr val="5A6B7B"/>
                </a:solidFill>
                <a:latin typeface="Calibri" pitchFamily="34" charset="0"/>
                <a:ea typeface="Calibri" pitchFamily="34" charset="-122"/>
                <a:cs typeface="Calibri" pitchFamily="34" charset="-120"/>
              </a:rPr>
              <a:t>transactions in the 25%+ bracket — reported empty, not estimated</a:t>
            </a:r>
            <a:endParaRPr lang="en-US" sz="1100" dirty="0"/>
          </a:p>
        </p:txBody>
      </p:sp>
      <p:sp>
        <p:nvSpPr>
          <p:cNvPr id="19" name="Shape 16"/>
          <p:cNvSpPr/>
          <p:nvPr/>
        </p:nvSpPr>
        <p:spPr>
          <a:xfrm>
            <a:off x="548640" y="5559552"/>
            <a:ext cx="11091672" cy="640080"/>
          </a:xfrm>
          <a:prstGeom prst="roundRect">
            <a:avLst>
              <a:gd name="adj" fmla="val 11429"/>
            </a:avLst>
          </a:prstGeom>
          <a:solidFill>
            <a:srgbClr val="F2F5F8"/>
          </a:solidFill>
          <a:ln w="12700">
            <a:solidFill>
              <a:srgbClr val="DCE3EA"/>
            </a:solidFill>
            <a:prstDash val="solid"/>
          </a:ln>
        </p:spPr>
      </p:sp>
      <p:pic>
        <p:nvPicPr>
          <p:cNvPr id="20" name="Image 1" descr="icon_alert_n.png"/>
          <p:cNvPicPr>
            <a:picLocks noChangeAspect="1"/>
          </p:cNvPicPr>
          <p:nvPr/>
        </p:nvPicPr>
        <p:blipFill>
          <a:blip r:embed="rId4"/>
          <a:stretch>
            <a:fillRect/>
          </a:stretch>
        </p:blipFill>
        <p:spPr>
          <a:xfrm>
            <a:off x="777240" y="5724144"/>
            <a:ext cx="310896" cy="310896"/>
          </a:xfrm>
          <a:prstGeom prst="rect">
            <a:avLst/>
          </a:prstGeom>
        </p:spPr>
      </p:pic>
      <p:sp>
        <p:nvSpPr>
          <p:cNvPr id="21" name="Text 17"/>
          <p:cNvSpPr txBox="1"/>
          <p:nvPr/>
        </p:nvSpPr>
        <p:spPr>
          <a:xfrm>
            <a:off x="1234440" y="5632704"/>
            <a:ext cx="10195560" cy="493776"/>
          </a:xfrm>
          <a:prstGeom prst="rect">
            <a:avLst/>
          </a:prstGeom>
          <a:noFill/>
          <a:ln/>
        </p:spPr>
        <p:txBody>
          <a:bodyPr wrap="square" lIns="0" tIns="0" rIns="0" bIns="0" rtlCol="0" anchor="ctr"/>
          <a:lstStyle/>
          <a:p>
            <a:pPr marL="0" indent="0">
              <a:buNone/>
            </a:pPr>
            <a:r>
              <a:rPr lang="en-US" sz="1200" i="1" dirty="0">
                <a:solidFill>
                  <a:srgbClr val="33465A"/>
                </a:solidFill>
                <a:latin typeface="Calibri" pitchFamily="34" charset="0"/>
                <a:ea typeface="Calibri" pitchFamily="34" charset="-122"/>
                <a:cs typeface="Calibri" pitchFamily="34" charset="-120"/>
              </a:rPr>
              <a:t>Limitation: the dataset holds revenue after discount but no cost, COGS or margin column. We can show the discount is not buying volume; we cannot measure the margin it destroys.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56032"/>
          </a:xfrm>
          <a:prstGeom prst="rect">
            <a:avLst/>
          </a:prstGeom>
          <a:noFill/>
          <a:ln/>
        </p:spPr>
        <p:txBody>
          <a:bodyPr wrap="square" lIns="0" tIns="0" rIns="0" bIns="0" rtlCol="0" anchor="ctr"/>
          <a:lstStyle/>
          <a:p>
            <a:pPr marL="0" indent="0">
              <a:buNone/>
            </a:pPr>
            <a:r>
              <a:rPr lang="en-US" sz="1100" b="1" kern="0" spc="200" dirty="0">
                <a:solidFill>
                  <a:srgbClr val="E08A1E"/>
                </a:solidFill>
                <a:latin typeface="Calibri" pitchFamily="34" charset="0"/>
                <a:ea typeface="Calibri" pitchFamily="34" charset="-122"/>
                <a:cs typeface="Calibri" pitchFamily="34" charset="-120"/>
              </a:rPr>
              <a:t>STEP 6.5  ·  TIMING PATTERNS</a:t>
            </a:r>
            <a:endParaRPr lang="en-US" sz="1100" dirty="0"/>
          </a:p>
        </p:txBody>
      </p:sp>
      <p:sp>
        <p:nvSpPr>
          <p:cNvPr id="3" name="Text 1"/>
          <p:cNvSpPr txBox="1"/>
          <p:nvPr/>
        </p:nvSpPr>
        <p:spPr>
          <a:xfrm>
            <a:off x="548640" y="566928"/>
            <a:ext cx="10515600" cy="658368"/>
          </a:xfrm>
          <a:prstGeom prst="rect">
            <a:avLst/>
          </a:prstGeom>
          <a:noFill/>
          <a:ln/>
        </p:spPr>
        <p:txBody>
          <a:bodyPr wrap="square" lIns="0" tIns="0" rIns="0" bIns="0" rtlCol="0" anchor="ctr"/>
          <a:lstStyle/>
          <a:p>
            <a:pPr marL="0" indent="0">
              <a:buNone/>
            </a:pPr>
            <a:r>
              <a:rPr lang="en-US" sz="3200" b="1" dirty="0">
                <a:solidFill>
                  <a:srgbClr val="0F2A43"/>
                </a:solidFill>
                <a:latin typeface="Cambria" pitchFamily="34" charset="0"/>
                <a:ea typeface="Cambria" pitchFamily="34" charset="-122"/>
                <a:cs typeface="Cambria" pitchFamily="34" charset="-120"/>
              </a:rPr>
              <a:t>When Does the Business Sell the Most?</a:t>
            </a:r>
            <a:endParaRPr lang="en-US" sz="3200" dirty="0"/>
          </a:p>
        </p:txBody>
      </p:sp>
      <p:sp>
        <p:nvSpPr>
          <p:cNvPr id="5" name="Text 3"/>
          <p:cNvSpPr txBox="1"/>
          <p:nvPr/>
        </p:nvSpPr>
        <p:spPr>
          <a:xfrm>
            <a:off x="6400800" y="6336792"/>
            <a:ext cx="5239512" cy="274320"/>
          </a:xfrm>
          <a:prstGeom prst="rect">
            <a:avLst/>
          </a:prstGeom>
          <a:noFill/>
          <a:ln/>
        </p:spPr>
        <p:txBody>
          <a:bodyPr wrap="square" lIns="0" tIns="0" rIns="0" bIns="0" rtlCol="0" anchor="ctr"/>
          <a:lstStyle/>
          <a:p>
            <a:pPr marL="0" indent="0" algn="r">
              <a:buNone/>
            </a:pPr>
            <a:r>
              <a:rPr lang="en-US" sz="1000" dirty="0">
                <a:solidFill>
                  <a:srgbClr val="A6B2BD"/>
                </a:solidFill>
                <a:latin typeface="Calibri" pitchFamily="34" charset="0"/>
                <a:ea typeface="Calibri" pitchFamily="34" charset="-122"/>
                <a:cs typeface="Calibri" pitchFamily="34" charset="-120"/>
              </a:rPr>
              <a:t>GROUP 12  ·  Category Intelligence</a:t>
            </a:r>
            <a:endParaRPr lang="en-US" sz="1000" dirty="0"/>
          </a:p>
        </p:txBody>
      </p:sp>
      <p:pic>
        <p:nvPicPr>
          <p:cNvPr id="6" name="Image 0" descr="sl_dow.png"/>
          <p:cNvPicPr>
            <a:picLocks noChangeAspect="1"/>
          </p:cNvPicPr>
          <p:nvPr/>
        </p:nvPicPr>
        <p:blipFill>
          <a:blip r:embed="rId3"/>
          <a:stretch>
            <a:fillRect/>
          </a:stretch>
        </p:blipFill>
        <p:spPr>
          <a:xfrm>
            <a:off x="548640" y="1371600"/>
            <a:ext cx="5486400" cy="3246120"/>
          </a:xfrm>
          <a:prstGeom prst="rect">
            <a:avLst/>
          </a:prstGeom>
        </p:spPr>
      </p:pic>
      <p:pic>
        <p:nvPicPr>
          <p:cNvPr id="7" name="Image 1" descr="sl_month.png"/>
          <p:cNvPicPr>
            <a:picLocks noChangeAspect="1"/>
          </p:cNvPicPr>
          <p:nvPr/>
        </p:nvPicPr>
        <p:blipFill>
          <a:blip r:embed="rId4"/>
          <a:stretch>
            <a:fillRect/>
          </a:stretch>
        </p:blipFill>
        <p:spPr>
          <a:xfrm>
            <a:off x="6217920" y="1371600"/>
            <a:ext cx="5422392" cy="3246120"/>
          </a:xfrm>
          <a:prstGeom prst="rect">
            <a:avLst/>
          </a:prstGeom>
        </p:spPr>
      </p:pic>
      <p:sp>
        <p:nvSpPr>
          <p:cNvPr id="8" name="Shape 4"/>
          <p:cNvSpPr/>
          <p:nvPr/>
        </p:nvSpPr>
        <p:spPr>
          <a:xfrm>
            <a:off x="548640" y="4754880"/>
            <a:ext cx="2551176" cy="868680"/>
          </a:xfrm>
          <a:prstGeom prst="roundRect">
            <a:avLst>
              <a:gd name="adj" fmla="val 8421"/>
            </a:avLst>
          </a:prstGeom>
          <a:solidFill>
            <a:srgbClr val="F2F5F8"/>
          </a:solidFill>
          <a:ln w="12700">
            <a:solidFill>
              <a:srgbClr val="DCE3EA"/>
            </a:solidFill>
            <a:prstDash val="solid"/>
          </a:ln>
        </p:spPr>
      </p:sp>
      <p:sp>
        <p:nvSpPr>
          <p:cNvPr id="9" name="Text 5"/>
          <p:cNvSpPr txBox="1"/>
          <p:nvPr/>
        </p:nvSpPr>
        <p:spPr>
          <a:xfrm>
            <a:off x="749808" y="4864608"/>
            <a:ext cx="2148840" cy="219456"/>
          </a:xfrm>
          <a:prstGeom prst="rect">
            <a:avLst/>
          </a:prstGeom>
          <a:noFill/>
          <a:ln/>
        </p:spPr>
        <p:txBody>
          <a:bodyPr wrap="square" lIns="0" tIns="0" rIns="0" bIns="0" rtlCol="0" anchor="ctr"/>
          <a:lstStyle/>
          <a:p>
            <a:pPr marL="0" indent="0">
              <a:buNone/>
            </a:pPr>
            <a:r>
              <a:rPr lang="en-US" sz="950" b="1" kern="0" spc="100" dirty="0">
                <a:solidFill>
                  <a:srgbClr val="5A6B7B"/>
                </a:solidFill>
                <a:latin typeface="Calibri" pitchFamily="34" charset="0"/>
                <a:ea typeface="Calibri" pitchFamily="34" charset="-122"/>
                <a:cs typeface="Calibri" pitchFamily="34" charset="-120"/>
              </a:rPr>
              <a:t>BEST DAY</a:t>
            </a:r>
            <a:endParaRPr lang="en-US" sz="950" dirty="0"/>
          </a:p>
        </p:txBody>
      </p:sp>
      <p:sp>
        <p:nvSpPr>
          <p:cNvPr id="10" name="Text 6"/>
          <p:cNvSpPr txBox="1"/>
          <p:nvPr/>
        </p:nvSpPr>
        <p:spPr>
          <a:xfrm>
            <a:off x="749808" y="5074920"/>
            <a:ext cx="2148840" cy="329184"/>
          </a:xfrm>
          <a:prstGeom prst="rect">
            <a:avLst/>
          </a:prstGeom>
          <a:noFill/>
          <a:ln/>
        </p:spPr>
        <p:txBody>
          <a:bodyPr wrap="square" lIns="0" tIns="0" rIns="0" bIns="0" rtlCol="0" anchor="ctr"/>
          <a:lstStyle/>
          <a:p>
            <a:pPr marL="0" indent="0">
              <a:buNone/>
            </a:pPr>
            <a:r>
              <a:rPr lang="en-US" sz="1700" b="1" dirty="0">
                <a:solidFill>
                  <a:srgbClr val="2E7D32"/>
                </a:solidFill>
                <a:latin typeface="Cambria" pitchFamily="34" charset="0"/>
                <a:ea typeface="Cambria" pitchFamily="34" charset="-122"/>
                <a:cs typeface="Cambria" pitchFamily="34" charset="-120"/>
              </a:rPr>
              <a:t>Saturday</a:t>
            </a:r>
            <a:endParaRPr lang="en-US" sz="1700" dirty="0"/>
          </a:p>
        </p:txBody>
      </p:sp>
      <p:sp>
        <p:nvSpPr>
          <p:cNvPr id="11" name="Text 7"/>
          <p:cNvSpPr txBox="1"/>
          <p:nvPr/>
        </p:nvSpPr>
        <p:spPr>
          <a:xfrm>
            <a:off x="749808" y="5376672"/>
            <a:ext cx="2148840" cy="219456"/>
          </a:xfrm>
          <a:prstGeom prst="rect">
            <a:avLst/>
          </a:prstGeom>
          <a:noFill/>
          <a:ln/>
        </p:spPr>
        <p:txBody>
          <a:bodyPr wrap="square" lIns="0" tIns="0" rIns="0" bIns="0" rtlCol="0" anchor="ctr"/>
          <a:lstStyle/>
          <a:p>
            <a:pPr marL="0" indent="0">
              <a:buNone/>
            </a:pPr>
            <a:r>
              <a:rPr lang="en-US" sz="1100" dirty="0">
                <a:solidFill>
                  <a:srgbClr val="5A6B7B"/>
                </a:solidFill>
                <a:latin typeface="Calibri" pitchFamily="34" charset="0"/>
                <a:ea typeface="Calibri" pitchFamily="34" charset="-122"/>
                <a:cs typeface="Calibri" pitchFamily="34" charset="-120"/>
              </a:rPr>
              <a:t>₹35.24 L average</a:t>
            </a:r>
            <a:endParaRPr lang="en-US" sz="1100" dirty="0"/>
          </a:p>
        </p:txBody>
      </p:sp>
      <p:sp>
        <p:nvSpPr>
          <p:cNvPr id="12" name="Shape 8"/>
          <p:cNvSpPr/>
          <p:nvPr/>
        </p:nvSpPr>
        <p:spPr>
          <a:xfrm>
            <a:off x="3392424" y="4754880"/>
            <a:ext cx="2551176" cy="868680"/>
          </a:xfrm>
          <a:prstGeom prst="roundRect">
            <a:avLst>
              <a:gd name="adj" fmla="val 8421"/>
            </a:avLst>
          </a:prstGeom>
          <a:solidFill>
            <a:srgbClr val="F2F5F8"/>
          </a:solidFill>
          <a:ln w="12700">
            <a:solidFill>
              <a:srgbClr val="DCE3EA"/>
            </a:solidFill>
            <a:prstDash val="solid"/>
          </a:ln>
        </p:spPr>
      </p:sp>
      <p:sp>
        <p:nvSpPr>
          <p:cNvPr id="13" name="Text 9"/>
          <p:cNvSpPr txBox="1"/>
          <p:nvPr/>
        </p:nvSpPr>
        <p:spPr>
          <a:xfrm>
            <a:off x="3593592" y="4864608"/>
            <a:ext cx="2148840" cy="219456"/>
          </a:xfrm>
          <a:prstGeom prst="rect">
            <a:avLst/>
          </a:prstGeom>
          <a:noFill/>
          <a:ln/>
        </p:spPr>
        <p:txBody>
          <a:bodyPr wrap="square" lIns="0" tIns="0" rIns="0" bIns="0" rtlCol="0" anchor="ctr"/>
          <a:lstStyle/>
          <a:p>
            <a:pPr marL="0" indent="0">
              <a:buNone/>
            </a:pPr>
            <a:r>
              <a:rPr lang="en-US" sz="950" b="1" kern="0" spc="100" dirty="0">
                <a:solidFill>
                  <a:srgbClr val="5A6B7B"/>
                </a:solidFill>
                <a:latin typeface="Calibri" pitchFamily="34" charset="0"/>
                <a:ea typeface="Calibri" pitchFamily="34" charset="-122"/>
                <a:cs typeface="Calibri" pitchFamily="34" charset="-120"/>
              </a:rPr>
              <a:t>WORST DAY</a:t>
            </a:r>
            <a:endParaRPr lang="en-US" sz="950" dirty="0"/>
          </a:p>
        </p:txBody>
      </p:sp>
      <p:sp>
        <p:nvSpPr>
          <p:cNvPr id="14" name="Text 10"/>
          <p:cNvSpPr txBox="1"/>
          <p:nvPr/>
        </p:nvSpPr>
        <p:spPr>
          <a:xfrm>
            <a:off x="3593592" y="5074920"/>
            <a:ext cx="2148840" cy="329184"/>
          </a:xfrm>
          <a:prstGeom prst="rect">
            <a:avLst/>
          </a:prstGeom>
          <a:noFill/>
          <a:ln/>
        </p:spPr>
        <p:txBody>
          <a:bodyPr wrap="square" lIns="0" tIns="0" rIns="0" bIns="0" rtlCol="0" anchor="ctr"/>
          <a:lstStyle/>
          <a:p>
            <a:pPr marL="0" indent="0">
              <a:buNone/>
            </a:pPr>
            <a:r>
              <a:rPr lang="en-US" sz="1700" b="1" dirty="0">
                <a:solidFill>
                  <a:srgbClr val="B3261E"/>
                </a:solidFill>
                <a:latin typeface="Cambria" pitchFamily="34" charset="0"/>
                <a:ea typeface="Cambria" pitchFamily="34" charset="-122"/>
                <a:cs typeface="Cambria" pitchFamily="34" charset="-120"/>
              </a:rPr>
              <a:t>Monday</a:t>
            </a:r>
            <a:endParaRPr lang="en-US" sz="1700" dirty="0"/>
          </a:p>
        </p:txBody>
      </p:sp>
      <p:sp>
        <p:nvSpPr>
          <p:cNvPr id="15" name="Text 11"/>
          <p:cNvSpPr txBox="1"/>
          <p:nvPr/>
        </p:nvSpPr>
        <p:spPr>
          <a:xfrm>
            <a:off x="3593592" y="5376672"/>
            <a:ext cx="2148840" cy="219456"/>
          </a:xfrm>
          <a:prstGeom prst="rect">
            <a:avLst/>
          </a:prstGeom>
          <a:noFill/>
          <a:ln/>
        </p:spPr>
        <p:txBody>
          <a:bodyPr wrap="square" lIns="0" tIns="0" rIns="0" bIns="0" rtlCol="0" anchor="ctr"/>
          <a:lstStyle/>
          <a:p>
            <a:pPr marL="0" indent="0">
              <a:buNone/>
            </a:pPr>
            <a:r>
              <a:rPr lang="en-US" sz="1100" dirty="0">
                <a:solidFill>
                  <a:srgbClr val="5A6B7B"/>
                </a:solidFill>
                <a:latin typeface="Calibri" pitchFamily="34" charset="0"/>
                <a:ea typeface="Calibri" pitchFamily="34" charset="-122"/>
                <a:cs typeface="Calibri" pitchFamily="34" charset="-120"/>
              </a:rPr>
              <a:t>₹20.12 L average</a:t>
            </a:r>
            <a:endParaRPr lang="en-US" sz="1100" dirty="0"/>
          </a:p>
        </p:txBody>
      </p:sp>
      <p:sp>
        <p:nvSpPr>
          <p:cNvPr id="16" name="Shape 12"/>
          <p:cNvSpPr/>
          <p:nvPr/>
        </p:nvSpPr>
        <p:spPr>
          <a:xfrm>
            <a:off x="6236208" y="4754880"/>
            <a:ext cx="2551176" cy="868680"/>
          </a:xfrm>
          <a:prstGeom prst="roundRect">
            <a:avLst>
              <a:gd name="adj" fmla="val 8421"/>
            </a:avLst>
          </a:prstGeom>
          <a:solidFill>
            <a:srgbClr val="F2F5F8"/>
          </a:solidFill>
          <a:ln w="12700">
            <a:solidFill>
              <a:srgbClr val="DCE3EA"/>
            </a:solidFill>
            <a:prstDash val="solid"/>
          </a:ln>
        </p:spPr>
      </p:sp>
      <p:sp>
        <p:nvSpPr>
          <p:cNvPr id="17" name="Text 13"/>
          <p:cNvSpPr txBox="1"/>
          <p:nvPr/>
        </p:nvSpPr>
        <p:spPr>
          <a:xfrm>
            <a:off x="6437376" y="4864608"/>
            <a:ext cx="2148840" cy="219456"/>
          </a:xfrm>
          <a:prstGeom prst="rect">
            <a:avLst/>
          </a:prstGeom>
          <a:noFill/>
          <a:ln/>
        </p:spPr>
        <p:txBody>
          <a:bodyPr wrap="square" lIns="0" tIns="0" rIns="0" bIns="0" rtlCol="0" anchor="ctr"/>
          <a:lstStyle/>
          <a:p>
            <a:pPr marL="0" indent="0">
              <a:buNone/>
            </a:pPr>
            <a:r>
              <a:rPr lang="en-US" sz="950" b="1" kern="0" spc="100" dirty="0">
                <a:solidFill>
                  <a:srgbClr val="5A6B7B"/>
                </a:solidFill>
                <a:latin typeface="Calibri" pitchFamily="34" charset="0"/>
                <a:ea typeface="Calibri" pitchFamily="34" charset="-122"/>
                <a:cs typeface="Calibri" pitchFamily="34" charset="-120"/>
              </a:rPr>
              <a:t>BEST MONTH</a:t>
            </a:r>
            <a:endParaRPr lang="en-US" sz="950" dirty="0"/>
          </a:p>
        </p:txBody>
      </p:sp>
      <p:sp>
        <p:nvSpPr>
          <p:cNvPr id="18" name="Text 14"/>
          <p:cNvSpPr txBox="1"/>
          <p:nvPr/>
        </p:nvSpPr>
        <p:spPr>
          <a:xfrm>
            <a:off x="6437376" y="5074920"/>
            <a:ext cx="2148840" cy="329184"/>
          </a:xfrm>
          <a:prstGeom prst="rect">
            <a:avLst/>
          </a:prstGeom>
          <a:noFill/>
          <a:ln/>
        </p:spPr>
        <p:txBody>
          <a:bodyPr wrap="square" lIns="0" tIns="0" rIns="0" bIns="0" rtlCol="0" anchor="ctr"/>
          <a:lstStyle/>
          <a:p>
            <a:pPr marL="0" indent="0">
              <a:buNone/>
            </a:pPr>
            <a:r>
              <a:rPr lang="en-US" sz="1700" b="1" dirty="0">
                <a:solidFill>
                  <a:srgbClr val="2E7D32"/>
                </a:solidFill>
                <a:latin typeface="Cambria" pitchFamily="34" charset="0"/>
                <a:ea typeface="Cambria" pitchFamily="34" charset="-122"/>
                <a:cs typeface="Cambria" pitchFamily="34" charset="-120"/>
              </a:rPr>
              <a:t>January</a:t>
            </a:r>
            <a:endParaRPr lang="en-US" sz="1700" dirty="0"/>
          </a:p>
        </p:txBody>
      </p:sp>
      <p:sp>
        <p:nvSpPr>
          <p:cNvPr id="19" name="Text 15"/>
          <p:cNvSpPr txBox="1"/>
          <p:nvPr/>
        </p:nvSpPr>
        <p:spPr>
          <a:xfrm>
            <a:off x="6437376" y="5376672"/>
            <a:ext cx="2148840" cy="219456"/>
          </a:xfrm>
          <a:prstGeom prst="rect">
            <a:avLst/>
          </a:prstGeom>
          <a:noFill/>
          <a:ln/>
        </p:spPr>
        <p:txBody>
          <a:bodyPr wrap="square" lIns="0" tIns="0" rIns="0" bIns="0" rtlCol="0" anchor="ctr"/>
          <a:lstStyle/>
          <a:p>
            <a:pPr marL="0" indent="0">
              <a:buNone/>
            </a:pPr>
            <a:r>
              <a:rPr lang="en-US" sz="1100" dirty="0">
                <a:solidFill>
                  <a:srgbClr val="5A6B7B"/>
                </a:solidFill>
                <a:latin typeface="Calibri" pitchFamily="34" charset="0"/>
                <a:ea typeface="Calibri" pitchFamily="34" charset="-122"/>
                <a:cs typeface="Calibri" pitchFamily="34" charset="-120"/>
              </a:rPr>
              <a:t>₹8.48 Cr</a:t>
            </a:r>
            <a:endParaRPr lang="en-US" sz="1100" dirty="0"/>
          </a:p>
        </p:txBody>
      </p:sp>
      <p:sp>
        <p:nvSpPr>
          <p:cNvPr id="20" name="Shape 16"/>
          <p:cNvSpPr/>
          <p:nvPr/>
        </p:nvSpPr>
        <p:spPr>
          <a:xfrm>
            <a:off x="9079992" y="4754880"/>
            <a:ext cx="2551176" cy="868680"/>
          </a:xfrm>
          <a:prstGeom prst="roundRect">
            <a:avLst>
              <a:gd name="adj" fmla="val 8421"/>
            </a:avLst>
          </a:prstGeom>
          <a:solidFill>
            <a:srgbClr val="F2F5F8"/>
          </a:solidFill>
          <a:ln w="12700">
            <a:solidFill>
              <a:srgbClr val="DCE3EA"/>
            </a:solidFill>
            <a:prstDash val="solid"/>
          </a:ln>
        </p:spPr>
      </p:sp>
      <p:sp>
        <p:nvSpPr>
          <p:cNvPr id="21" name="Text 17"/>
          <p:cNvSpPr txBox="1"/>
          <p:nvPr/>
        </p:nvSpPr>
        <p:spPr>
          <a:xfrm>
            <a:off x="9281160" y="4864608"/>
            <a:ext cx="2148840" cy="219456"/>
          </a:xfrm>
          <a:prstGeom prst="rect">
            <a:avLst/>
          </a:prstGeom>
          <a:noFill/>
          <a:ln/>
        </p:spPr>
        <p:txBody>
          <a:bodyPr wrap="square" lIns="0" tIns="0" rIns="0" bIns="0" rtlCol="0" anchor="ctr"/>
          <a:lstStyle/>
          <a:p>
            <a:pPr marL="0" indent="0">
              <a:buNone/>
            </a:pPr>
            <a:r>
              <a:rPr lang="en-US" sz="950" b="1" kern="0" spc="100" dirty="0">
                <a:solidFill>
                  <a:srgbClr val="5A6B7B"/>
                </a:solidFill>
                <a:latin typeface="Calibri" pitchFamily="34" charset="0"/>
                <a:ea typeface="Calibri" pitchFamily="34" charset="-122"/>
                <a:cs typeface="Calibri" pitchFamily="34" charset="-120"/>
              </a:rPr>
              <a:t>WORST MONTH</a:t>
            </a:r>
            <a:endParaRPr lang="en-US" sz="950" dirty="0"/>
          </a:p>
        </p:txBody>
      </p:sp>
      <p:sp>
        <p:nvSpPr>
          <p:cNvPr id="22" name="Text 18"/>
          <p:cNvSpPr txBox="1"/>
          <p:nvPr/>
        </p:nvSpPr>
        <p:spPr>
          <a:xfrm>
            <a:off x="9281160" y="5074920"/>
            <a:ext cx="2148840" cy="329184"/>
          </a:xfrm>
          <a:prstGeom prst="rect">
            <a:avLst/>
          </a:prstGeom>
          <a:noFill/>
          <a:ln/>
        </p:spPr>
        <p:txBody>
          <a:bodyPr wrap="square" lIns="0" tIns="0" rIns="0" bIns="0" rtlCol="0" anchor="ctr"/>
          <a:lstStyle/>
          <a:p>
            <a:pPr marL="0" indent="0">
              <a:buNone/>
            </a:pPr>
            <a:r>
              <a:rPr lang="en-US" sz="1700" b="1" dirty="0">
                <a:solidFill>
                  <a:srgbClr val="B3261E"/>
                </a:solidFill>
                <a:latin typeface="Cambria" pitchFamily="34" charset="0"/>
                <a:ea typeface="Cambria" pitchFamily="34" charset="-122"/>
                <a:cs typeface="Cambria" pitchFamily="34" charset="-120"/>
              </a:rPr>
              <a:t>June</a:t>
            </a:r>
            <a:endParaRPr lang="en-US" sz="1700" dirty="0"/>
          </a:p>
        </p:txBody>
      </p:sp>
      <p:sp>
        <p:nvSpPr>
          <p:cNvPr id="23" name="Text 19"/>
          <p:cNvSpPr txBox="1"/>
          <p:nvPr/>
        </p:nvSpPr>
        <p:spPr>
          <a:xfrm>
            <a:off x="9281160" y="5376672"/>
            <a:ext cx="2148840" cy="219456"/>
          </a:xfrm>
          <a:prstGeom prst="rect">
            <a:avLst/>
          </a:prstGeom>
          <a:noFill/>
          <a:ln/>
        </p:spPr>
        <p:txBody>
          <a:bodyPr wrap="square" lIns="0" tIns="0" rIns="0" bIns="0" rtlCol="0" anchor="ctr"/>
          <a:lstStyle/>
          <a:p>
            <a:pPr marL="0" indent="0">
              <a:buNone/>
            </a:pPr>
            <a:r>
              <a:rPr lang="en-US" sz="1100" dirty="0">
                <a:solidFill>
                  <a:srgbClr val="5A6B7B"/>
                </a:solidFill>
                <a:latin typeface="Calibri" pitchFamily="34" charset="0"/>
                <a:ea typeface="Calibri" pitchFamily="34" charset="-122"/>
                <a:cs typeface="Calibri" pitchFamily="34" charset="-120"/>
              </a:rPr>
              <a:t>₹6.93 Cr</a:t>
            </a:r>
            <a:endParaRPr lang="en-US" sz="1100" dirty="0"/>
          </a:p>
        </p:txBody>
      </p:sp>
      <p:sp>
        <p:nvSpPr>
          <p:cNvPr id="24" name="Text 20"/>
          <p:cNvSpPr txBox="1"/>
          <p:nvPr/>
        </p:nvSpPr>
        <p:spPr>
          <a:xfrm>
            <a:off x="548640" y="5760720"/>
            <a:ext cx="11091672" cy="475488"/>
          </a:xfrm>
          <a:prstGeom prst="rect">
            <a:avLst/>
          </a:prstGeom>
          <a:noFill/>
          <a:ln/>
        </p:spPr>
        <p:txBody>
          <a:bodyPr wrap="square" lIns="0" tIns="0" rIns="0" bIns="0" rtlCol="0" anchor="ctr"/>
          <a:lstStyle/>
          <a:p>
            <a:pPr marL="0" indent="0">
              <a:buNone/>
            </a:pPr>
            <a:r>
              <a:rPr lang="en-US" sz="1250" i="1" dirty="0">
                <a:solidFill>
                  <a:srgbClr val="33465A"/>
                </a:solidFill>
                <a:latin typeface="Calibri" pitchFamily="34" charset="0"/>
                <a:ea typeface="Calibri" pitchFamily="34" charset="-122"/>
                <a:cs typeface="Calibri" pitchFamily="34" charset="-120"/>
              </a:rPr>
              <a:t>Saturday earns 1.75× a Monday and the average weekend day runs 48.0% ahead of the average weekday — so promotional weight belongs Friday to Sunday, where demand already exists, rather than being spent trying to manufacture a Monday that has never performed.</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10896"/>
            <a:ext cx="7315200" cy="256032"/>
          </a:xfrm>
          <a:prstGeom prst="rect">
            <a:avLst/>
          </a:prstGeom>
          <a:noFill/>
          <a:ln/>
        </p:spPr>
        <p:txBody>
          <a:bodyPr wrap="square" lIns="0" tIns="0" rIns="0" bIns="0" rtlCol="0" anchor="ctr"/>
          <a:lstStyle/>
          <a:p>
            <a:pPr marL="0" indent="0">
              <a:buNone/>
            </a:pPr>
            <a:r>
              <a:rPr lang="en-US" sz="1100" b="1" kern="0" spc="200" dirty="0">
                <a:solidFill>
                  <a:srgbClr val="E08A1E"/>
                </a:solidFill>
                <a:latin typeface="Calibri" pitchFamily="34" charset="0"/>
                <a:ea typeface="Calibri" pitchFamily="34" charset="-122"/>
                <a:cs typeface="Calibri" pitchFamily="34" charset="-120"/>
              </a:rPr>
              <a:t>THE SINGLE MOST INTERESTING CATEGORY</a:t>
            </a:r>
            <a:endParaRPr lang="en-US" sz="1100" dirty="0"/>
          </a:p>
        </p:txBody>
      </p:sp>
      <p:sp>
        <p:nvSpPr>
          <p:cNvPr id="3" name="Text 1"/>
          <p:cNvSpPr txBox="1"/>
          <p:nvPr/>
        </p:nvSpPr>
        <p:spPr>
          <a:xfrm>
            <a:off x="548640" y="566928"/>
            <a:ext cx="10515600" cy="658368"/>
          </a:xfrm>
          <a:prstGeom prst="rect">
            <a:avLst/>
          </a:prstGeom>
          <a:noFill/>
          <a:ln/>
        </p:spPr>
        <p:txBody>
          <a:bodyPr wrap="square" lIns="0" tIns="0" rIns="0" bIns="0" rtlCol="0" anchor="ctr"/>
          <a:lstStyle/>
          <a:p>
            <a:pPr marL="0" indent="0">
              <a:buNone/>
            </a:pPr>
            <a:r>
              <a:rPr lang="en-US" sz="3200" b="1" dirty="0">
                <a:solidFill>
                  <a:srgbClr val="0F2A43"/>
                </a:solidFill>
                <a:latin typeface="Cambria" pitchFamily="34" charset="0"/>
                <a:ea typeface="Cambria" pitchFamily="34" charset="-122"/>
                <a:cs typeface="Cambria" pitchFamily="34" charset="-120"/>
              </a:rPr>
              <a:t>Category Deep Dive — Electronics vs the Chain</a:t>
            </a:r>
            <a:endParaRPr lang="en-US" sz="3200" dirty="0"/>
          </a:p>
        </p:txBody>
      </p:sp>
      <p:sp>
        <p:nvSpPr>
          <p:cNvPr id="5" name="Text 3"/>
          <p:cNvSpPr txBox="1"/>
          <p:nvPr/>
        </p:nvSpPr>
        <p:spPr>
          <a:xfrm>
            <a:off x="6400800" y="6336792"/>
            <a:ext cx="5239512" cy="274320"/>
          </a:xfrm>
          <a:prstGeom prst="rect">
            <a:avLst/>
          </a:prstGeom>
          <a:noFill/>
          <a:ln/>
        </p:spPr>
        <p:txBody>
          <a:bodyPr wrap="square" lIns="0" tIns="0" rIns="0" bIns="0" rtlCol="0" anchor="ctr"/>
          <a:lstStyle/>
          <a:p>
            <a:pPr marL="0" indent="0" algn="r">
              <a:buNone/>
            </a:pPr>
            <a:r>
              <a:rPr lang="en-US" sz="1000" dirty="0">
                <a:solidFill>
                  <a:srgbClr val="A6B2BD"/>
                </a:solidFill>
                <a:latin typeface="Calibri" pitchFamily="34" charset="0"/>
                <a:ea typeface="Calibri" pitchFamily="34" charset="-122"/>
                <a:cs typeface="Calibri" pitchFamily="34" charset="-120"/>
              </a:rPr>
              <a:t>GROUP 12  ·  Category Intelligence</a:t>
            </a:r>
            <a:endParaRPr lang="en-US" sz="1000" dirty="0"/>
          </a:p>
        </p:txBody>
      </p:sp>
      <p:sp>
        <p:nvSpPr>
          <p:cNvPr id="6" name="Text 4"/>
          <p:cNvSpPr txBox="1"/>
          <p:nvPr/>
        </p:nvSpPr>
        <p:spPr>
          <a:xfrm>
            <a:off x="548640" y="1298448"/>
            <a:ext cx="11091672" cy="292608"/>
          </a:xfrm>
          <a:prstGeom prst="rect">
            <a:avLst/>
          </a:prstGeom>
          <a:noFill/>
          <a:ln/>
        </p:spPr>
        <p:txBody>
          <a:bodyPr wrap="square" lIns="0" tIns="0" rIns="0" bIns="0" rtlCol="0" anchor="ctr"/>
          <a:lstStyle/>
          <a:p>
            <a:pPr marL="0" indent="0">
              <a:buNone/>
            </a:pPr>
            <a:r>
              <a:rPr lang="en-US" sz="1250" dirty="0">
                <a:solidFill>
                  <a:srgbClr val="5A6B7B"/>
                </a:solidFill>
                <a:latin typeface="Calibri" pitchFamily="34" charset="0"/>
                <a:ea typeface="Calibri" pitchFamily="34" charset="-122"/>
                <a:cs typeface="Calibri" pitchFamily="34" charset="-120"/>
              </a:rPr>
              <a:t>Electronics is 49.3% of chain revenue (₹22.65 Cr) and the steepest decliner — so it both drives the chain pattern and distorts it.</a:t>
            </a:r>
            <a:endParaRPr lang="en-US" sz="1250" dirty="0"/>
          </a:p>
        </p:txBody>
      </p:sp>
      <p:pic>
        <p:nvPicPr>
          <p:cNvPr id="7" name="Image 0" descr="sl_deep_dow.png"/>
          <p:cNvPicPr>
            <a:picLocks noChangeAspect="1"/>
          </p:cNvPicPr>
          <p:nvPr/>
        </p:nvPicPr>
        <p:blipFill>
          <a:blip r:embed="rId3"/>
          <a:stretch>
            <a:fillRect/>
          </a:stretch>
        </p:blipFill>
        <p:spPr>
          <a:xfrm>
            <a:off x="548640" y="1691640"/>
            <a:ext cx="5486400" cy="3182112"/>
          </a:xfrm>
          <a:prstGeom prst="rect">
            <a:avLst/>
          </a:prstGeom>
        </p:spPr>
      </p:pic>
      <p:pic>
        <p:nvPicPr>
          <p:cNvPr id="8" name="Image 1" descr="sl_deep_month.png"/>
          <p:cNvPicPr>
            <a:picLocks noChangeAspect="1"/>
          </p:cNvPicPr>
          <p:nvPr/>
        </p:nvPicPr>
        <p:blipFill>
          <a:blip r:embed="rId4"/>
          <a:stretch>
            <a:fillRect/>
          </a:stretch>
        </p:blipFill>
        <p:spPr>
          <a:xfrm>
            <a:off x="6217920" y="1691640"/>
            <a:ext cx="5422392" cy="3182112"/>
          </a:xfrm>
          <a:prstGeom prst="rect">
            <a:avLst/>
          </a:prstGeom>
        </p:spPr>
      </p:pic>
      <p:sp>
        <p:nvSpPr>
          <p:cNvPr id="9" name="Shape 5"/>
          <p:cNvSpPr/>
          <p:nvPr/>
        </p:nvSpPr>
        <p:spPr>
          <a:xfrm>
            <a:off x="548640" y="5010912"/>
            <a:ext cx="5486400" cy="1170432"/>
          </a:xfrm>
          <a:prstGeom prst="roundRect">
            <a:avLst>
              <a:gd name="adj" fmla="val 6250"/>
            </a:avLst>
          </a:prstGeom>
          <a:solidFill>
            <a:srgbClr val="F2F5F8"/>
          </a:solidFill>
          <a:ln w="12700">
            <a:solidFill>
              <a:srgbClr val="DCE3EA"/>
            </a:solidFill>
            <a:prstDash val="solid"/>
          </a:ln>
        </p:spPr>
      </p:sp>
      <p:sp>
        <p:nvSpPr>
          <p:cNvPr id="10" name="Shape 6"/>
          <p:cNvSpPr/>
          <p:nvPr/>
        </p:nvSpPr>
        <p:spPr>
          <a:xfrm>
            <a:off x="768096" y="5230368"/>
            <a:ext cx="365760" cy="365760"/>
          </a:xfrm>
          <a:prstGeom prst="ellipse">
            <a:avLst/>
          </a:prstGeom>
          <a:solidFill>
            <a:srgbClr val="2E7D32"/>
          </a:solidFill>
          <a:ln/>
        </p:spPr>
      </p:sp>
      <p:pic>
        <p:nvPicPr>
          <p:cNvPr id="11" name="Image 2" descr="icon_check_w.png"/>
          <p:cNvPicPr>
            <a:picLocks noChangeAspect="1"/>
          </p:cNvPicPr>
          <p:nvPr/>
        </p:nvPicPr>
        <p:blipFill>
          <a:blip r:embed="rId5"/>
          <a:stretch>
            <a:fillRect/>
          </a:stretch>
        </p:blipFill>
        <p:spPr>
          <a:xfrm>
            <a:off x="859536" y="5321808"/>
            <a:ext cx="182880" cy="182880"/>
          </a:xfrm>
          <a:prstGeom prst="rect">
            <a:avLst/>
          </a:prstGeom>
        </p:spPr>
      </p:pic>
      <p:sp>
        <p:nvSpPr>
          <p:cNvPr id="12" name="Text 7"/>
          <p:cNvSpPr txBox="1"/>
          <p:nvPr/>
        </p:nvSpPr>
        <p:spPr>
          <a:xfrm>
            <a:off x="1261872" y="5175504"/>
            <a:ext cx="4572000" cy="274320"/>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Day of week: follows the chain, amplified</a:t>
            </a:r>
            <a:endParaRPr lang="en-US" sz="1300" dirty="0"/>
          </a:p>
        </p:txBody>
      </p:sp>
      <p:sp>
        <p:nvSpPr>
          <p:cNvPr id="13" name="Text 8"/>
          <p:cNvSpPr txBox="1"/>
          <p:nvPr/>
        </p:nvSpPr>
        <p:spPr>
          <a:xfrm>
            <a:off x="1261872" y="5449824"/>
            <a:ext cx="4572000" cy="621792"/>
          </a:xfrm>
          <a:prstGeom prst="rect">
            <a:avLst/>
          </a:prstGeom>
          <a:noFill/>
          <a:ln/>
        </p:spPr>
        <p:txBody>
          <a:bodyPr wrap="square" lIns="0" tIns="0" rIns="0" bIns="0" rtlCol="0" anchor="ctr"/>
          <a:lstStyle/>
          <a:p>
            <a:pPr marL="0" indent="0">
              <a:buNone/>
            </a:pPr>
            <a:r>
              <a:rPr lang="en-US" sz="1150" dirty="0">
                <a:solidFill>
                  <a:srgbClr val="5A6B7B"/>
                </a:solidFill>
                <a:latin typeface="Calibri" pitchFamily="34" charset="0"/>
                <a:ea typeface="Calibri" pitchFamily="34" charset="-122"/>
                <a:cs typeface="Calibri" pitchFamily="34" charset="-120"/>
              </a:rPr>
              <a:t>Same Saturday peak and Monday trough, only steeper — index 142.8 vs the chain's 138.8 on Saturday, 77.6 vs 79.3 on Monday.</a:t>
            </a:r>
            <a:endParaRPr lang="en-US" sz="1150" dirty="0"/>
          </a:p>
        </p:txBody>
      </p:sp>
      <p:sp>
        <p:nvSpPr>
          <p:cNvPr id="14" name="Shape 9"/>
          <p:cNvSpPr/>
          <p:nvPr/>
        </p:nvSpPr>
        <p:spPr>
          <a:xfrm>
            <a:off x="6217920" y="5010912"/>
            <a:ext cx="5422392" cy="1170432"/>
          </a:xfrm>
          <a:prstGeom prst="roundRect">
            <a:avLst>
              <a:gd name="adj" fmla="val 6250"/>
            </a:avLst>
          </a:prstGeom>
          <a:solidFill>
            <a:srgbClr val="F2F5F8"/>
          </a:solidFill>
          <a:ln w="12700">
            <a:solidFill>
              <a:srgbClr val="DCE3EA"/>
            </a:solidFill>
            <a:prstDash val="solid"/>
          </a:ln>
        </p:spPr>
      </p:sp>
      <p:sp>
        <p:nvSpPr>
          <p:cNvPr id="15" name="Shape 10"/>
          <p:cNvSpPr/>
          <p:nvPr/>
        </p:nvSpPr>
        <p:spPr>
          <a:xfrm>
            <a:off x="6437376" y="5230368"/>
            <a:ext cx="365760" cy="365760"/>
          </a:xfrm>
          <a:prstGeom prst="ellipse">
            <a:avLst/>
          </a:prstGeom>
          <a:solidFill>
            <a:srgbClr val="B3261E"/>
          </a:solidFill>
          <a:ln/>
        </p:spPr>
      </p:sp>
      <p:pic>
        <p:nvPicPr>
          <p:cNvPr id="16" name="Image 3" descr="icon_alert_w.png"/>
          <p:cNvPicPr>
            <a:picLocks noChangeAspect="1"/>
          </p:cNvPicPr>
          <p:nvPr/>
        </p:nvPicPr>
        <p:blipFill>
          <a:blip r:embed="rId6"/>
          <a:stretch>
            <a:fillRect/>
          </a:stretch>
        </p:blipFill>
        <p:spPr>
          <a:xfrm>
            <a:off x="6528816" y="5321808"/>
            <a:ext cx="182880" cy="182880"/>
          </a:xfrm>
          <a:prstGeom prst="rect">
            <a:avLst/>
          </a:prstGeom>
        </p:spPr>
      </p:pic>
      <p:sp>
        <p:nvSpPr>
          <p:cNvPr id="17" name="Text 11"/>
          <p:cNvSpPr txBox="1"/>
          <p:nvPr/>
        </p:nvSpPr>
        <p:spPr>
          <a:xfrm>
            <a:off x="6931152" y="5175504"/>
            <a:ext cx="4480560" cy="274320"/>
          </a:xfrm>
          <a:prstGeom prst="rect">
            <a:avLst/>
          </a:prstGeom>
          <a:noFill/>
          <a:ln/>
        </p:spPr>
        <p:txBody>
          <a:bodyPr wrap="square" lIns="0" tIns="0" rIns="0" bIns="0" rtlCol="0" anchor="ctr"/>
          <a:lstStyle/>
          <a:p>
            <a:pPr marL="0" indent="0">
              <a:buNone/>
            </a:pPr>
            <a:r>
              <a:rPr lang="en-US" sz="1300" b="1" dirty="0">
                <a:solidFill>
                  <a:srgbClr val="0F2A43"/>
                </a:solidFill>
                <a:latin typeface="Calibri" pitchFamily="34" charset="0"/>
                <a:ea typeface="Calibri" pitchFamily="34" charset="-122"/>
                <a:cs typeface="Calibri" pitchFamily="34" charset="-120"/>
              </a:rPr>
              <a:t>Month on month: behaves very differently</a:t>
            </a:r>
            <a:endParaRPr lang="en-US" sz="1300" dirty="0"/>
          </a:p>
        </p:txBody>
      </p:sp>
      <p:sp>
        <p:nvSpPr>
          <p:cNvPr id="18" name="Text 12"/>
          <p:cNvSpPr txBox="1"/>
          <p:nvPr/>
        </p:nvSpPr>
        <p:spPr>
          <a:xfrm>
            <a:off x="6931152" y="5449824"/>
            <a:ext cx="4480560" cy="621792"/>
          </a:xfrm>
          <a:prstGeom prst="rect">
            <a:avLst/>
          </a:prstGeom>
          <a:noFill/>
          <a:ln/>
        </p:spPr>
        <p:txBody>
          <a:bodyPr wrap="square" lIns="0" tIns="0" rIns="0" bIns="0" rtlCol="0" anchor="ctr"/>
          <a:lstStyle/>
          <a:p>
            <a:pPr marL="0" indent="0">
              <a:buNone/>
            </a:pPr>
            <a:r>
              <a:rPr lang="en-US" sz="1150" dirty="0">
                <a:solidFill>
                  <a:srgbClr val="5A6B7B"/>
                </a:solidFill>
                <a:latin typeface="Calibri" pitchFamily="34" charset="0"/>
                <a:ea typeface="Calibri" pitchFamily="34" charset="-122"/>
                <a:cs typeface="Calibri" pitchFamily="34" charset="-120"/>
              </a:rPr>
              <a:t>The chain falls 18.3% Jan–Jun; Electronics falls 35.02% and diverges from March onward. It is not riding a slowdown — it is causing most of one.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F2A4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ctr"/>
          <a:lstStyle/>
          <a:p>
            <a:pPr marL="0" indent="0">
              <a:buNone/>
            </a:pPr>
            <a:r>
              <a:rPr lang="en-US" sz="1100" b="1" kern="0" spc="200" dirty="0">
                <a:solidFill>
                  <a:srgbClr val="E08A1E"/>
                </a:solidFill>
                <a:latin typeface="Calibri" pitchFamily="34" charset="0"/>
                <a:ea typeface="Calibri" pitchFamily="34" charset="-122"/>
                <a:cs typeface="Calibri" pitchFamily="34" charset="-120"/>
              </a:rPr>
              <a:t>THE RECOMMENDATION</a:t>
            </a:r>
            <a:endParaRPr lang="en-US" sz="1100" dirty="0"/>
          </a:p>
        </p:txBody>
      </p:sp>
      <p:sp>
        <p:nvSpPr>
          <p:cNvPr id="3" name="Text 1"/>
          <p:cNvSpPr txBox="1"/>
          <p:nvPr/>
        </p:nvSpPr>
        <p:spPr>
          <a:xfrm>
            <a:off x="548640" y="621792"/>
            <a:ext cx="10515600" cy="64008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Category Manager Briefing</a:t>
            </a:r>
            <a:endParaRPr lang="en-US" sz="3200" dirty="0"/>
          </a:p>
        </p:txBody>
      </p:sp>
      <p:sp>
        <p:nvSpPr>
          <p:cNvPr id="4" name="Shape 2"/>
          <p:cNvSpPr/>
          <p:nvPr/>
        </p:nvSpPr>
        <p:spPr>
          <a:xfrm>
            <a:off x="548640" y="1481328"/>
            <a:ext cx="5358384" cy="2286000"/>
          </a:xfrm>
          <a:prstGeom prst="roundRect">
            <a:avLst>
              <a:gd name="adj" fmla="val 3200"/>
            </a:avLst>
          </a:prstGeom>
          <a:solidFill>
            <a:srgbClr val="17395A"/>
          </a:solidFill>
          <a:ln w="12700">
            <a:solidFill>
              <a:srgbClr val="265077"/>
            </a:solidFill>
            <a:prstDash val="solid"/>
          </a:ln>
        </p:spPr>
      </p:sp>
      <p:sp>
        <p:nvSpPr>
          <p:cNvPr id="5" name="Shape 3"/>
          <p:cNvSpPr/>
          <p:nvPr/>
        </p:nvSpPr>
        <p:spPr>
          <a:xfrm>
            <a:off x="804672" y="1719072"/>
            <a:ext cx="402336" cy="402336"/>
          </a:xfrm>
          <a:prstGeom prst="ellipse">
            <a:avLst/>
          </a:prstGeom>
          <a:solidFill>
            <a:srgbClr val="2E7D32"/>
          </a:solidFill>
          <a:ln/>
        </p:spPr>
      </p:sp>
      <p:pic>
        <p:nvPicPr>
          <p:cNvPr id="6" name="Image 0" descr="icon_up_w.png"/>
          <p:cNvPicPr>
            <a:picLocks noChangeAspect="1"/>
          </p:cNvPicPr>
          <p:nvPr/>
        </p:nvPicPr>
        <p:blipFill>
          <a:blip r:embed="rId3"/>
          <a:stretch>
            <a:fillRect/>
          </a:stretch>
        </p:blipFill>
        <p:spPr>
          <a:xfrm>
            <a:off x="905256" y="1819656"/>
            <a:ext cx="201168" cy="201168"/>
          </a:xfrm>
          <a:prstGeom prst="rect">
            <a:avLst/>
          </a:prstGeom>
        </p:spPr>
      </p:pic>
      <p:sp>
        <p:nvSpPr>
          <p:cNvPr id="7" name="Text 4"/>
          <p:cNvSpPr txBox="1"/>
          <p:nvPr/>
        </p:nvSpPr>
        <p:spPr>
          <a:xfrm>
            <a:off x="1335024" y="1755648"/>
            <a:ext cx="4297680" cy="256032"/>
          </a:xfrm>
          <a:prstGeom prst="rect">
            <a:avLst/>
          </a:prstGeom>
          <a:noFill/>
          <a:ln/>
        </p:spPr>
        <p:txBody>
          <a:bodyPr wrap="square" lIns="0" tIns="0" rIns="0" bIns="0" rtlCol="0" anchor="ctr"/>
          <a:lstStyle/>
          <a:p>
            <a:pPr marL="0" indent="0">
              <a:buNone/>
            </a:pPr>
            <a:r>
              <a:rPr lang="en-US" sz="1050" b="1" kern="0" spc="150" dirty="0">
                <a:solidFill>
                  <a:srgbClr val="DCE7F1"/>
                </a:solidFill>
                <a:latin typeface="Calibri" pitchFamily="34" charset="0"/>
                <a:ea typeface="Calibri" pitchFamily="34" charset="-122"/>
                <a:cs typeface="Calibri" pitchFamily="34" charset="-120"/>
              </a:rPr>
              <a:t>01  INCREASE INVESTMENT</a:t>
            </a:r>
            <a:endParaRPr lang="en-US" sz="1050" dirty="0"/>
          </a:p>
        </p:txBody>
      </p:sp>
      <p:sp>
        <p:nvSpPr>
          <p:cNvPr id="8" name="Text 5"/>
          <p:cNvSpPr txBox="1"/>
          <p:nvPr/>
        </p:nvSpPr>
        <p:spPr>
          <a:xfrm>
            <a:off x="804672" y="2231136"/>
            <a:ext cx="4846320" cy="329184"/>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Apparel</a:t>
            </a:r>
            <a:endParaRPr lang="en-US" sz="1800" dirty="0"/>
          </a:p>
        </p:txBody>
      </p:sp>
      <p:sp>
        <p:nvSpPr>
          <p:cNvPr id="9" name="Text 6"/>
          <p:cNvSpPr txBox="1"/>
          <p:nvPr/>
        </p:nvSpPr>
        <p:spPr>
          <a:xfrm>
            <a:off x="804672" y="2596896"/>
            <a:ext cx="4846320" cy="1042416"/>
          </a:xfrm>
          <a:prstGeom prst="rect">
            <a:avLst/>
          </a:prstGeom>
          <a:noFill/>
          <a:ln/>
        </p:spPr>
        <p:txBody>
          <a:bodyPr wrap="square" lIns="0" tIns="0" rIns="0" bIns="0" rtlCol="0" anchor="ctr"/>
          <a:lstStyle/>
          <a:p>
            <a:pPr marL="0" indent="0">
              <a:buNone/>
            </a:pPr>
            <a:r>
              <a:rPr lang="en-US" sz="1150" dirty="0">
                <a:solidFill>
                  <a:srgbClr val="C6D4E0"/>
                </a:solidFill>
                <a:latin typeface="Calibri" pitchFamily="34" charset="0"/>
                <a:ea typeface="Calibri" pitchFamily="34" charset="-122"/>
                <a:cs typeface="Calibri" pitchFamily="34" charset="-120"/>
              </a:rPr>
              <a:t>Up 34.10% — ₹1.00 Cr to ₹1.35 Cr — rising in every month but February while the chain fell 18.3%. It is winning share against the trend. Fund it by redirecting Electronics' promotional budget, not with new spend.</a:t>
            </a:r>
            <a:endParaRPr lang="en-US" sz="1150" dirty="0"/>
          </a:p>
        </p:txBody>
      </p:sp>
      <p:sp>
        <p:nvSpPr>
          <p:cNvPr id="10" name="Shape 7"/>
          <p:cNvSpPr/>
          <p:nvPr/>
        </p:nvSpPr>
        <p:spPr>
          <a:xfrm>
            <a:off x="6281928" y="1481328"/>
            <a:ext cx="5358384" cy="2286000"/>
          </a:xfrm>
          <a:prstGeom prst="roundRect">
            <a:avLst>
              <a:gd name="adj" fmla="val 3200"/>
            </a:avLst>
          </a:prstGeom>
          <a:solidFill>
            <a:srgbClr val="17395A"/>
          </a:solidFill>
          <a:ln w="12700">
            <a:solidFill>
              <a:srgbClr val="265077"/>
            </a:solidFill>
            <a:prstDash val="solid"/>
          </a:ln>
        </p:spPr>
      </p:sp>
      <p:sp>
        <p:nvSpPr>
          <p:cNvPr id="11" name="Shape 8"/>
          <p:cNvSpPr/>
          <p:nvPr/>
        </p:nvSpPr>
        <p:spPr>
          <a:xfrm>
            <a:off x="6537960" y="1719072"/>
            <a:ext cx="402336" cy="402336"/>
          </a:xfrm>
          <a:prstGeom prst="ellipse">
            <a:avLst/>
          </a:prstGeom>
          <a:solidFill>
            <a:srgbClr val="B3261E"/>
          </a:solidFill>
          <a:ln/>
        </p:spPr>
      </p:sp>
      <p:pic>
        <p:nvPicPr>
          <p:cNvPr id="12" name="Image 1" descr="icon_alert_w.png"/>
          <p:cNvPicPr>
            <a:picLocks noChangeAspect="1"/>
          </p:cNvPicPr>
          <p:nvPr/>
        </p:nvPicPr>
        <p:blipFill>
          <a:blip r:embed="rId4"/>
          <a:stretch>
            <a:fillRect/>
          </a:stretch>
        </p:blipFill>
        <p:spPr>
          <a:xfrm>
            <a:off x="6638544" y="1819656"/>
            <a:ext cx="201168" cy="201168"/>
          </a:xfrm>
          <a:prstGeom prst="rect">
            <a:avLst/>
          </a:prstGeom>
        </p:spPr>
      </p:pic>
      <p:sp>
        <p:nvSpPr>
          <p:cNvPr id="13" name="Text 9"/>
          <p:cNvSpPr txBox="1"/>
          <p:nvPr/>
        </p:nvSpPr>
        <p:spPr>
          <a:xfrm>
            <a:off x="7068312" y="1755648"/>
            <a:ext cx="4297680" cy="256032"/>
          </a:xfrm>
          <a:prstGeom prst="rect">
            <a:avLst/>
          </a:prstGeom>
          <a:noFill/>
          <a:ln/>
        </p:spPr>
        <p:txBody>
          <a:bodyPr wrap="square" lIns="0" tIns="0" rIns="0" bIns="0" rtlCol="0" anchor="ctr"/>
          <a:lstStyle/>
          <a:p>
            <a:pPr marL="0" indent="0">
              <a:buNone/>
            </a:pPr>
            <a:r>
              <a:rPr lang="en-US" sz="1050" b="1" kern="0" spc="150" dirty="0">
                <a:solidFill>
                  <a:srgbClr val="DCE7F1"/>
                </a:solidFill>
                <a:latin typeface="Calibri" pitchFamily="34" charset="0"/>
                <a:ea typeface="Calibri" pitchFamily="34" charset="-122"/>
                <a:cs typeface="Calibri" pitchFamily="34" charset="-120"/>
              </a:rPr>
              <a:t>02  CHALLENGE</a:t>
            </a:r>
            <a:endParaRPr lang="en-US" sz="1050" dirty="0"/>
          </a:p>
        </p:txBody>
      </p:sp>
      <p:sp>
        <p:nvSpPr>
          <p:cNvPr id="14" name="Text 10"/>
          <p:cNvSpPr txBox="1"/>
          <p:nvPr/>
        </p:nvSpPr>
        <p:spPr>
          <a:xfrm>
            <a:off x="6537960" y="2231136"/>
            <a:ext cx="4846320" cy="329184"/>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Electronics — ₹22.65 Cr</a:t>
            </a:r>
            <a:endParaRPr lang="en-US" sz="1800" dirty="0"/>
          </a:p>
        </p:txBody>
      </p:sp>
      <p:sp>
        <p:nvSpPr>
          <p:cNvPr id="15" name="Text 11"/>
          <p:cNvSpPr txBox="1"/>
          <p:nvPr/>
        </p:nvSpPr>
        <p:spPr>
          <a:xfrm>
            <a:off x="6537960" y="2596896"/>
            <a:ext cx="4846320" cy="1042416"/>
          </a:xfrm>
          <a:prstGeom prst="rect">
            <a:avLst/>
          </a:prstGeom>
          <a:noFill/>
          <a:ln/>
        </p:spPr>
        <p:txBody>
          <a:bodyPr wrap="square" lIns="0" tIns="0" rIns="0" bIns="0" rtlCol="0" anchor="ctr"/>
          <a:lstStyle/>
          <a:p>
            <a:pPr marL="0" indent="0">
              <a:buNone/>
            </a:pPr>
            <a:r>
              <a:rPr lang="en-US" sz="1150" dirty="0">
                <a:solidFill>
                  <a:srgbClr val="C6D4E0"/>
                </a:solidFill>
                <a:latin typeface="Calibri" pitchFamily="34" charset="0"/>
                <a:ea typeface="Calibri" pitchFamily="34" charset="-122"/>
                <a:cs typeface="Calibri" pitchFamily="34" charset="-120"/>
              </a:rPr>
              <a:t>49.3% of chain revenue, down 35.02% (₹4.57 Cr → ₹2.97 Cr, a ₹1.60 Cr loss). All five products fell, led by Mobile Phone at −57.1% (₹98.03 L → ₹42.10 L). Footfall, not price: 790 → 526 transactions a month at an unchanged unit price.</a:t>
            </a:r>
            <a:endParaRPr lang="en-US" sz="1150" dirty="0"/>
          </a:p>
        </p:txBody>
      </p:sp>
      <p:sp>
        <p:nvSpPr>
          <p:cNvPr id="16" name="Shape 12"/>
          <p:cNvSpPr/>
          <p:nvPr/>
        </p:nvSpPr>
        <p:spPr>
          <a:xfrm>
            <a:off x="548640" y="3931920"/>
            <a:ext cx="5358384" cy="2286000"/>
          </a:xfrm>
          <a:prstGeom prst="roundRect">
            <a:avLst>
              <a:gd name="adj" fmla="val 3200"/>
            </a:avLst>
          </a:prstGeom>
          <a:solidFill>
            <a:srgbClr val="17395A"/>
          </a:solidFill>
          <a:ln w="12700">
            <a:solidFill>
              <a:srgbClr val="265077"/>
            </a:solidFill>
            <a:prstDash val="solid"/>
          </a:ln>
        </p:spPr>
      </p:sp>
      <p:sp>
        <p:nvSpPr>
          <p:cNvPr id="17" name="Shape 13"/>
          <p:cNvSpPr/>
          <p:nvPr/>
        </p:nvSpPr>
        <p:spPr>
          <a:xfrm>
            <a:off x="804672" y="4169664"/>
            <a:ext cx="402336" cy="402336"/>
          </a:xfrm>
          <a:prstGeom prst="ellipse">
            <a:avLst/>
          </a:prstGeom>
          <a:solidFill>
            <a:srgbClr val="E08A1E"/>
          </a:solidFill>
          <a:ln/>
        </p:spPr>
      </p:sp>
      <p:pic>
        <p:nvPicPr>
          <p:cNvPr id="18" name="Image 2" descr="icon_percent_w.png"/>
          <p:cNvPicPr>
            <a:picLocks noChangeAspect="1"/>
          </p:cNvPicPr>
          <p:nvPr/>
        </p:nvPicPr>
        <p:blipFill>
          <a:blip r:embed="rId5"/>
          <a:stretch>
            <a:fillRect/>
          </a:stretch>
        </p:blipFill>
        <p:spPr>
          <a:xfrm>
            <a:off x="905256" y="4270248"/>
            <a:ext cx="201168" cy="201168"/>
          </a:xfrm>
          <a:prstGeom prst="rect">
            <a:avLst/>
          </a:prstGeom>
        </p:spPr>
      </p:pic>
      <p:sp>
        <p:nvSpPr>
          <p:cNvPr id="19" name="Text 14"/>
          <p:cNvSpPr txBox="1"/>
          <p:nvPr/>
        </p:nvSpPr>
        <p:spPr>
          <a:xfrm>
            <a:off x="1335024" y="4206240"/>
            <a:ext cx="4297680" cy="256032"/>
          </a:xfrm>
          <a:prstGeom prst="rect">
            <a:avLst/>
          </a:prstGeom>
          <a:noFill/>
          <a:ln/>
        </p:spPr>
        <p:txBody>
          <a:bodyPr wrap="square" lIns="0" tIns="0" rIns="0" bIns="0" rtlCol="0" anchor="ctr"/>
          <a:lstStyle/>
          <a:p>
            <a:pPr marL="0" indent="0">
              <a:buNone/>
            </a:pPr>
            <a:r>
              <a:rPr lang="en-US" sz="1050" b="1" kern="0" spc="150" dirty="0">
                <a:solidFill>
                  <a:srgbClr val="DCE7F1"/>
                </a:solidFill>
                <a:latin typeface="Calibri" pitchFamily="34" charset="0"/>
                <a:ea typeface="Calibri" pitchFamily="34" charset="-122"/>
                <a:cs typeface="Calibri" pitchFamily="34" charset="-120"/>
              </a:rPr>
              <a:t>03  DISCOUNT DISCUSSION</a:t>
            </a:r>
            <a:endParaRPr lang="en-US" sz="1050" dirty="0"/>
          </a:p>
        </p:txBody>
      </p:sp>
      <p:sp>
        <p:nvSpPr>
          <p:cNvPr id="20" name="Text 15"/>
          <p:cNvSpPr txBox="1"/>
          <p:nvPr/>
        </p:nvSpPr>
        <p:spPr>
          <a:xfrm>
            <a:off x="804672" y="4681728"/>
            <a:ext cx="4846320" cy="329184"/>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Test the ladder down</a:t>
            </a:r>
            <a:endParaRPr lang="en-US" sz="1800" dirty="0"/>
          </a:p>
        </p:txBody>
      </p:sp>
      <p:sp>
        <p:nvSpPr>
          <p:cNvPr id="21" name="Text 16"/>
          <p:cNvSpPr txBox="1"/>
          <p:nvPr/>
        </p:nvSpPr>
        <p:spPr>
          <a:xfrm>
            <a:off x="804672" y="5047488"/>
            <a:ext cx="4846320" cy="1042416"/>
          </a:xfrm>
          <a:prstGeom prst="rect">
            <a:avLst/>
          </a:prstGeom>
          <a:noFill/>
          <a:ln/>
        </p:spPr>
        <p:txBody>
          <a:bodyPr wrap="square" lIns="0" tIns="0" rIns="0" bIns="0" rtlCol="0" anchor="ctr"/>
          <a:lstStyle/>
          <a:p>
            <a:pPr marL="0" indent="0">
              <a:buNone/>
            </a:pPr>
            <a:r>
              <a:rPr lang="en-US" sz="1150" dirty="0">
                <a:solidFill>
                  <a:srgbClr val="C6D4E0"/>
                </a:solidFill>
                <a:latin typeface="Calibri" pitchFamily="34" charset="0"/>
                <a:ea typeface="Calibri" pitchFamily="34" charset="-122"/>
                <a:cs typeface="Calibri" pitchFamily="34" charset="-120"/>
              </a:rPr>
              <a:t>Revenue per transaction falls from ₹4,685.65 to ₹3,631.73 (−22.5%) while units stay flat at 2.57–2.60. Propose withdrawing the 15% and 20% brackets in a subset of stores for one quarter and measuring the volume response.</a:t>
            </a:r>
            <a:endParaRPr lang="en-US" sz="1150" dirty="0"/>
          </a:p>
        </p:txBody>
      </p:sp>
      <p:sp>
        <p:nvSpPr>
          <p:cNvPr id="22" name="Shape 17"/>
          <p:cNvSpPr/>
          <p:nvPr/>
        </p:nvSpPr>
        <p:spPr>
          <a:xfrm>
            <a:off x="6281928" y="3931920"/>
            <a:ext cx="5358384" cy="2286000"/>
          </a:xfrm>
          <a:prstGeom prst="roundRect">
            <a:avLst>
              <a:gd name="adj" fmla="val 3200"/>
            </a:avLst>
          </a:prstGeom>
          <a:solidFill>
            <a:srgbClr val="17395A"/>
          </a:solidFill>
          <a:ln w="12700">
            <a:solidFill>
              <a:srgbClr val="265077"/>
            </a:solidFill>
            <a:prstDash val="solid"/>
          </a:ln>
        </p:spPr>
      </p:sp>
      <p:sp>
        <p:nvSpPr>
          <p:cNvPr id="23" name="Shape 18"/>
          <p:cNvSpPr/>
          <p:nvPr/>
        </p:nvSpPr>
        <p:spPr>
          <a:xfrm>
            <a:off x="6537960" y="4169664"/>
            <a:ext cx="402336" cy="402336"/>
          </a:xfrm>
          <a:prstGeom prst="ellipse">
            <a:avLst/>
          </a:prstGeom>
          <a:solidFill>
            <a:srgbClr val="CBD8E3"/>
          </a:solidFill>
          <a:ln/>
        </p:spPr>
      </p:sp>
      <p:pic>
        <p:nvPicPr>
          <p:cNvPr id="24" name="Image 3" descr="icon_data_n.png"/>
          <p:cNvPicPr>
            <a:picLocks noChangeAspect="1"/>
          </p:cNvPicPr>
          <p:nvPr/>
        </p:nvPicPr>
        <p:blipFill>
          <a:blip r:embed="rId6"/>
          <a:stretch>
            <a:fillRect/>
          </a:stretch>
        </p:blipFill>
        <p:spPr>
          <a:xfrm>
            <a:off x="6638544" y="4270248"/>
            <a:ext cx="201168" cy="201168"/>
          </a:xfrm>
          <a:prstGeom prst="rect">
            <a:avLst/>
          </a:prstGeom>
        </p:spPr>
      </p:pic>
      <p:sp>
        <p:nvSpPr>
          <p:cNvPr id="25" name="Text 19"/>
          <p:cNvSpPr txBox="1"/>
          <p:nvPr/>
        </p:nvSpPr>
        <p:spPr>
          <a:xfrm>
            <a:off x="7068312" y="4206240"/>
            <a:ext cx="4297680" cy="256032"/>
          </a:xfrm>
          <a:prstGeom prst="rect">
            <a:avLst/>
          </a:prstGeom>
          <a:noFill/>
          <a:ln/>
        </p:spPr>
        <p:txBody>
          <a:bodyPr wrap="square" lIns="0" tIns="0" rIns="0" bIns="0" rtlCol="0" anchor="ctr"/>
          <a:lstStyle/>
          <a:p>
            <a:pPr marL="0" indent="0">
              <a:buNone/>
            </a:pPr>
            <a:r>
              <a:rPr lang="en-US" sz="1050" b="1" kern="0" spc="150" dirty="0">
                <a:solidFill>
                  <a:srgbClr val="DCE7F1"/>
                </a:solidFill>
                <a:latin typeface="Calibri" pitchFamily="34" charset="0"/>
                <a:ea typeface="Calibri" pitchFamily="34" charset="-122"/>
                <a:cs typeface="Calibri" pitchFamily="34" charset="-120"/>
              </a:rPr>
              <a:t>04  BEFORE FINAL DECISION</a:t>
            </a:r>
            <a:endParaRPr lang="en-US" sz="1050" dirty="0"/>
          </a:p>
        </p:txBody>
      </p:sp>
      <p:sp>
        <p:nvSpPr>
          <p:cNvPr id="26" name="Text 20"/>
          <p:cNvSpPr txBox="1"/>
          <p:nvPr/>
        </p:nvSpPr>
        <p:spPr>
          <a:xfrm>
            <a:off x="6537960" y="4681728"/>
            <a:ext cx="4846320" cy="329184"/>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Product-level cost data</a:t>
            </a:r>
            <a:endParaRPr lang="en-US" sz="1800" dirty="0"/>
          </a:p>
        </p:txBody>
      </p:sp>
      <p:sp>
        <p:nvSpPr>
          <p:cNvPr id="27" name="Text 21"/>
          <p:cNvSpPr txBox="1"/>
          <p:nvPr/>
        </p:nvSpPr>
        <p:spPr>
          <a:xfrm>
            <a:off x="6537960" y="5047488"/>
            <a:ext cx="4846320" cy="1042416"/>
          </a:xfrm>
          <a:prstGeom prst="rect">
            <a:avLst/>
          </a:prstGeom>
          <a:noFill/>
          <a:ln/>
        </p:spPr>
        <p:txBody>
          <a:bodyPr wrap="square" lIns="0" tIns="0" rIns="0" bIns="0" rtlCol="0" anchor="ctr"/>
          <a:lstStyle/>
          <a:p>
            <a:pPr marL="0" indent="0">
              <a:buNone/>
            </a:pPr>
            <a:r>
              <a:rPr lang="en-US" sz="1150" dirty="0">
                <a:solidFill>
                  <a:srgbClr val="C6D4E0"/>
                </a:solidFill>
                <a:latin typeface="Calibri" pitchFamily="34" charset="0"/>
                <a:ea typeface="Calibri" pitchFamily="34" charset="-122"/>
                <a:cs typeface="Calibri" pitchFamily="34" charset="-120"/>
              </a:rPr>
              <a:t>Revenue here is after discount and there is no cost or margin column, so margin impact is inferred, never measured. Without it, a shelf-space call on revenue alone could favour the category contributing least profit per rupee of space.</a:t>
            </a:r>
            <a:endParaRPr lang="en-US" sz="1150" dirty="0"/>
          </a:p>
        </p:txBody>
      </p:sp>
      <p:sp>
        <p:nvSpPr>
          <p:cNvPr id="29" name="Text 23"/>
          <p:cNvSpPr txBox="1"/>
          <p:nvPr/>
        </p:nvSpPr>
        <p:spPr>
          <a:xfrm>
            <a:off x="5943600" y="6382512"/>
            <a:ext cx="5696712" cy="274320"/>
          </a:xfrm>
          <a:prstGeom prst="rect">
            <a:avLst/>
          </a:prstGeom>
          <a:noFill/>
          <a:ln/>
        </p:spPr>
        <p:txBody>
          <a:bodyPr wrap="square" lIns="0" tIns="0" rIns="0" bIns="0" rtlCol="0" anchor="ctr"/>
          <a:lstStyle/>
          <a:p>
            <a:pPr marL="0" indent="0" algn="r">
              <a:buNone/>
            </a:pPr>
            <a:r>
              <a:rPr lang="en-US" sz="1000" dirty="0">
                <a:solidFill>
                  <a:srgbClr val="6E8399"/>
                </a:solidFill>
                <a:latin typeface="Calibri" pitchFamily="34" charset="0"/>
                <a:ea typeface="Calibri" pitchFamily="34" charset="-122"/>
                <a:cs typeface="Calibri" pitchFamily="34" charset="-120"/>
              </a:rPr>
              <a:t>All figures calculated from MUC01_Retail_Sales_Dataset.csv  ·  107,836 transactions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F2A43"/>
        </a:solidFill>
        <a:effectLst/>
      </p:bgPr>
    </p:bg>
    <p:spTree>
      <p:nvGrpSpPr>
        <p:cNvPr id="1" name=""/>
        <p:cNvGrpSpPr/>
        <p:nvPr/>
      </p:nvGrpSpPr>
      <p:grpSpPr>
        <a:xfrm>
          <a:off x="0" y="0"/>
          <a:ext cx="0" cy="0"/>
          <a:chOff x="0" y="0"/>
          <a:chExt cx="0" cy="0"/>
        </a:xfrm>
      </p:grpSpPr>
      <p:pic>
        <p:nvPicPr>
          <p:cNvPr id="2" name="Image 0" descr="art_closing.png"/>
          <p:cNvPicPr>
            <a:picLocks noChangeAspect="1"/>
          </p:cNvPicPr>
          <p:nvPr/>
        </p:nvPicPr>
        <p:blipFill>
          <a:blip r:embed="rId3"/>
          <a:stretch>
            <a:fillRect/>
          </a:stretch>
        </p:blipFill>
        <p:spPr>
          <a:xfrm>
            <a:off x="0" y="0"/>
            <a:ext cx="12188952" cy="6858000"/>
          </a:xfrm>
          <a:prstGeom prst="rect">
            <a:avLst/>
          </a:prstGeom>
        </p:spPr>
      </p:pic>
      <p:sp>
        <p:nvSpPr>
          <p:cNvPr id="3" name="Text 0"/>
          <p:cNvSpPr txBox="1"/>
          <p:nvPr/>
        </p:nvSpPr>
        <p:spPr>
          <a:xfrm>
            <a:off x="822960" y="1993392"/>
            <a:ext cx="10515600" cy="1188720"/>
          </a:xfrm>
          <a:prstGeom prst="rect">
            <a:avLst/>
          </a:prstGeom>
          <a:noFill/>
          <a:ln/>
        </p:spPr>
        <p:txBody>
          <a:bodyPr wrap="square" lIns="0" tIns="0" rIns="0" bIns="0" rtlCol="0" anchor="ctr"/>
          <a:lstStyle/>
          <a:p>
            <a:pPr marL="0" indent="0" algn="ctr">
              <a:buNone/>
            </a:pPr>
            <a:r>
              <a:rPr lang="en-US" sz="6000" b="1" kern="0" spc="400" dirty="0">
                <a:solidFill>
                  <a:srgbClr val="FFFFFF"/>
                </a:solidFill>
                <a:latin typeface="Cambria" pitchFamily="34" charset="0"/>
                <a:ea typeface="Cambria" pitchFamily="34" charset="-122"/>
                <a:cs typeface="Cambria" pitchFamily="34" charset="-120"/>
              </a:rPr>
              <a:t>THANK YOU</a:t>
            </a:r>
            <a:endParaRPr lang="en-US" sz="6000" dirty="0"/>
          </a:p>
        </p:txBody>
      </p:sp>
      <p:sp>
        <p:nvSpPr>
          <p:cNvPr id="4" name="Shape 1"/>
          <p:cNvSpPr/>
          <p:nvPr/>
        </p:nvSpPr>
        <p:spPr>
          <a:xfrm>
            <a:off x="5541264" y="3310128"/>
            <a:ext cx="1097280" cy="27432"/>
          </a:xfrm>
          <a:prstGeom prst="rect">
            <a:avLst/>
          </a:prstGeom>
          <a:solidFill>
            <a:srgbClr val="E08A1E"/>
          </a:solidFill>
          <a:ln/>
        </p:spPr>
      </p:sp>
      <p:sp>
        <p:nvSpPr>
          <p:cNvPr id="5" name="Text 2"/>
          <p:cNvSpPr txBox="1"/>
          <p:nvPr/>
        </p:nvSpPr>
        <p:spPr>
          <a:xfrm>
            <a:off x="822960" y="3520440"/>
            <a:ext cx="10515600" cy="457200"/>
          </a:xfrm>
          <a:prstGeom prst="rect">
            <a:avLst/>
          </a:prstGeom>
          <a:noFill/>
          <a:ln/>
        </p:spPr>
        <p:txBody>
          <a:bodyPr wrap="square" lIns="0" tIns="0" rIns="0" bIns="0" rtlCol="0" anchor="ctr"/>
          <a:lstStyle/>
          <a:p>
            <a:pPr marL="0" indent="0" algn="ctr">
              <a:buNone/>
            </a:pPr>
            <a:r>
              <a:rPr lang="en-US" sz="2400" b="1" dirty="0">
                <a:solidFill>
                  <a:srgbClr val="E08A1E"/>
                </a:solidFill>
                <a:latin typeface="Cambria" pitchFamily="34" charset="0"/>
                <a:ea typeface="Cambria" pitchFamily="34" charset="-122"/>
                <a:cs typeface="Cambria" pitchFamily="34" charset="-120"/>
              </a:rPr>
              <a:t>GROUP 12</a:t>
            </a:r>
            <a:endParaRPr lang="en-US" sz="2400" dirty="0"/>
          </a:p>
        </p:txBody>
      </p:sp>
      <p:sp>
        <p:nvSpPr>
          <p:cNvPr id="6" name="Text 3"/>
          <p:cNvSpPr txBox="1"/>
          <p:nvPr/>
        </p:nvSpPr>
        <p:spPr>
          <a:xfrm>
            <a:off x="822960" y="4005072"/>
            <a:ext cx="10515600" cy="365760"/>
          </a:xfrm>
          <a:prstGeom prst="rect">
            <a:avLst/>
          </a:prstGeom>
          <a:noFill/>
          <a:ln/>
        </p:spPr>
        <p:txBody>
          <a:bodyPr wrap="square" lIns="0" tIns="0" rIns="0" bIns="0" rtlCol="0" anchor="ctr"/>
          <a:lstStyle/>
          <a:p>
            <a:pPr marL="0" indent="0" algn="ctr">
              <a:buNone/>
            </a:pPr>
            <a:r>
              <a:rPr lang="en-US" sz="1600" dirty="0">
                <a:solidFill>
                  <a:srgbClr val="CBD8E3"/>
                </a:solidFill>
                <a:latin typeface="Calibri" pitchFamily="34" charset="0"/>
                <a:ea typeface="Calibri" pitchFamily="34" charset="-122"/>
                <a:cs typeface="Calibri" pitchFamily="34" charset="-120"/>
              </a:rPr>
              <a:t>Category Intelligence — Retail Product Performance EDA</a:t>
            </a:r>
            <a:endParaRPr lang="en-US" sz="1600" dirty="0"/>
          </a:p>
        </p:txBody>
      </p:sp>
      <p:sp>
        <p:nvSpPr>
          <p:cNvPr id="8" name="Text 5"/>
          <p:cNvSpPr txBox="1"/>
          <p:nvPr/>
        </p:nvSpPr>
        <p:spPr>
          <a:xfrm>
            <a:off x="822960" y="5120640"/>
            <a:ext cx="10515600" cy="320040"/>
          </a:xfrm>
          <a:prstGeom prst="rect">
            <a:avLst/>
          </a:prstGeom>
          <a:noFill/>
          <a:ln/>
        </p:spPr>
        <p:txBody>
          <a:bodyPr wrap="square" lIns="0" tIns="0" rIns="0" bIns="0" rtlCol="0" anchor="ctr"/>
          <a:lstStyle/>
          <a:p>
            <a:pPr marL="0" indent="0" algn="ctr">
              <a:buNone/>
            </a:pPr>
            <a:r>
              <a:rPr lang="en-US" sz="1100" dirty="0">
                <a:solidFill>
                  <a:srgbClr val="8FA3B5"/>
                </a:solidFill>
                <a:latin typeface="Calibri" pitchFamily="34" charset="0"/>
                <a:ea typeface="Calibri" pitchFamily="34" charset="-122"/>
                <a:cs typeface="Calibri" pitchFamily="34" charset="-120"/>
              </a:rPr>
              <a:t>Calibo AI Academy  ·  Phase 1 — Mini Use Case 01  ·  Path 2, KLU Batch</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3117</Words>
  <Application>Microsoft Office PowerPoint</Application>
  <PresentationFormat>Widescreen</PresentationFormat>
  <Paragraphs>237</Paragraphs>
  <Slides>13</Slides>
  <Notes>12</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Category Intelligence — Retail Product Performance EDA</dc:title>
  <dc:subject>PptxGenJS Presentation</dc:subject>
  <dc:creator>GROUP 12</dc:creator>
  <cp:lastModifiedBy>Geetha Kandepi</cp:lastModifiedBy>
  <cp:revision>14</cp:revision>
  <dcterms:created xsi:type="dcterms:W3CDTF">2026-09-16T18:40:00Z</dcterms:created>
  <dcterms:modified xsi:type="dcterms:W3CDTF">2026-09-19T09:47:59Z</dcterms:modified>
</cp:coreProperties>
</file>